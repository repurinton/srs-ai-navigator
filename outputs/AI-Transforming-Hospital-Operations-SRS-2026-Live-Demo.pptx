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079ac76c8424d" /><Relationship Type="http://schemas.openxmlformats.org/officeDocument/2006/relationships/extended-properties" Target="/docProps/app.xml" Id="R730bcf8a5c10485a" /><Relationship Type="http://schemas.openxmlformats.org/officeDocument/2006/relationships/officeDocument" Target="/ppt/presentation.xml" Id="R191074ace8b3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78e21435084950"/>
  </p:sldMasterIdLst>
  <p:notesMasterIdLst>
    <p:notesMasterId xmlns:r="http://schemas.openxmlformats.org/officeDocument/2006/relationships" r:id="R4e7d431937bf4fa2"/>
  </p:notesMasterIdLst>
  <p:sldIdLst>
    <p:sldId xmlns:r="http://schemas.openxmlformats.org/officeDocument/2006/relationships" id="256" r:id="R7c91ab8117e141b7"/>
    <p:sldId xmlns:r="http://schemas.openxmlformats.org/officeDocument/2006/relationships" id="257" r:id="R583ea6b8720b4a3b"/>
    <p:sldId xmlns:r="http://schemas.openxmlformats.org/officeDocument/2006/relationships" id="258" r:id="R3a9685b21b8b4d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e45a7edb245ec" /><Relationship Type="http://schemas.openxmlformats.org/officeDocument/2006/relationships/slideMaster" Target="/ppt/slideMasters/slideMaster1.xml" Id="R1b78e21435084950" /><Relationship Type="http://schemas.openxmlformats.org/officeDocument/2006/relationships/notesMaster" Target="/ppt/notesMasters/notesMaster1.xml" Id="R4e7d431937bf4fa2" /><Relationship Type="http://schemas.openxmlformats.org/officeDocument/2006/relationships/presProps" Target="/ppt/presProps.xml" Id="R20d739f6382a4792" /><Relationship Type="http://schemas.openxmlformats.org/officeDocument/2006/relationships/tableStyles" Target="/ppt/tableStyles.xml" Id="Rc19521fa64474987" /><Relationship Type="http://schemas.openxmlformats.org/officeDocument/2006/relationships/slide" Target="/ppt/slides/slide1.xml" Id="R7c91ab8117e141b7" /><Relationship Type="http://schemas.openxmlformats.org/officeDocument/2006/relationships/slide" Target="/ppt/slides/slide2.xml" Id="R583ea6b8720b4a3b" /><Relationship Type="http://schemas.openxmlformats.org/officeDocument/2006/relationships/slide" Target="/ppt/slides/slide3.xml" Id="R3a9685b21b8b4d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88f907ffa7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5ce0f0a284949" /><Relationship Type="http://schemas.openxmlformats.org/officeDocument/2006/relationships/notesMaster" Target="/ppt/notesMasters/notesMaster1.xml" Id="R485b92bc1eb1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593fd1807146b2" /><Relationship Type="http://schemas.openxmlformats.org/officeDocument/2006/relationships/notesMaster" Target="/ppt/notesMasters/notesMaster1.xml" Id="Reb3f51a6bf4b4d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d5191e46f4f46" /><Relationship Type="http://schemas.openxmlformats.org/officeDocument/2006/relationships/notesMaster" Target="/ppt/notesMasters/notesMaster1.xml" Id="R930554759c8c4d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the robot and surgeon can be ready while four ordinary handoffs still threaten the case. Pause after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Central thesis: the hospital is already full of intelligence; it is short on coordination.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decision, not the technology. One flow. One owner. One scorecard. The point is coordinated, human-governed execution—not autonomous clinical 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decision, not the technology. One flow. One owner. One scorecard. The point is coordinated, human-governed execution—not autonomous clinical 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63752154c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bd6537ac324a91" /><Relationship Type="http://schemas.openxmlformats.org/officeDocument/2006/relationships/slideLayout" Target="/ppt/slideLayouts/slideLayout1.xml" Id="R35c2abf1d10c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2abf1d10c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1811c3e4b4111" /><Relationship Type="http://schemas.openxmlformats.org/officeDocument/2006/relationships/notesSlide" Target="/ppt/notesSlides/notesSlide1.xml" Id="R1d238673161049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d7ba8a6924b6f" /><Relationship Type="http://schemas.openxmlformats.org/officeDocument/2006/relationships/notesSlide" Target="/ppt/notesSlides/notesSlide2.xml" Id="Re68a71d5ed954b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ef8fe1bb74f3c" /><Relationship Type="http://schemas.openxmlformats.org/officeDocument/2006/relationships/image" Target="/ppt/media/image.png" Id="R8edf21aebe4e431f" /><Relationship Type="http://schemas.openxmlformats.org/officeDocument/2006/relationships/notesSlide" Target="/ppt/notesSlides/notesSlide3.xml" Id="R27725ae7cae8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20CE48-8CC9-4617-A5FD-2B82C68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2065B-65A0-41BC-95DE-884FD31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31FA4-5953-4C18-BE28-8C3EE72B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10141-219F-4A16-A6A3-A842E2DC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BEE1-C7D0-46A6-B55F-D85FAFF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A8C70-7B56-4B8A-985C-0F483DB8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4DE43-7AC0-481E-A8F5-9990A2E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CD367-DF25-43C0-9DFD-6C4ACBB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679EE-8109-43AB-9F3A-0C755C4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98575-BB65-4FB4-9703-93DDF495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60CEA-28DB-477A-9F0A-A7CADB59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31392-DF84-42C5-B5CB-BCD545F4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B21CB-7F60-4EE1-9285-EEED0D8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BEB5F-C9CD-486F-8FD9-CA96F0F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E5934-FD31-43BD-8E10-E17F395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7D6E5-8F8F-475F-80AD-06740C49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64D6F-2C73-444D-B4D7-21810C2C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673DC-F2ED-4C1B-BD1A-64E255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C7839-789D-4030-A7E3-CC996F1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35764-064E-4DD9-98CA-4BD436A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624C5-6DBF-4F51-B4F9-1A5DD871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29A04-D437-4DF1-B17B-0444D07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EC22D-F8A3-47A6-91A8-5AA2346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AA299-CDE3-4852-9C0B-830F223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44E66-DC4C-406D-9A86-5FFB3FBD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723BF-D2B4-4956-91C9-2210600D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45D03-E55D-4145-8235-09687BD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351DF-A071-4E75-AC00-A3F33C1F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34A72-E56D-43F4-A8B7-04C09A9E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4A3E9-E222-4ACA-8E42-992316C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55D5F2-21F4-4171-BFDB-3E829625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F3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3B2D2-2B1A-4B50-8606-7E5CDBD1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AI TRANSFORMING HOSPITAL OPERATIONS · SRS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35CCBE-C28E-40CB-9D62-BB2C00C5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AI coordinates care.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The constraint moves.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A455B9-0056-4B31-94E2-6160499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2CDD1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C2CDD1"/>
                </a:solidFill>
                <a:latin typeface="Avenir Next"/>
                <a:ea typeface="Avenir Next"/>
                <a:cs typeface="Avenir Next"/>
              </a:rPr>
              <a:t>The opportunity is not another point solution. It is one coordinated operating model—from arrival to recovery.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B521D-AAF5-4F60-8585-DA3150C6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28700"/>
            <a:ext cx="4057650" cy="4762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E222C"/>
          </a:solidFill>
          <a:ln xmlns:a="http://schemas.openxmlformats.org/drawingml/2006/main" w="9525">
            <a:solidFill>
              <a:srgbClr val="2840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D2FB1B-45B0-43A1-9818-AE44AD3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33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ONE OPERATING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5D6237-E001-4836-BF31-F2BCF3FE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400" b="0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5400" b="0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B02D3D-6117-4A6D-B0E2-BF3D8B54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AI levers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0FBD6-1CF7-4F0B-8D0D-9D8D799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653872-FEEC-41C9-B830-51A3877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rPr>
              <a:t>Arrivals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274B2B-C074-4719-9A07-116AA6F8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95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Context carries forward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B811CD-3ABB-40A4-A0DC-81716D9F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F3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049AAD-0CE0-4DBF-9F00-3FC9E6E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rPr>
              <a:t>Diagnosis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D9AEA4-2393-4F77-AB5E-84C7FA0D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9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Routes first time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7984DE-5F9B-4723-92E4-B6B2CEED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FB52DB-EFF6-48F2-9E95-D10AB7FC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rPr>
              <a:t>OR core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244104-E51B-403C-A3F1-68AC7FC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434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Readiness synchronizes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053A0A-5742-4AA2-9A0B-E035B7A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24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6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866B72-B61D-4BE7-A392-7084B0C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6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6D0D3"/>
                </a:solidFill>
                <a:latin typeface="Avenir Next"/>
                <a:ea typeface="Avenir Next"/>
                <a:cs typeface="Avenir Next"/>
              </a:rPr>
              <a:t>Recovery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544ED7-C5B9-4435-A333-6D6094B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67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Capacity becomes explicit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255642-AA8D-43BA-9956-2AB9005C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THE DECISION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7B1CAE-22E0-47B0-BE65-50FF45B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Where does coordination release capacity—and reveal the next investment?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651559-A52C-445D-BAD4-B78A150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70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F707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1136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62BC1F-3DBE-4BBA-BE0D-5B8DA423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5C622-1BFE-4EFE-9383-63D7F4E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504B-A6F0-42A5-8B69-CBD6B34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81846-6A4E-4D1B-AA57-ACFF505B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5B438-1F6E-451F-91E5-E1E65EAD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C334-E562-4B37-A864-906296DB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1437A-9261-441A-8886-52468CA4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99E85-DF36-4BAF-9CCE-EE9B53F1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45073-4666-4E89-801E-2898F5B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FBD0F-8258-4B44-853D-39603117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B8B3D-A99B-4E2B-9E23-A24FBC5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7F380-C663-47DE-A5E5-0010FB05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737A7-6313-406D-BB29-DB7FEA6D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7240D-28F3-4960-8B85-32B00EA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5FA6B-A36D-4109-BBF6-7D85E64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8F2A9-FDC2-4239-BCEE-17CB1F5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73085-C8E6-4C16-8DAD-8EC2EFC5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FFEAB-DDC6-4431-B205-248BA13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8A775-9643-4953-8E73-84C426F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3AE55-D735-4908-9B3B-62ADE639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1568B-D7F3-4DB9-9A53-07DEF114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68E6A-844E-4A40-AE4C-780382B2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DD40F-B49B-4975-887C-C51E35A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DF063-20A6-4CBA-9F11-DE7619B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96187-A198-46FA-8422-011E9111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91B1D-98D7-49DC-91D9-9EC6644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C66B5-91F0-4DF6-BE07-464F5C89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AC217-869B-45F1-BFD4-9788F1D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30CA9-1398-42D1-9893-DBADB8E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18BCFB-36CC-463B-B433-A5B17628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8E710-737B-4200-9111-433E77D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F3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B070EA-4C9B-4FC5-B6EE-E4BBC92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HOSPITAL OPERATING TWIN · LIVE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9646F2-2B61-4828-AAAA-ED8286F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Now, watch the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constraint move.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8D7D82-36FC-43AA-9385-A3B0577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Follow one hospital from arrival to recovery—and see the next capacity decision become visible.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56B04-0234-4A68-8A40-AB13FA0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C2B32A-D53A-42C9-A171-B3C125E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37AD4-6DB9-42A2-A6DB-139398FD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ARRIVAL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A1AE64-067D-4EFA-9D9E-AC26921A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95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98FE53-B1D9-4FFC-B7E8-8007A260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BA34D-6CB2-491D-A649-20F3AAF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OPERATING ROOM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B8D1B-4F97-40BE-85C6-8B17A87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95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7A062A-B4F1-4C6D-8A8F-854F2962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00FD59-F8B2-4F61-A5E5-335FDCA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RECOVERY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5831EB-0316-427A-99FD-FAE2FE7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8669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F3C9"/>
          </a:solidFill>
          <a:ln xmlns:a="http://schemas.openxmlformats.org/drawingml/2006/main" w="0">
            <a:solidFill>
              <a:srgbClr val="83F3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EC442-2A75-4855-9E7C-19CA0F0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17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720"/>
                </a:solidFill>
                <a:latin typeface="Avenir Next"/>
                <a:ea typeface="Avenir Next"/>
                <a:cs typeface="Avenir Next"/>
              </a:rPr>
              <a:t>LAUNCH LIVE DEMO  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27A63-C90E-4B26-B541-6782D4E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70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F707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587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62BC1F-3DBE-4BBA-BE0D-5B8DA423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5C622-1BFE-4EFE-9383-63D7F4E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504B-A6F0-42A5-8B69-CBD6B34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81846-6A4E-4D1B-AA57-ACFF505B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5B438-1F6E-451F-91E5-E1E65EAD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C334-E562-4B37-A864-906296DB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1437A-9261-441A-8886-52468CA4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99E85-DF36-4BAF-9CCE-EE9B53F1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45073-4666-4E89-801E-2898F5B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FBD0F-8258-4B44-853D-39603117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B8B3D-A99B-4E2B-9E23-A24FBC5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7F380-C663-47DE-A5E5-0010FB05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737A7-6313-406D-BB29-DB7FEA6D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7240D-28F3-4960-8B85-32B00EA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5FA6B-A36D-4109-BBF6-7D85E64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8F2A9-FDC2-4239-BCEE-17CB1F5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73085-C8E6-4C16-8DAD-8EC2EFC5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FFEAB-DDC6-4431-B205-248BA13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8A775-9643-4953-8E73-84C426F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3AE55-D735-4908-9B3B-62ADE639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1568B-D7F3-4DB9-9A53-07DEF114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68E6A-844E-4A40-AE4C-780382B2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DD40F-B49B-4975-887C-C51E35A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DF063-20A6-4CBA-9F11-DE7619B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96187-A198-46FA-8422-011E9111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91B1D-98D7-49DC-91D9-9EC6644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C66B5-91F0-4DF6-BE07-464F5C89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AC217-869B-45F1-BFD4-9788F1D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30CA9-1398-42D1-9893-DBADB8E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18BCFB-36CC-463B-B433-A5B17628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6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8E710-737B-4200-9111-433E77D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F3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B070EA-4C9B-4FC5-B6EE-E4BBC92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AI TRANSFORMING HOSPITAL OPERATIONS · SRS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9646F2-2B61-4828-AAAA-ED8286F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Take the operating twin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with you.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8D7D82-36FC-43AA-9385-A3B0577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Explore the source, story, and next version of the 3D hospital operating simulator.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56B04-0234-4A68-8A40-AB13FA0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C2B32A-D53A-42C9-A171-B3C125E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37AD4-6DB9-42A2-A6DB-139398FD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GITHUB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A1AE64-067D-4EFA-9D9E-AC26921A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95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98FE53-B1D9-4FFC-B7E8-8007A260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BA34D-6CB2-491D-A649-20F3AAF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OPEN SOURCE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B8D1B-4F97-40BE-85C6-8B17A87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95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9AA8AE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7A062A-B4F1-4C6D-8A8F-854F2962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3F3C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00FD59-F8B2-4F61-A5E5-335FDCA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7F8F5"/>
                </a:solidFill>
                <a:latin typeface="Avenir Next"/>
                <a:ea typeface="Avenir Next"/>
                <a:cs typeface="Avenir Next"/>
              </a:rPr>
              <a:t>KEEP EXPLORING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5831EB-0316-427A-99FD-FAE2FE7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381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F3C9"/>
          </a:solidFill>
          <a:ln xmlns:a="http://schemas.openxmlformats.org/drawingml/2006/main" w="0">
            <a:solidFill>
              <a:srgbClr val="83F3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EC442-2A75-4855-9E7C-19CA0F0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17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720"/>
                </a:solidFill>
                <a:latin typeface="Avenir Next"/>
                <a:ea typeface="Avenir Next"/>
                <a:cs typeface="Avenir Next"/>
              </a:rPr>
              <a:t>SCAN TO EXPLORE  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27A63-C90E-4B26-B541-6782D4E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70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F707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f21aebe4e431f"/>
          <a:stretch xmlns:a="http://schemas.openxmlformats.org/drawingml/2006/main"/>
        </p:blipFill>
        <p:spPr>
          <a:xfrm xmlns:a="http://schemas.openxmlformats.org/drawingml/2006/main">
            <a:off x="8572500" y="1219200"/>
            <a:ext cx="238125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87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2026-07-17T18:51:08.6510000Z</dcterms:created>
  <dcterms:modified xsi:type="dcterms:W3CDTF">2026-07-17T18:51:08.6510000Z</dcterms:modified>
</coreProperties>
</file>