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2f38c12ffd42fa" /><Relationship Type="http://schemas.openxmlformats.org/officeDocument/2006/relationships/extended-properties" Target="/docProps/app.xml" Id="Rf751fc09c919479c" /><Relationship Type="http://schemas.openxmlformats.org/officeDocument/2006/relationships/officeDocument" Target="/ppt/presentation.xml" Id="R12a48ca2d9e04818" /></Relationships>
</file>

<file path=ppt/presentation.xml><?xml version="1.0" encoding="utf-8"?>
<p:presentation xmlns:p="http://schemas.openxmlformats.org/presentationml/2006/main">
  <p:sldMasterIdLst>
    <p:sldMasterId xmlns:r="http://schemas.openxmlformats.org/officeDocument/2006/relationships" id="2147483648" r:id="Ra756ebda8e544ff1"/>
  </p:sldMasterIdLst>
  <p:notesMasterIdLst>
    <p:notesMasterId xmlns:r="http://schemas.openxmlformats.org/officeDocument/2006/relationships" r:id="R6abd22e0fa314727"/>
  </p:notesMasterIdLst>
  <p:sldIdLst>
    <p:sldId xmlns:r="http://schemas.openxmlformats.org/officeDocument/2006/relationships" id="256" r:id="R138f23958a274a4f"/>
    <p:sldId xmlns:r="http://schemas.openxmlformats.org/officeDocument/2006/relationships" id="257" r:id="R8a9b99c8c6374fbf"/>
    <p:sldId xmlns:r="http://schemas.openxmlformats.org/officeDocument/2006/relationships" id="258" r:id="Rf6177f5291fd4c1c"/>
    <p:sldId xmlns:r="http://schemas.openxmlformats.org/officeDocument/2006/relationships" id="259" r:id="Rb6f2329dc2d34cfa"/>
    <p:sldId xmlns:r="http://schemas.openxmlformats.org/officeDocument/2006/relationships" id="260" r:id="R1348f3f0f0cd4540"/>
    <p:sldId xmlns:r="http://schemas.openxmlformats.org/officeDocument/2006/relationships" id="261" r:id="R673fbf304ff04640"/>
    <p:sldId xmlns:r="http://schemas.openxmlformats.org/officeDocument/2006/relationships" id="262" r:id="Raf25bf298a9d4264"/>
    <p:sldId xmlns:r="http://schemas.openxmlformats.org/officeDocument/2006/relationships" id="263" r:id="R22a40250c7324013"/>
    <p:sldId xmlns:r="http://schemas.openxmlformats.org/officeDocument/2006/relationships" id="264" r:id="R045ee8b3cdec4d13"/>
    <p:sldId xmlns:r="http://schemas.openxmlformats.org/officeDocument/2006/relationships" id="265" r:id="R451da572a90e47e3"/>
    <p:sldId xmlns:r="http://schemas.openxmlformats.org/officeDocument/2006/relationships" id="266" r:id="R92e73b1202bd4991"/>
    <p:sldId xmlns:r="http://schemas.openxmlformats.org/officeDocument/2006/relationships" id="267" r:id="Rec473b6c5648495e"/>
    <p:sldId xmlns:r="http://schemas.openxmlformats.org/officeDocument/2006/relationships" id="268" r:id="R2df208edeae247c6"/>
    <p:sldId xmlns:r="http://schemas.openxmlformats.org/officeDocument/2006/relationships" id="269" r:id="R745bbaa9cf69471c"/>
    <p:sldId xmlns:r="http://schemas.openxmlformats.org/officeDocument/2006/relationships" id="270" r:id="R76f6643c64d14e0a"/>
    <p:sldId xmlns:r="http://schemas.openxmlformats.org/officeDocument/2006/relationships" id="271" r:id="R7b8efbe29ac2445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a85424c5d743d6" /><Relationship Type="http://schemas.openxmlformats.org/officeDocument/2006/relationships/slideMaster" Target="/ppt/slideMasters/slideMaster1.xml" Id="Ra756ebda8e544ff1" /><Relationship Type="http://schemas.openxmlformats.org/officeDocument/2006/relationships/notesMaster" Target="/ppt/notesMasters/notesMaster1.xml" Id="R6abd22e0fa314727" /><Relationship Type="http://schemas.openxmlformats.org/officeDocument/2006/relationships/presProps" Target="/ppt/presProps.xml" Id="R1d74adddff1c45ff" /><Relationship Type="http://schemas.openxmlformats.org/officeDocument/2006/relationships/tableStyles" Target="/ppt/tableStyles.xml" Id="R51a6a7b516534b7d" /><Relationship Type="http://schemas.openxmlformats.org/officeDocument/2006/relationships/slide" Target="/ppt/slides/slide1.xml" Id="R138f23958a274a4f" /><Relationship Type="http://schemas.openxmlformats.org/officeDocument/2006/relationships/slide" Target="/ppt/slides/slide2.xml" Id="R8a9b99c8c6374fbf" /><Relationship Type="http://schemas.openxmlformats.org/officeDocument/2006/relationships/slide" Target="/ppt/slides/slide3.xml" Id="Rf6177f5291fd4c1c" /><Relationship Type="http://schemas.openxmlformats.org/officeDocument/2006/relationships/slide" Target="/ppt/slides/slide4.xml" Id="Rb6f2329dc2d34cfa" /><Relationship Type="http://schemas.openxmlformats.org/officeDocument/2006/relationships/slide" Target="/ppt/slides/slide5.xml" Id="R1348f3f0f0cd4540" /><Relationship Type="http://schemas.openxmlformats.org/officeDocument/2006/relationships/slide" Target="/ppt/slides/slide6.xml" Id="R673fbf304ff04640" /><Relationship Type="http://schemas.openxmlformats.org/officeDocument/2006/relationships/slide" Target="/ppt/slides/slide7.xml" Id="Raf25bf298a9d4264" /><Relationship Type="http://schemas.openxmlformats.org/officeDocument/2006/relationships/slide" Target="/ppt/slides/slide8.xml" Id="R22a40250c7324013" /><Relationship Type="http://schemas.openxmlformats.org/officeDocument/2006/relationships/slide" Target="/ppt/slides/slide9.xml" Id="R045ee8b3cdec4d13" /><Relationship Type="http://schemas.openxmlformats.org/officeDocument/2006/relationships/slide" Target="/ppt/slides/slide10.xml" Id="R451da572a90e47e3" /><Relationship Type="http://schemas.openxmlformats.org/officeDocument/2006/relationships/slide" Target="/ppt/slides/slide11.xml" Id="R92e73b1202bd4991" /><Relationship Type="http://schemas.openxmlformats.org/officeDocument/2006/relationships/slide" Target="/ppt/slides/slide12.xml" Id="Rec473b6c5648495e" /><Relationship Type="http://schemas.openxmlformats.org/officeDocument/2006/relationships/slide" Target="/ppt/slides/slide13.xml" Id="R2df208edeae247c6" /><Relationship Type="http://schemas.openxmlformats.org/officeDocument/2006/relationships/slide" Target="/ppt/slides/slide14.xml" Id="R745bbaa9cf69471c" /><Relationship Type="http://schemas.openxmlformats.org/officeDocument/2006/relationships/slide" Target="/ppt/slides/slide15.xml" Id="R76f6643c64d14e0a" /><Relationship Type="http://schemas.openxmlformats.org/officeDocument/2006/relationships/slide" Target="/ppt/slides/slide16.xml" Id="R7b8efbe29ac244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be0d2306e8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7c39e69c5c4d16" /><Relationship Type="http://schemas.openxmlformats.org/officeDocument/2006/relationships/notesMaster" Target="/ppt/notesMasters/notesMaster1.xml" Id="R2626388332f64e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44d20609e24032" /><Relationship Type="http://schemas.openxmlformats.org/officeDocument/2006/relationships/notesMaster" Target="/ppt/notesMasters/notesMaster1.xml" Id="Rcec33c8ef78942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3a3d0b64b441f9" /><Relationship Type="http://schemas.openxmlformats.org/officeDocument/2006/relationships/notesMaster" Target="/ppt/notesMasters/notesMaster1.xml" Id="Re94c015969154d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304c3d692d4df4" /><Relationship Type="http://schemas.openxmlformats.org/officeDocument/2006/relationships/notesMaster" Target="/ppt/notesMasters/notesMaster1.xml" Id="R70c8a8a6ff274c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3e3346d6904a00" /><Relationship Type="http://schemas.openxmlformats.org/officeDocument/2006/relationships/notesMaster" Target="/ppt/notesMasters/notesMaster1.xml" Id="R59918e148cf64a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88f078cfd442e3" /><Relationship Type="http://schemas.openxmlformats.org/officeDocument/2006/relationships/notesMaster" Target="/ppt/notesMasters/notesMaster1.xml" Id="Rb9bce8dad3c544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630af0f76a43e3" /><Relationship Type="http://schemas.openxmlformats.org/officeDocument/2006/relationships/notesMaster" Target="/ppt/notesMasters/notesMaster1.xml" Id="R7128b4c4e6874c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d0dc93c4d240a1" /><Relationship Type="http://schemas.openxmlformats.org/officeDocument/2006/relationships/notesMaster" Target="/ppt/notesMasters/notesMaster1.xml" Id="Re548482cea7d44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e94bd9ac48423e" /><Relationship Type="http://schemas.openxmlformats.org/officeDocument/2006/relationships/notesMaster" Target="/ppt/notesMasters/notesMaster1.xml" Id="R7f377c11ba5744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b78896c76d4086" /><Relationship Type="http://schemas.openxmlformats.org/officeDocument/2006/relationships/notesMaster" Target="/ppt/notesMasters/notesMaster1.xml" Id="R25c03e5049eb43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3a74bb16974d88" /><Relationship Type="http://schemas.openxmlformats.org/officeDocument/2006/relationships/notesMaster" Target="/ppt/notesMasters/notesMaster1.xml" Id="Rbf5d0c2a1a8146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20476875d945cc" /><Relationship Type="http://schemas.openxmlformats.org/officeDocument/2006/relationships/notesMaster" Target="/ppt/notesMasters/notesMaster1.xml" Id="R20ca468b311a42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993b8424094e7f" /><Relationship Type="http://schemas.openxmlformats.org/officeDocument/2006/relationships/notesMaster" Target="/ppt/notesMasters/notesMaster1.xml" Id="Rbd0e11b4d40e41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25f2964a164481" /><Relationship Type="http://schemas.openxmlformats.org/officeDocument/2006/relationships/notesMaster" Target="/ppt/notesMasters/notesMaster1.xml" Id="Rd11d72687cb641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6cdcc027de452d" /><Relationship Type="http://schemas.openxmlformats.org/officeDocument/2006/relationships/notesMaster" Target="/ppt/notesMasters/notesMaster1.xml" Id="R94cb90c0df154d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0bac5dfb104cba" /><Relationship Type="http://schemas.openxmlformats.org/officeDocument/2006/relationships/notesMaster" Target="/ppt/notesMasters/notesMaster1.xml" Id="Racd74235212648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tension: the robot and surgeon can be ready while four ordinary handoffs still threaten the case. Pause after the question.</a:t>
            </a:r>
          </a:p>
          <a:p xmlns:a="http://schemas.openxmlformats.org/drawingml/2006/main">
            <a:r>
              <a:t/>
            </a:r>
          </a:p>
          <a:p xmlns:a="http://schemas.openxmlformats.org/drawingml/2006/main">
            <a:r>
              <a:t>Central thesis: the hospital is already full of intelligence; it is short on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this a board-level problem, not a technology trend. Costs, demand, and acuity are rising together; coordination waste is no longer operational trivia.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case from authorization to incision. Each function can perform locally and the case can still fail globally because no workflow owns the end-to-end 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frame this as a smarter dashboard. The distinctive value is a closed loop: sense, plan, act within permissions, and verify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category distinction explicit: these are six value-creation interfaces to one operating layer, not six disconnected AI portfolios.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Diagnosis becomes a routing decision; the Digital Front Door becomes a resolution relationship; Robotics becomes distributed capacity; Longitudinal Care becomes a managed queue; Task Automation becomes a governed outcome; Precision Medicine becomes a learning operating model.</a:t>
            </a:r>
          </a:p>
          <a:p xmlns:a="http://schemas.openxmlformats.org/drawingml/2006/main">
            <a:r>
              <a:t/>
            </a:r>
          </a:p>
          <a:p xmlns:a="http://schemas.openxmlformats.org/drawingml/2006/main">
            <a:r>
              <a:t>Decision rules: build pathways, measure resolution, manage the episode, assign every signal, redesign before automating, and connect each precision insight to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does not compound because six tools coexist. It compounds because every episode produces better context, safer actions, and measurable learning for the next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the Hospital Lab. Say: same 600 synthetic episodes, same 30-day demand trace, same clinical priority—different operating rules. Reset the twin, run the guided sequence, and ask the audience to watch the constraint move. Point out once that the cars, EMS, patients, and caregivers keep moving at the same speed; improvement appears as fewer touches, shorter journeys, more completed episodes, and a different binding constraint.</a:t>
            </a:r>
          </a:p>
          <a:p xmlns:a="http://schemas.openxmlformats.org/drawingml/2006/main">
            <a:r>
              <a:t/>
            </a:r>
          </a:p>
          <a:p xmlns:a="http://schemas.openxmlformats.org/drawingml/2006/main">
            <a:r>
              <a:t>Credibility moments: pain-point callouts resolve and migrate as each lever enters the operating model; Precision Medicine adds selective upstream work; Robotics releases local capacity without immediately moving enterprise throughput; the connected system ultimately exposes staffed recovery capacity as the next investment decision. All coefficients are illustrative assumptions, not observed AdventHealth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each risk and its source. The demonstration begins with fresh signals, not a prompt asking a chatbot to invent a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work in parallel, but authority is not parallelized away. Reversible actions can execute; the OR director and Access lead approve their respective consequential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 the result as scenario-resolved and modeled. Open the audit strip briefly. The key point is not the exact dollar figure; it is the governed mechanism that turns existing capacity into 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evidence grade. Hartford is observational and its benefit estimate is modeled; Penn is a health-system implementation. Together they support workflow-integrated intelligence, not autonomous hospital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counterevidence to earn trust. The lesson is not that command centers fail; it is that visibility without redesigned decisions, ownership, and action rights is insufficient.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expands by reversibility and consequence, not technical possibility. Automate low-risk administrative work, gate consequential operational actions, and keep clinical accountability visibly human.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action is deliberately narrow: choose one constrained surgical flow with one executive owner, explicit action rights, and a baseline. Shadow first, transact only reversible actions, and scale only when the causal scorecard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decision, not the technology. One flow. One owner. One scorecard. The point is coordinated, human-governed execution—not autonomous clinical care.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a66fe4abc4a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8d7d6936124b0a" /><Relationship Type="http://schemas.openxmlformats.org/officeDocument/2006/relationships/slideLayout" Target="/ppt/slideLayouts/slideLayout1.xml" Id="R37792025d10d42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792025d10d42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2fbb26c3614fc6" /><Relationship Type="http://schemas.openxmlformats.org/officeDocument/2006/relationships/notesSlide" Target="/ppt/notesSlides/notesSlide1.xml" Id="Rd45eef6eb0f540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c71aadbc8c4b42" /><Relationship Type="http://schemas.openxmlformats.org/officeDocument/2006/relationships/notesSlide" Target="/ppt/notesSlides/notesSlide2.xml" Id="R8789f3f0777747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31974ec7314243" /><Relationship Type="http://schemas.openxmlformats.org/officeDocument/2006/relationships/notesSlide" Target="/ppt/notesSlides/notesSlide3.xml" Id="Rbfe533479d2040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f4d3b36ab746af" /><Relationship Type="http://schemas.openxmlformats.org/officeDocument/2006/relationships/notesSlide" Target="/ppt/notesSlides/notesSlide4.xml" Id="R3f91b017c1224c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c87641f7124635" /><Relationship Type="http://schemas.openxmlformats.org/officeDocument/2006/relationships/notesSlide" Target="/ppt/notesSlides/notesSlide5.xml" Id="Ra6691e5c9fa644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7043b5aedd4345" /><Relationship Type="http://schemas.openxmlformats.org/officeDocument/2006/relationships/notesSlide" Target="/ppt/notesSlides/notesSlide6.xml" Id="R3477c9fc63f047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cd1a5f473d4ea5" /><Relationship Type="http://schemas.openxmlformats.org/officeDocument/2006/relationships/notesSlide" Target="/ppt/notesSlides/notesSlide7.xml" Id="Raea9434828894f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45996f9fe144c1" /><Relationship Type="http://schemas.openxmlformats.org/officeDocument/2006/relationships/image" Target="/ppt/media/image.jpeg" Id="R08f84f0625504d0d" /><Relationship Type="http://schemas.openxmlformats.org/officeDocument/2006/relationships/notesSlide" Target="/ppt/notesSlides/notesSlide8.xml" Id="R14e71c2dca1148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743a284c8d48bf" /><Relationship Type="http://schemas.openxmlformats.org/officeDocument/2006/relationships/notesSlide" Target="/ppt/notesSlides/notesSlide9.xml" Id="R5500a7c011404a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2883720d354006" /><Relationship Type="http://schemas.openxmlformats.org/officeDocument/2006/relationships/notesSlide" Target="/ppt/notesSlides/notesSlide10.xml" Id="R2ccc2cdc45944f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621fb3687b4bfb" /><Relationship Type="http://schemas.openxmlformats.org/officeDocument/2006/relationships/image" Target="/ppt/media/image2.jpeg" Id="Rff50221032b24282" /><Relationship Type="http://schemas.openxmlformats.org/officeDocument/2006/relationships/notesSlide" Target="/ppt/notesSlides/notesSlide11.xml" Id="R9624f8d51dcc49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26bdf51f3a424c" /><Relationship Type="http://schemas.openxmlformats.org/officeDocument/2006/relationships/notesSlide" Target="/ppt/notesSlides/notesSlide12.xml" Id="R3a47a9025f0f49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a30c4afc794776" /><Relationship Type="http://schemas.openxmlformats.org/officeDocument/2006/relationships/notesSlide" Target="/ppt/notesSlides/notesSlide13.xml" Id="R815e5864ff3e45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51f761a1504f46" /><Relationship Type="http://schemas.openxmlformats.org/officeDocument/2006/relationships/notesSlide" Target="/ppt/notesSlides/notesSlide14.xml" Id="Rcbf1c0b1e0ac47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f43d15f07ef44a3" /><Relationship Type="http://schemas.openxmlformats.org/officeDocument/2006/relationships/notesSlide" Target="/ppt/notesSlides/notesSlide15.xml" Id="Ref3412ada1ce41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441bd92dc244f0" /><Relationship Type="http://schemas.openxmlformats.org/officeDocument/2006/relationships/notesSlide" Target="/ppt/notesSlides/notesSlide16.xml" Id="R3aff835cf6ad44a1" /></Relationships>
</file>

<file path=ppt/slides/slide1.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20CE48-8CC9-4617-A5FD-2B82C6889E45}"/>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ACC2065B-65A0-41BC-95DE-884FD3190687}"/>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6C731FA4-5953-4C18-BE28-8C3EE72BEA92}"/>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B9D10141-219F-4A16-A6A3-A842E2DCD6B9}"/>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08E6BEE1-C7D0-46A6-B55F-D85FAFF2B3BD}"/>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B50A8C70-7B56-4B8A-985C-0F483DB8B074}"/>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C514DE43-7AC0-481E-A8F5-9990A2EFCA2E}"/>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FE9CD367-DF25-43C0-9DFD-6C4ACBBD483D}"/>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311679EE-8109-43AB-9F3A-0C755C447CD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D1E98575-BB65-4FB4-9703-93DDF4951B4E}"/>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5B760CEA-28DB-477A-9F0A-A7CADB594F53}"/>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ABD31392-DF84-42C5-B5CB-BCD545F42328}"/>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9D8B21CB-7F60-4EE1-9285-EEED0D826C7B}"/>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A2ABEB5F-C9CD-486F-8FD9-CA96F0F4EEAC}"/>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ABBE5934-FD31-43BD-8E10-E17F3959D222}"/>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A7E7D6E5-8F8F-475F-80AD-06740C49CCBC}"/>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59764D6F-2C73-444D-B4D7-21810C2C3DA9}"/>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869673DC-F2ED-4C1B-BD1A-64E255DE1A92}"/>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7AAC7839-789D-4030-A7E3-CC996F127B76}"/>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08A35764-064E-4DD9-98CA-4BD436A057F0}"/>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D94624C5-6DBF-4F51-B4F9-1A5DD8715589}"/>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5BC29A04-D437-4DF1-B17B-0444D078C746}"/>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25AEC22D-F8A3-47A6-91A8-5AA23466D587}"/>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58FAA299-CDE3-4852-9C0B-830F223D667D}"/>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60B44E66-DC4C-406D-9A86-5FFB3FBDD013}"/>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555723BF-D2B4-4956-91C9-2210600D69AF}"/>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68445D03-E55D-4145-8235-09687BD2C49B}"/>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ADB351DF-A071-4E75-AC00-A3F33C1F498C}"/>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3C634A72-E56D-43F4-A8B7-04C09A9E7953}"/>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8884A3E9-E222-4ACA-8E42-992316CD5D87}"/>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AC55D5F2-21F4-4171-BFDB-3E8296252B78}"/>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913B2D2-2B1A-4B50-8606-7E5CDBD153C9}"/>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AI TRANSFORMING HOSPITAL OPERATIONS · SRS 2026</a:t>
            </a:r>
          </a:p>
        </p:txBody>
      </p:sp>
      <p:sp>
        <p:nvSpPr>
          <p:cNvPr id="33" name="">
            <a:extLst xmlns:a="http://schemas.openxmlformats.org/drawingml/2006/main">
              <a:ext uri="{FF2B5EF4-FFF2-40B4-BE49-F238E27FC236}">
                <a16:creationId xmlns:a16="http://schemas.microsoft.com/office/drawing/2014/main" id="{8135CCBE-C28E-40CB-9D62-BB2C00C57C0C}"/>
              </a:ext>
            </a:extLst>
          </p:cNvPr>
          <p:cNvSpPr>
            <a:spLocks xmlns:a="http://schemas.openxmlformats.org/drawingml/2006/main" noGrp="1"/>
          </p:cNvSpPr>
          <p:nvPr/>
        </p:nvSpPr>
        <p:spPr>
          <a:xfrm xmlns:a="http://schemas.openxmlformats.org/drawingml/2006/main">
            <a:off x="609600" y="135255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500" b="1">
                <a:solidFill>
                  <a:srgbClr val="F7F8F5"/>
                </a:solidFill>
                <a:latin typeface="Avenir Next"/>
                <a:ea typeface="Avenir Next"/>
                <a:cs typeface="Avenir Next"/>
              </a:defRPr>
            </a:pPr>
            <a:r>
              <a:rPr sz="4500" b="1">
                <a:solidFill>
                  <a:srgbClr val="F7F8F5"/>
                </a:solidFill>
                <a:latin typeface="Avenir Next"/>
                <a:ea typeface="Avenir Next"/>
                <a:cs typeface="Avenir Next"/>
              </a:rPr>
              <a:t>The robot is ready.</a:t>
            </a:r>
          </a:p>
          <a:p xmlns:a="http://schemas.openxmlformats.org/drawingml/2006/main">
            <a:pPr algn="l">
              <a:defRPr sz="4500" b="1">
                <a:solidFill>
                  <a:srgbClr val="F7F8F5"/>
                </a:solidFill>
                <a:latin typeface="Avenir Next"/>
                <a:ea typeface="Avenir Next"/>
                <a:cs typeface="Avenir Next"/>
              </a:defRPr>
            </a:pPr>
            <a:r>
              <a:rPr sz="4500" b="1">
                <a:solidFill>
                  <a:srgbClr val="F7F8F5"/>
                </a:solidFill>
                <a:latin typeface="Avenir Next"/>
                <a:ea typeface="Avenir Next"/>
                <a:cs typeface="Avenir Next"/>
              </a:rPr>
              <a:t>The hospital isn’t.</a:t>
            </a:r>
          </a:p>
        </p:txBody>
      </p:sp>
      <p:sp>
        <p:nvSpPr>
          <p:cNvPr id="34" name="">
            <a:extLst xmlns:a="http://schemas.openxmlformats.org/drawingml/2006/main">
              <a:ext uri="{FF2B5EF4-FFF2-40B4-BE49-F238E27FC236}">
                <a16:creationId xmlns:a16="http://schemas.microsoft.com/office/drawing/2014/main" id="{BCA455B9-0056-4B31-94E2-616049903F27}"/>
              </a:ext>
            </a:extLst>
          </p:cNvPr>
          <p:cNvSpPr>
            <a:spLocks xmlns:a="http://schemas.openxmlformats.org/drawingml/2006/main" noGrp="1"/>
          </p:cNvSpPr>
          <p:nvPr/>
        </p:nvSpPr>
        <p:spPr>
          <a:xfrm xmlns:a="http://schemas.openxmlformats.org/drawingml/2006/main">
            <a:off x="647700" y="3752850"/>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C2CDD1"/>
                </a:solidFill>
                <a:latin typeface="Avenir Next"/>
                <a:ea typeface="Avenir Next"/>
                <a:cs typeface="Avenir Next"/>
              </a:defRPr>
            </a:pPr>
            <a:r>
              <a:rPr sz="1800" b="0">
                <a:solidFill>
                  <a:srgbClr val="C2CDD1"/>
                </a:solidFill>
                <a:latin typeface="Avenir Next"/>
                <a:ea typeface="Avenir Next"/>
                <a:cs typeface="Avenir Next"/>
              </a:rPr>
              <a:t>Robotic surgery made the procedure precise.</a:t>
            </a:r>
          </a:p>
          <a:p xmlns:a="http://schemas.openxmlformats.org/drawingml/2006/main">
            <a:pPr algn="l">
              <a:defRPr sz="1800" b="0">
                <a:solidFill>
                  <a:srgbClr val="C2CDD1"/>
                </a:solidFill>
                <a:latin typeface="Avenir Next"/>
                <a:ea typeface="Avenir Next"/>
                <a:cs typeface="Avenir Next"/>
              </a:defRPr>
            </a:pPr>
            <a:r>
              <a:rPr sz="1800" b="0">
                <a:solidFill>
                  <a:srgbClr val="C2CDD1"/>
                </a:solidFill>
                <a:latin typeface="Avenir Next"/>
                <a:ea typeface="Avenir Next"/>
                <a:cs typeface="Avenir Next"/>
              </a:rPr>
              <a:t>AI must make the episode around it coherent.</a:t>
            </a:r>
          </a:p>
        </p:txBody>
      </p:sp>
      <p:sp>
        <p:nvSpPr>
          <p:cNvPr id="35" name="">
            <a:extLst xmlns:a="http://schemas.openxmlformats.org/drawingml/2006/main">
              <a:ext uri="{FF2B5EF4-FFF2-40B4-BE49-F238E27FC236}">
                <a16:creationId xmlns:a16="http://schemas.microsoft.com/office/drawing/2014/main" id="{0BEB521D-AAF5-4F60-8585-DA3150C6B13F}"/>
              </a:ext>
            </a:extLst>
          </p:cNvPr>
          <p:cNvSpPr>
            <a:spLocks xmlns:a="http://schemas.openxmlformats.org/drawingml/2006/main" noGrp="1"/>
          </p:cNvSpPr>
          <p:nvPr/>
        </p:nvSpPr>
        <p:spPr>
          <a:xfrm xmlns:a="http://schemas.openxmlformats.org/drawingml/2006/main">
            <a:off x="7448550" y="1028700"/>
            <a:ext cx="4057650" cy="4762500"/>
          </a:xfrm>
          <a:prstGeom xmlns:a="http://schemas.openxmlformats.org/drawingml/2006/main" prst="roundRect">
            <a:avLst>
              <a:gd name="adj" fmla="val 5634"/>
            </a:avLst>
          </a:prstGeom>
          <a:solidFill xmlns:a="http://schemas.openxmlformats.org/drawingml/2006/main">
            <a:srgbClr val="0E222C"/>
          </a:solidFill>
          <a:ln xmlns:a="http://schemas.openxmlformats.org/drawingml/2006/main" w="9525">
            <a:solidFill>
              <a:srgbClr val="28404A"/>
            </a:solidFill>
            <a:prstDash val="solid"/>
          </a:ln>
        </p:spPr>
      </p:sp>
      <p:sp>
        <p:nvSpPr>
          <p:cNvPr id="36" name="">
            <a:extLst xmlns:a="http://schemas.openxmlformats.org/drawingml/2006/main">
              <a:ext uri="{FF2B5EF4-FFF2-40B4-BE49-F238E27FC236}">
                <a16:creationId xmlns:a16="http://schemas.microsoft.com/office/drawing/2014/main" id="{E4D2FB1B-45B0-43A1-9818-AE44AD30C77E}"/>
              </a:ext>
            </a:extLst>
          </p:cNvPr>
          <p:cNvSpPr>
            <a:spLocks xmlns:a="http://schemas.openxmlformats.org/drawingml/2006/main" noGrp="1"/>
          </p:cNvSpPr>
          <p:nvPr/>
        </p:nvSpPr>
        <p:spPr>
          <a:xfrm xmlns:a="http://schemas.openxmlformats.org/drawingml/2006/main">
            <a:off x="7791450" y="13335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AA8AE"/>
                </a:solidFill>
                <a:latin typeface="Avenir Next"/>
                <a:ea typeface="Avenir Next"/>
                <a:cs typeface="Avenir Next"/>
              </a:defRPr>
            </a:pPr>
            <a:r>
              <a:rPr sz="825" b="1">
                <a:solidFill>
                  <a:srgbClr val="9AA8AE"/>
                </a:solidFill>
                <a:latin typeface="Avenir Next"/>
                <a:ea typeface="Avenir Next"/>
                <a:cs typeface="Avenir Next"/>
              </a:rPr>
              <a:t>ONE ROBOTIC CASE · 48 HOURS OUT</a:t>
            </a:r>
          </a:p>
        </p:txBody>
      </p:sp>
      <p:sp>
        <p:nvSpPr>
          <p:cNvPr id="37" name="">
            <a:extLst xmlns:a="http://schemas.openxmlformats.org/drawingml/2006/main">
              <a:ext uri="{FF2B5EF4-FFF2-40B4-BE49-F238E27FC236}">
                <a16:creationId xmlns:a16="http://schemas.microsoft.com/office/drawing/2014/main" id="{045D6237-E001-4836-BF31-F2BCF3FE09F6}"/>
              </a:ext>
            </a:extLst>
          </p:cNvPr>
          <p:cNvSpPr>
            <a:spLocks xmlns:a="http://schemas.openxmlformats.org/drawingml/2006/main" noGrp="1"/>
          </p:cNvSpPr>
          <p:nvPr/>
        </p:nvSpPr>
        <p:spPr>
          <a:xfrm xmlns:a="http://schemas.openxmlformats.org/drawingml/2006/main">
            <a:off x="7772400" y="1828800"/>
            <a:ext cx="3143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5400" b="0">
                <a:solidFill>
                  <a:srgbClr val="F7F8F5"/>
                </a:solidFill>
                <a:latin typeface="Avenir Next"/>
                <a:ea typeface="Avenir Next"/>
                <a:cs typeface="Avenir Next"/>
              </a:defRPr>
            </a:pPr>
            <a:r>
              <a:rPr sz="5400" b="0">
                <a:solidFill>
                  <a:srgbClr val="F7F8F5"/>
                </a:solidFill>
                <a:latin typeface="Avenir Next"/>
                <a:ea typeface="Avenir Next"/>
                <a:cs typeface="Avenir Next"/>
              </a:rPr>
              <a:t>47:36</a:t>
            </a:r>
          </a:p>
        </p:txBody>
      </p:sp>
      <p:sp>
        <p:nvSpPr>
          <p:cNvPr id="38" name="">
            <a:extLst xmlns:a="http://schemas.openxmlformats.org/drawingml/2006/main">
              <a:ext uri="{FF2B5EF4-FFF2-40B4-BE49-F238E27FC236}">
                <a16:creationId xmlns:a16="http://schemas.microsoft.com/office/drawing/2014/main" id="{41B02D3D-6117-4A6D-B0E2-BF3D8B549CA0}"/>
              </a:ext>
            </a:extLst>
          </p:cNvPr>
          <p:cNvSpPr>
            <a:spLocks xmlns:a="http://schemas.openxmlformats.org/drawingml/2006/main" noGrp="1"/>
          </p:cNvSpPr>
          <p:nvPr/>
        </p:nvSpPr>
        <p:spPr>
          <a:xfrm xmlns:a="http://schemas.openxmlformats.org/drawingml/2006/main">
            <a:off x="7810500" y="26860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AA8AE"/>
                </a:solidFill>
                <a:latin typeface="Avenir Next"/>
                <a:ea typeface="Avenir Next"/>
                <a:cs typeface="Avenir Next"/>
              </a:defRPr>
            </a:pPr>
            <a:r>
              <a:rPr sz="1125" b="0">
                <a:solidFill>
                  <a:srgbClr val="9AA8AE"/>
                </a:solidFill>
                <a:latin typeface="Avenir Next"/>
                <a:ea typeface="Avenir Next"/>
                <a:cs typeface="Avenir Next"/>
              </a:rPr>
              <a:t>hours to incision</a:t>
            </a:r>
          </a:p>
        </p:txBody>
      </p:sp>
      <p:sp>
        <p:nvSpPr>
          <p:cNvPr id="39" name="">
            <a:extLst xmlns:a="http://schemas.openxmlformats.org/drawingml/2006/main">
              <a:ext uri="{FF2B5EF4-FFF2-40B4-BE49-F238E27FC236}">
                <a16:creationId xmlns:a16="http://schemas.microsoft.com/office/drawing/2014/main" id="{0C00FBD6-1CF7-4F0B-8D0D-9D8D7997DAA7}"/>
              </a:ext>
            </a:extLst>
          </p:cNvPr>
          <p:cNvSpPr>
            <a:spLocks xmlns:a="http://schemas.openxmlformats.org/drawingml/2006/main" noGrp="1"/>
          </p:cNvSpPr>
          <p:nvPr/>
        </p:nvSpPr>
        <p:spPr>
          <a:xfrm xmlns:a="http://schemas.openxmlformats.org/drawingml/2006/main">
            <a:off x="7810500" y="3352800"/>
            <a:ext cx="95250" cy="95250"/>
          </a:xfrm>
          <a:prstGeom xmlns:a="http://schemas.openxmlformats.org/drawingml/2006/main" prst="ellipse">
            <a:avLst/>
          </a:prstGeom>
          <a:solidFill xmlns:a="http://schemas.openxmlformats.org/drawingml/2006/main">
            <a:srgbClr val="FF748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2653872-FEEC-41C9-B830-51A38772DDBD}"/>
              </a:ext>
            </a:extLst>
          </p:cNvPr>
          <p:cNvSpPr>
            <a:spLocks xmlns:a="http://schemas.openxmlformats.org/drawingml/2006/main" noGrp="1"/>
          </p:cNvSpPr>
          <p:nvPr/>
        </p:nvSpPr>
        <p:spPr>
          <a:xfrm xmlns:a="http://schemas.openxmlformats.org/drawingml/2006/main">
            <a:off x="8058150" y="32956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C6D0D3"/>
                </a:solidFill>
                <a:latin typeface="Avenir Next"/>
                <a:ea typeface="Avenir Next"/>
                <a:cs typeface="Avenir Next"/>
              </a:defRPr>
            </a:pPr>
            <a:r>
              <a:rPr sz="1125" b="0">
                <a:solidFill>
                  <a:srgbClr val="C6D0D3"/>
                </a:solidFill>
                <a:latin typeface="Avenir Next"/>
                <a:ea typeface="Avenir Next"/>
                <a:cs typeface="Avenir Next"/>
              </a:rPr>
              <a:t>Authorization</a:t>
            </a:r>
          </a:p>
        </p:txBody>
      </p:sp>
      <p:sp>
        <p:nvSpPr>
          <p:cNvPr id="41" name="">
            <a:extLst xmlns:a="http://schemas.openxmlformats.org/drawingml/2006/main">
              <a:ext uri="{FF2B5EF4-FFF2-40B4-BE49-F238E27FC236}">
                <a16:creationId xmlns:a16="http://schemas.microsoft.com/office/drawing/2014/main" id="{3C274B2B-C074-4719-9A07-116AA6F87EB7}"/>
              </a:ext>
            </a:extLst>
          </p:cNvPr>
          <p:cNvSpPr>
            <a:spLocks xmlns:a="http://schemas.openxmlformats.org/drawingml/2006/main" noGrp="1"/>
          </p:cNvSpPr>
          <p:nvPr/>
        </p:nvSpPr>
        <p:spPr>
          <a:xfrm xmlns:a="http://schemas.openxmlformats.org/drawingml/2006/main">
            <a:off x="9753600" y="32956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75" b="1">
                <a:solidFill>
                  <a:srgbClr val="F7F8F5"/>
                </a:solidFill>
                <a:latin typeface="Avenir Next"/>
                <a:ea typeface="Avenir Next"/>
                <a:cs typeface="Avenir Next"/>
              </a:defRPr>
            </a:pPr>
            <a:r>
              <a:rPr sz="975" b="1">
                <a:solidFill>
                  <a:srgbClr val="F7F8F5"/>
                </a:solidFill>
                <a:latin typeface="Avenir Next"/>
                <a:ea typeface="Avenir Next"/>
                <a:cs typeface="Avenir Next"/>
              </a:rPr>
              <a:t>Evidence requested</a:t>
            </a:r>
          </a:p>
        </p:txBody>
      </p:sp>
      <p:sp>
        <p:nvSpPr>
          <p:cNvPr id="42" name="">
            <a:extLst xmlns:a="http://schemas.openxmlformats.org/drawingml/2006/main">
              <a:ext uri="{FF2B5EF4-FFF2-40B4-BE49-F238E27FC236}">
                <a16:creationId xmlns:a16="http://schemas.microsoft.com/office/drawing/2014/main" id="{FFB811CD-3ABB-40A4-A0DC-81716D9F181B}"/>
              </a:ext>
            </a:extLst>
          </p:cNvPr>
          <p:cNvSpPr>
            <a:spLocks xmlns:a="http://schemas.openxmlformats.org/drawingml/2006/main" noGrp="1"/>
          </p:cNvSpPr>
          <p:nvPr/>
        </p:nvSpPr>
        <p:spPr>
          <a:xfrm xmlns:a="http://schemas.openxmlformats.org/drawingml/2006/main">
            <a:off x="7810500" y="3876675"/>
            <a:ext cx="95250" cy="9525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1049AAD-0CE0-4DBF-9F00-3FC9E6E312E6}"/>
              </a:ext>
            </a:extLst>
          </p:cNvPr>
          <p:cNvSpPr>
            <a:spLocks xmlns:a="http://schemas.openxmlformats.org/drawingml/2006/main" noGrp="1"/>
          </p:cNvSpPr>
          <p:nvPr/>
        </p:nvSpPr>
        <p:spPr>
          <a:xfrm xmlns:a="http://schemas.openxmlformats.org/drawingml/2006/main">
            <a:off x="8058150" y="381952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C6D0D3"/>
                </a:solidFill>
                <a:latin typeface="Avenir Next"/>
                <a:ea typeface="Avenir Next"/>
                <a:cs typeface="Avenir Next"/>
              </a:defRPr>
            </a:pPr>
            <a:r>
              <a:rPr sz="1125" b="0">
                <a:solidFill>
                  <a:srgbClr val="C6D0D3"/>
                </a:solidFill>
                <a:latin typeface="Avenir Next"/>
                <a:ea typeface="Avenir Next"/>
                <a:cs typeface="Avenir Next"/>
              </a:rPr>
              <a:t>OR + robot</a:t>
            </a:r>
          </a:p>
        </p:txBody>
      </p:sp>
      <p:sp>
        <p:nvSpPr>
          <p:cNvPr id="44" name="">
            <a:extLst xmlns:a="http://schemas.openxmlformats.org/drawingml/2006/main">
              <a:ext uri="{FF2B5EF4-FFF2-40B4-BE49-F238E27FC236}">
                <a16:creationId xmlns:a16="http://schemas.microsoft.com/office/drawing/2014/main" id="{74D9AEA4-2393-4F77-AB5E-84C7FA0DE99C}"/>
              </a:ext>
            </a:extLst>
          </p:cNvPr>
          <p:cNvSpPr>
            <a:spLocks xmlns:a="http://schemas.openxmlformats.org/drawingml/2006/main" noGrp="1"/>
          </p:cNvSpPr>
          <p:nvPr/>
        </p:nvSpPr>
        <p:spPr>
          <a:xfrm xmlns:a="http://schemas.openxmlformats.org/drawingml/2006/main">
            <a:off x="9753600" y="381952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75" b="1">
                <a:solidFill>
                  <a:srgbClr val="F7F8F5"/>
                </a:solidFill>
                <a:latin typeface="Avenir Next"/>
                <a:ea typeface="Avenir Next"/>
                <a:cs typeface="Avenir Next"/>
              </a:defRPr>
            </a:pPr>
            <a:r>
              <a:rPr sz="975" b="1">
                <a:solidFill>
                  <a:srgbClr val="F7F8F5"/>
                </a:solidFill>
                <a:latin typeface="Avenir Next"/>
                <a:ea typeface="Avenir Next"/>
                <a:cs typeface="Avenir Next"/>
              </a:rPr>
              <a:t>Block secured</a:t>
            </a:r>
          </a:p>
        </p:txBody>
      </p:sp>
      <p:sp>
        <p:nvSpPr>
          <p:cNvPr id="45" name="">
            <a:extLst xmlns:a="http://schemas.openxmlformats.org/drawingml/2006/main">
              <a:ext uri="{FF2B5EF4-FFF2-40B4-BE49-F238E27FC236}">
                <a16:creationId xmlns:a16="http://schemas.microsoft.com/office/drawing/2014/main" id="{D27984DE-5F9B-4723-92E4-B6B2CEEDA713}"/>
              </a:ext>
            </a:extLst>
          </p:cNvPr>
          <p:cNvSpPr>
            <a:spLocks xmlns:a="http://schemas.openxmlformats.org/drawingml/2006/main" noGrp="1"/>
          </p:cNvSpPr>
          <p:nvPr/>
        </p:nvSpPr>
        <p:spPr>
          <a:xfrm xmlns:a="http://schemas.openxmlformats.org/drawingml/2006/main">
            <a:off x="7810500" y="4400550"/>
            <a:ext cx="95250" cy="95250"/>
          </a:xfrm>
          <a:prstGeom xmlns:a="http://schemas.openxmlformats.org/drawingml/2006/main" prst="ellipse">
            <a:avLst/>
          </a:prstGeom>
          <a:solidFill xmlns:a="http://schemas.openxmlformats.org/drawingml/2006/main">
            <a:srgbClr val="FF7487"/>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8FB52DB-EFF6-48F2-9E95-D10AB7FCB014}"/>
              </a:ext>
            </a:extLst>
          </p:cNvPr>
          <p:cNvSpPr>
            <a:spLocks xmlns:a="http://schemas.openxmlformats.org/drawingml/2006/main" noGrp="1"/>
          </p:cNvSpPr>
          <p:nvPr/>
        </p:nvSpPr>
        <p:spPr>
          <a:xfrm xmlns:a="http://schemas.openxmlformats.org/drawingml/2006/main">
            <a:off x="8058150" y="43434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C6D0D3"/>
                </a:solidFill>
                <a:latin typeface="Avenir Next"/>
                <a:ea typeface="Avenir Next"/>
                <a:cs typeface="Avenir Next"/>
              </a:defRPr>
            </a:pPr>
            <a:r>
              <a:rPr sz="1125" b="0">
                <a:solidFill>
                  <a:srgbClr val="C6D0D3"/>
                </a:solidFill>
                <a:latin typeface="Avenir Next"/>
                <a:ea typeface="Avenir Next"/>
                <a:cs typeface="Avenir Next"/>
              </a:rPr>
              <a:t>Scrub coverage</a:t>
            </a:r>
          </a:p>
        </p:txBody>
      </p:sp>
      <p:sp>
        <p:nvSpPr>
          <p:cNvPr id="47" name="">
            <a:extLst xmlns:a="http://schemas.openxmlformats.org/drawingml/2006/main">
              <a:ext uri="{FF2B5EF4-FFF2-40B4-BE49-F238E27FC236}">
                <a16:creationId xmlns:a16="http://schemas.microsoft.com/office/drawing/2014/main" id="{24244104-E51B-403C-A3F1-68AC7FCB1F69}"/>
              </a:ext>
            </a:extLst>
          </p:cNvPr>
          <p:cNvSpPr>
            <a:spLocks xmlns:a="http://schemas.openxmlformats.org/drawingml/2006/main" noGrp="1"/>
          </p:cNvSpPr>
          <p:nvPr/>
        </p:nvSpPr>
        <p:spPr>
          <a:xfrm xmlns:a="http://schemas.openxmlformats.org/drawingml/2006/main">
            <a:off x="9753600" y="434340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75" b="1">
                <a:solidFill>
                  <a:srgbClr val="F7F8F5"/>
                </a:solidFill>
                <a:latin typeface="Avenir Next"/>
                <a:ea typeface="Avenir Next"/>
                <a:cs typeface="Avenir Next"/>
              </a:defRPr>
            </a:pPr>
            <a:r>
              <a:rPr sz="975" b="1">
                <a:solidFill>
                  <a:srgbClr val="F7F8F5"/>
                </a:solidFill>
                <a:latin typeface="Avenir Next"/>
                <a:ea typeface="Avenir Next"/>
                <a:cs typeface="Avenir Next"/>
              </a:rPr>
              <a:t>2-hour gap</a:t>
            </a:r>
          </a:p>
        </p:txBody>
      </p:sp>
      <p:sp>
        <p:nvSpPr>
          <p:cNvPr id="48" name="">
            <a:extLst xmlns:a="http://schemas.openxmlformats.org/drawingml/2006/main">
              <a:ext uri="{FF2B5EF4-FFF2-40B4-BE49-F238E27FC236}">
                <a16:creationId xmlns:a16="http://schemas.microsoft.com/office/drawing/2014/main" id="{B2053A0A-5742-4AA2-9A0B-E035B7A477C4}"/>
              </a:ext>
            </a:extLst>
          </p:cNvPr>
          <p:cNvSpPr>
            <a:spLocks xmlns:a="http://schemas.openxmlformats.org/drawingml/2006/main" noGrp="1"/>
          </p:cNvSpPr>
          <p:nvPr/>
        </p:nvSpPr>
        <p:spPr>
          <a:xfrm xmlns:a="http://schemas.openxmlformats.org/drawingml/2006/main">
            <a:off x="7810500" y="4924425"/>
            <a:ext cx="95250" cy="95250"/>
          </a:xfrm>
          <a:prstGeom xmlns:a="http://schemas.openxmlformats.org/drawingml/2006/main" prst="ellipse">
            <a:avLst/>
          </a:prstGeom>
          <a:solidFill xmlns:a="http://schemas.openxmlformats.org/drawingml/2006/main">
            <a:srgbClr val="F3C66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B866B72-B61D-4BE7-A392-7084B0C41FFD}"/>
              </a:ext>
            </a:extLst>
          </p:cNvPr>
          <p:cNvSpPr>
            <a:spLocks xmlns:a="http://schemas.openxmlformats.org/drawingml/2006/main" noGrp="1"/>
          </p:cNvSpPr>
          <p:nvPr/>
        </p:nvSpPr>
        <p:spPr>
          <a:xfrm xmlns:a="http://schemas.openxmlformats.org/drawingml/2006/main">
            <a:off x="8058150" y="48672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0">
                <a:solidFill>
                  <a:srgbClr val="C6D0D3"/>
                </a:solidFill>
                <a:latin typeface="Avenir Next"/>
                <a:ea typeface="Avenir Next"/>
                <a:cs typeface="Avenir Next"/>
              </a:defRPr>
            </a:pPr>
            <a:r>
              <a:rPr sz="1125" b="0">
                <a:solidFill>
                  <a:srgbClr val="C6D0D3"/>
                </a:solidFill>
                <a:latin typeface="Avenir Next"/>
                <a:ea typeface="Avenir Next"/>
                <a:cs typeface="Avenir Next"/>
              </a:rPr>
              <a:t>Bed capacity</a:t>
            </a:r>
          </a:p>
        </p:txBody>
      </p:sp>
      <p:sp>
        <p:nvSpPr>
          <p:cNvPr id="50" name="">
            <a:extLst xmlns:a="http://schemas.openxmlformats.org/drawingml/2006/main">
              <a:ext uri="{FF2B5EF4-FFF2-40B4-BE49-F238E27FC236}">
                <a16:creationId xmlns:a16="http://schemas.microsoft.com/office/drawing/2014/main" id="{60544ED7-C5B9-4435-A333-6D6094B34D7D}"/>
              </a:ext>
            </a:extLst>
          </p:cNvPr>
          <p:cNvSpPr>
            <a:spLocks xmlns:a="http://schemas.openxmlformats.org/drawingml/2006/main" noGrp="1"/>
          </p:cNvSpPr>
          <p:nvPr/>
        </p:nvSpPr>
        <p:spPr>
          <a:xfrm xmlns:a="http://schemas.openxmlformats.org/drawingml/2006/main">
            <a:off x="9753600" y="486727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75" b="1">
                <a:solidFill>
                  <a:srgbClr val="F7F8F5"/>
                </a:solidFill>
                <a:latin typeface="Avenir Next"/>
                <a:ea typeface="Avenir Next"/>
                <a:cs typeface="Avenir Next"/>
              </a:defRPr>
            </a:pPr>
            <a:r>
              <a:rPr sz="975" b="1">
                <a:solidFill>
                  <a:srgbClr val="F7F8F5"/>
                </a:solidFill>
                <a:latin typeface="Avenir Next"/>
                <a:ea typeface="Avenir Next"/>
                <a:cs typeface="Avenir Next"/>
              </a:rPr>
              <a:t>1 staffed bed</a:t>
            </a:r>
          </a:p>
        </p:txBody>
      </p:sp>
      <p:sp>
        <p:nvSpPr>
          <p:cNvPr id="51" name="">
            <a:extLst xmlns:a="http://schemas.openxmlformats.org/drawingml/2006/main">
              <a:ext uri="{FF2B5EF4-FFF2-40B4-BE49-F238E27FC236}">
                <a16:creationId xmlns:a16="http://schemas.microsoft.com/office/drawing/2014/main" id="{31255642-AA8D-43BA-9956-2AB9005CD8C8}"/>
              </a:ext>
            </a:extLst>
          </p:cNvPr>
          <p:cNvSpPr>
            <a:spLocks xmlns:a="http://schemas.openxmlformats.org/drawingml/2006/main" noGrp="1"/>
          </p:cNvSpPr>
          <p:nvPr/>
        </p:nvSpPr>
        <p:spPr>
          <a:xfrm xmlns:a="http://schemas.openxmlformats.org/drawingml/2006/main">
            <a:off x="609600" y="54292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THE QUESTION</a:t>
            </a:r>
          </a:p>
        </p:txBody>
      </p:sp>
      <p:sp>
        <p:nvSpPr>
          <p:cNvPr id="52" name="">
            <a:extLst xmlns:a="http://schemas.openxmlformats.org/drawingml/2006/main">
              <a:ext uri="{FF2B5EF4-FFF2-40B4-BE49-F238E27FC236}">
                <a16:creationId xmlns:a16="http://schemas.microsoft.com/office/drawing/2014/main" id="{857B1CAE-22E0-47B0-BE65-50FF45B045A4}"/>
              </a:ext>
            </a:extLst>
          </p:cNvPr>
          <p:cNvSpPr>
            <a:spLocks xmlns:a="http://schemas.openxmlformats.org/drawingml/2006/main" noGrp="1"/>
          </p:cNvSpPr>
          <p:nvPr/>
        </p:nvSpPr>
        <p:spPr>
          <a:xfrm xmlns:a="http://schemas.openxmlformats.org/drawingml/2006/main">
            <a:off x="609600" y="5695950"/>
            <a:ext cx="617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7F8F5"/>
                </a:solidFill>
                <a:latin typeface="Avenir Next"/>
                <a:ea typeface="Avenir Next"/>
                <a:cs typeface="Avenir Next"/>
              </a:defRPr>
            </a:pPr>
            <a:r>
              <a:rPr sz="1800" b="1">
                <a:solidFill>
                  <a:srgbClr val="F7F8F5"/>
                </a:solidFill>
                <a:latin typeface="Avenir Next"/>
                <a:ea typeface="Avenir Next"/>
                <a:cs typeface="Avenir Next"/>
              </a:rPr>
              <a:t>Can the institution move with the same precision as the machine?</a:t>
            </a:r>
          </a:p>
        </p:txBody>
      </p:sp>
      <p:sp>
        <p:nvSpPr>
          <p:cNvPr id="53" name="">
            <a:extLst xmlns:a="http://schemas.openxmlformats.org/drawingml/2006/main">
              <a:ext uri="{FF2B5EF4-FFF2-40B4-BE49-F238E27FC236}">
                <a16:creationId xmlns:a16="http://schemas.microsoft.com/office/drawing/2014/main" id="{0A651559-A52C-445D-BAD4-B78A15007D00}"/>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01</a:t>
            </a:r>
          </a:p>
        </p:txBody>
      </p:sp>
    </p:spTree>
    <p:extLst>
      <p:ext uri="{BB962C8B-B14F-4D97-AF65-F5344CB8AC3E}">
        <p14:creationId xmlns:p14="http://schemas.microsoft.com/office/powerpoint/2010/main" val="761136738"/>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19F5D9-2BF3-4F54-89AA-E57BDFE56BB1}"/>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217FD6-CE58-4A4F-8BB1-058CE2649F6D}"/>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THE ECONOMIC MANDATE</a:t>
            </a:r>
          </a:p>
        </p:txBody>
      </p:sp>
      <p:sp>
        <p:nvSpPr>
          <p:cNvPr id="3" name="">
            <a:extLst xmlns:a="http://schemas.openxmlformats.org/drawingml/2006/main">
              <a:ext uri="{FF2B5EF4-FFF2-40B4-BE49-F238E27FC236}">
                <a16:creationId xmlns:a16="http://schemas.microsoft.com/office/drawing/2014/main" id="{4F59F94E-108B-4345-8254-E34193E98F48}"/>
              </a:ext>
            </a:extLst>
          </p:cNvPr>
          <p:cNvSpPr>
            <a:spLocks xmlns:a="http://schemas.openxmlformats.org/drawingml/2006/main" noGrp="1"/>
          </p:cNvSpPr>
          <p:nvPr/>
        </p:nvSpPr>
        <p:spPr>
          <a:xfrm xmlns:a="http://schemas.openxmlformats.org/drawingml/2006/main">
            <a:off x="609600" y="800100"/>
            <a:ext cx="1028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450" b="1">
                <a:solidFill>
                  <a:srgbClr val="0B1720"/>
                </a:solidFill>
                <a:latin typeface="Avenir Next"/>
                <a:ea typeface="Avenir Next"/>
                <a:cs typeface="Avenir Next"/>
              </a:defRPr>
            </a:pPr>
            <a:r>
              <a:rPr sz="3450" b="1">
                <a:solidFill>
                  <a:srgbClr val="0B1720"/>
                </a:solidFill>
                <a:latin typeface="Avenir Next"/>
                <a:ea typeface="Avenir Next"/>
                <a:cs typeface="Avenir Next"/>
              </a:rPr>
              <a:t>Hospital economics no longer permit coordination waste.</a:t>
            </a:r>
          </a:p>
        </p:txBody>
      </p:sp>
      <p:sp>
        <p:nvSpPr>
          <p:cNvPr id="4" name="">
            <a:extLst xmlns:a="http://schemas.openxmlformats.org/drawingml/2006/main">
              <a:ext uri="{FF2B5EF4-FFF2-40B4-BE49-F238E27FC236}">
                <a16:creationId xmlns:a16="http://schemas.microsoft.com/office/drawing/2014/main" id="{E0D6A40B-7C2F-45AE-8BAF-F61123620916}"/>
              </a:ext>
            </a:extLst>
          </p:cNvPr>
          <p:cNvSpPr>
            <a:spLocks xmlns:a="http://schemas.openxmlformats.org/drawingml/2006/main" noGrp="1"/>
          </p:cNvSpPr>
          <p:nvPr/>
        </p:nvSpPr>
        <p:spPr>
          <a:xfrm xmlns:a="http://schemas.openxmlformats.org/drawingml/2006/main">
            <a:off x="609600" y="23431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2024</a:t>
            </a:r>
          </a:p>
        </p:txBody>
      </p:sp>
      <p:sp>
        <p:nvSpPr>
          <p:cNvPr id="5" name="">
            <a:extLst xmlns:a="http://schemas.openxmlformats.org/drawingml/2006/main">
              <a:ext uri="{FF2B5EF4-FFF2-40B4-BE49-F238E27FC236}">
                <a16:creationId xmlns:a16="http://schemas.microsoft.com/office/drawing/2014/main" id="{7165775F-C766-42D2-B5D1-56DF63F007CC}"/>
              </a:ext>
            </a:extLst>
          </p:cNvPr>
          <p:cNvSpPr>
            <a:spLocks xmlns:a="http://schemas.openxmlformats.org/drawingml/2006/main" noGrp="1"/>
          </p:cNvSpPr>
          <p:nvPr/>
        </p:nvSpPr>
        <p:spPr>
          <a:xfrm xmlns:a="http://schemas.openxmlformats.org/drawingml/2006/main">
            <a:off x="609600" y="270510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B1720"/>
                </a:solidFill>
                <a:latin typeface="Avenir Next"/>
                <a:ea typeface="Avenir Next"/>
                <a:cs typeface="Avenir Next"/>
              </a:defRPr>
            </a:pPr>
            <a:r>
              <a:rPr sz="4950" b="1">
                <a:solidFill>
                  <a:srgbClr val="0B1720"/>
                </a:solidFill>
                <a:latin typeface="Avenir Next"/>
                <a:ea typeface="Avenir Next"/>
                <a:cs typeface="Avenir Next"/>
              </a:rPr>
              <a:t>$1.635T</a:t>
            </a:r>
          </a:p>
        </p:txBody>
      </p:sp>
      <p:sp>
        <p:nvSpPr>
          <p:cNvPr id="6" name="">
            <a:extLst xmlns:a="http://schemas.openxmlformats.org/drawingml/2006/main">
              <a:ext uri="{FF2B5EF4-FFF2-40B4-BE49-F238E27FC236}">
                <a16:creationId xmlns:a16="http://schemas.microsoft.com/office/drawing/2014/main" id="{6CCD32B9-AEBF-4D10-BDA3-5EEAC7B15B22}"/>
              </a:ext>
            </a:extLst>
          </p:cNvPr>
          <p:cNvSpPr>
            <a:spLocks xmlns:a="http://schemas.openxmlformats.org/drawingml/2006/main" noGrp="1"/>
          </p:cNvSpPr>
          <p:nvPr/>
        </p:nvSpPr>
        <p:spPr>
          <a:xfrm xmlns:a="http://schemas.openxmlformats.org/drawingml/2006/main">
            <a:off x="609600" y="3667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7078"/>
                </a:solidFill>
                <a:latin typeface="Avenir Next"/>
                <a:ea typeface="Avenir Next"/>
                <a:cs typeface="Avenir Next"/>
              </a:defRPr>
            </a:pPr>
            <a:r>
              <a:rPr sz="1500" b="0">
                <a:solidFill>
                  <a:srgbClr val="5F7078"/>
                </a:solidFill>
                <a:latin typeface="Avenir Next"/>
                <a:ea typeface="Avenir Next"/>
                <a:cs typeface="Avenir Next"/>
              </a:rPr>
              <a:t>U.S. hospital spending</a:t>
            </a:r>
          </a:p>
        </p:txBody>
      </p:sp>
      <p:sp>
        <p:nvSpPr>
          <p:cNvPr id="7" name="">
            <a:extLst xmlns:a="http://schemas.openxmlformats.org/drawingml/2006/main">
              <a:ext uri="{FF2B5EF4-FFF2-40B4-BE49-F238E27FC236}">
                <a16:creationId xmlns:a16="http://schemas.microsoft.com/office/drawing/2014/main" id="{24B24C78-9284-474F-AC5A-8F46A1A2B3B4}"/>
              </a:ext>
            </a:extLst>
          </p:cNvPr>
          <p:cNvSpPr>
            <a:spLocks xmlns:a="http://schemas.openxmlformats.org/drawingml/2006/main" noGrp="1"/>
          </p:cNvSpPr>
          <p:nvPr/>
        </p:nvSpPr>
        <p:spPr>
          <a:xfrm xmlns:a="http://schemas.openxmlformats.org/drawingml/2006/main">
            <a:off x="4105275" y="2381250"/>
            <a:ext cx="0" cy="228600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8" name="">
            <a:extLst xmlns:a="http://schemas.openxmlformats.org/drawingml/2006/main">
              <a:ext uri="{FF2B5EF4-FFF2-40B4-BE49-F238E27FC236}">
                <a16:creationId xmlns:a16="http://schemas.microsoft.com/office/drawing/2014/main" id="{0E87B7AF-90EF-4050-93C1-444ECB207E3D}"/>
              </a:ext>
            </a:extLst>
          </p:cNvPr>
          <p:cNvSpPr>
            <a:spLocks xmlns:a="http://schemas.openxmlformats.org/drawingml/2006/main" noGrp="1"/>
          </p:cNvSpPr>
          <p:nvPr/>
        </p:nvSpPr>
        <p:spPr>
          <a:xfrm xmlns:a="http://schemas.openxmlformats.org/drawingml/2006/main">
            <a:off x="4391025" y="23431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2024</a:t>
            </a:r>
          </a:p>
        </p:txBody>
      </p:sp>
      <p:sp>
        <p:nvSpPr>
          <p:cNvPr id="9" name="">
            <a:extLst xmlns:a="http://schemas.openxmlformats.org/drawingml/2006/main">
              <a:ext uri="{FF2B5EF4-FFF2-40B4-BE49-F238E27FC236}">
                <a16:creationId xmlns:a16="http://schemas.microsoft.com/office/drawing/2014/main" id="{E23F763C-A484-4277-B6B3-458475DD2724}"/>
              </a:ext>
            </a:extLst>
          </p:cNvPr>
          <p:cNvSpPr>
            <a:spLocks xmlns:a="http://schemas.openxmlformats.org/drawingml/2006/main" noGrp="1"/>
          </p:cNvSpPr>
          <p:nvPr/>
        </p:nvSpPr>
        <p:spPr>
          <a:xfrm xmlns:a="http://schemas.openxmlformats.org/drawingml/2006/main">
            <a:off x="4391025" y="270510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B1720"/>
                </a:solidFill>
                <a:latin typeface="Avenir Next"/>
                <a:ea typeface="Avenir Next"/>
                <a:cs typeface="Avenir Next"/>
              </a:defRPr>
            </a:pPr>
            <a:r>
              <a:rPr sz="4950" b="1">
                <a:solidFill>
                  <a:srgbClr val="0B1720"/>
                </a:solidFill>
                <a:latin typeface="Avenir Next"/>
                <a:ea typeface="Avenir Next"/>
                <a:cs typeface="Avenir Next"/>
              </a:rPr>
              <a:t>+8.9%</a:t>
            </a:r>
          </a:p>
        </p:txBody>
      </p:sp>
      <p:sp>
        <p:nvSpPr>
          <p:cNvPr id="10" name="">
            <a:extLst xmlns:a="http://schemas.openxmlformats.org/drawingml/2006/main">
              <a:ext uri="{FF2B5EF4-FFF2-40B4-BE49-F238E27FC236}">
                <a16:creationId xmlns:a16="http://schemas.microsoft.com/office/drawing/2014/main" id="{E53AE086-854B-46F7-80E9-3256A4E3BC64}"/>
              </a:ext>
            </a:extLst>
          </p:cNvPr>
          <p:cNvSpPr>
            <a:spLocks xmlns:a="http://schemas.openxmlformats.org/drawingml/2006/main" noGrp="1"/>
          </p:cNvSpPr>
          <p:nvPr/>
        </p:nvSpPr>
        <p:spPr>
          <a:xfrm xmlns:a="http://schemas.openxmlformats.org/drawingml/2006/main">
            <a:off x="4391025" y="3667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7078"/>
                </a:solidFill>
                <a:latin typeface="Avenir Next"/>
                <a:ea typeface="Avenir Next"/>
                <a:cs typeface="Avenir Next"/>
              </a:defRPr>
            </a:pPr>
            <a:r>
              <a:rPr sz="1500" b="0">
                <a:solidFill>
                  <a:srgbClr val="5F7078"/>
                </a:solidFill>
                <a:latin typeface="Avenir Next"/>
                <a:ea typeface="Avenir Next"/>
                <a:cs typeface="Avenir Next"/>
              </a:rPr>
              <a:t>one-year growth</a:t>
            </a:r>
          </a:p>
        </p:txBody>
      </p:sp>
      <p:sp>
        <p:nvSpPr>
          <p:cNvPr id="11" name="">
            <a:extLst xmlns:a="http://schemas.openxmlformats.org/drawingml/2006/main">
              <a:ext uri="{FF2B5EF4-FFF2-40B4-BE49-F238E27FC236}">
                <a16:creationId xmlns:a16="http://schemas.microsoft.com/office/drawing/2014/main" id="{88BC8C0D-9577-4E67-8F92-4DFE04DE3C7E}"/>
              </a:ext>
            </a:extLst>
          </p:cNvPr>
          <p:cNvSpPr>
            <a:spLocks xmlns:a="http://schemas.openxmlformats.org/drawingml/2006/main" noGrp="1"/>
          </p:cNvSpPr>
          <p:nvPr/>
        </p:nvSpPr>
        <p:spPr>
          <a:xfrm xmlns:a="http://schemas.openxmlformats.org/drawingml/2006/main">
            <a:off x="7886700" y="2381250"/>
            <a:ext cx="0" cy="228600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12" name="">
            <a:extLst xmlns:a="http://schemas.openxmlformats.org/drawingml/2006/main">
              <a:ext uri="{FF2B5EF4-FFF2-40B4-BE49-F238E27FC236}">
                <a16:creationId xmlns:a16="http://schemas.microsoft.com/office/drawing/2014/main" id="{BFFED81B-A445-4F79-88D8-32F6153EA502}"/>
              </a:ext>
            </a:extLst>
          </p:cNvPr>
          <p:cNvSpPr>
            <a:spLocks xmlns:a="http://schemas.openxmlformats.org/drawingml/2006/main" noGrp="1"/>
          </p:cNvSpPr>
          <p:nvPr/>
        </p:nvSpPr>
        <p:spPr>
          <a:xfrm xmlns:a="http://schemas.openxmlformats.org/drawingml/2006/main">
            <a:off x="8172450" y="23431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AHA 2025</a:t>
            </a:r>
          </a:p>
        </p:txBody>
      </p:sp>
      <p:sp>
        <p:nvSpPr>
          <p:cNvPr id="13" name="">
            <a:extLst xmlns:a="http://schemas.openxmlformats.org/drawingml/2006/main">
              <a:ext uri="{FF2B5EF4-FFF2-40B4-BE49-F238E27FC236}">
                <a16:creationId xmlns:a16="http://schemas.microsoft.com/office/drawing/2014/main" id="{432E4649-709F-4D3B-8128-39E73544C594}"/>
              </a:ext>
            </a:extLst>
          </p:cNvPr>
          <p:cNvSpPr>
            <a:spLocks xmlns:a="http://schemas.openxmlformats.org/drawingml/2006/main" noGrp="1"/>
          </p:cNvSpPr>
          <p:nvPr/>
        </p:nvSpPr>
        <p:spPr>
          <a:xfrm xmlns:a="http://schemas.openxmlformats.org/drawingml/2006/main">
            <a:off x="8172450" y="2705100"/>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950" b="1">
                <a:solidFill>
                  <a:srgbClr val="0B1720"/>
                </a:solidFill>
                <a:latin typeface="Avenir Next"/>
                <a:ea typeface="Avenir Next"/>
                <a:cs typeface="Avenir Next"/>
              </a:defRPr>
            </a:pPr>
            <a:r>
              <a:rPr sz="4950" b="1">
                <a:solidFill>
                  <a:srgbClr val="0B1720"/>
                </a:solidFill>
                <a:latin typeface="Avenir Next"/>
                <a:ea typeface="Avenir Next"/>
                <a:cs typeface="Avenir Next"/>
              </a:rPr>
              <a:t>56%</a:t>
            </a:r>
          </a:p>
        </p:txBody>
      </p:sp>
      <p:sp>
        <p:nvSpPr>
          <p:cNvPr id="14" name="">
            <a:extLst xmlns:a="http://schemas.openxmlformats.org/drawingml/2006/main">
              <a:ext uri="{FF2B5EF4-FFF2-40B4-BE49-F238E27FC236}">
                <a16:creationId xmlns:a16="http://schemas.microsoft.com/office/drawing/2014/main" id="{3B019331-D47A-48C2-B0FE-C85143CC12E8}"/>
              </a:ext>
            </a:extLst>
          </p:cNvPr>
          <p:cNvSpPr>
            <a:spLocks xmlns:a="http://schemas.openxmlformats.org/drawingml/2006/main" noGrp="1"/>
          </p:cNvSpPr>
          <p:nvPr/>
        </p:nvSpPr>
        <p:spPr>
          <a:xfrm xmlns:a="http://schemas.openxmlformats.org/drawingml/2006/main">
            <a:off x="8172450" y="36671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5F7078"/>
                </a:solidFill>
                <a:latin typeface="Avenir Next"/>
                <a:ea typeface="Avenir Next"/>
                <a:cs typeface="Avenir Next"/>
              </a:defRPr>
            </a:pPr>
            <a:r>
              <a:rPr sz="1500" b="0">
                <a:solidFill>
                  <a:srgbClr val="5F7078"/>
                </a:solidFill>
                <a:latin typeface="Avenir Next"/>
                <a:ea typeface="Avenir Next"/>
                <a:cs typeface="Avenir Next"/>
              </a:rPr>
              <a:t>of hospital costs are labor</a:t>
            </a:r>
          </a:p>
        </p:txBody>
      </p:sp>
      <p:sp>
        <p:nvSpPr>
          <p:cNvPr id="15" name="">
            <a:extLst xmlns:a="http://schemas.openxmlformats.org/drawingml/2006/main">
              <a:ext uri="{FF2B5EF4-FFF2-40B4-BE49-F238E27FC236}">
                <a16:creationId xmlns:a16="http://schemas.microsoft.com/office/drawing/2014/main" id="{C5E49E23-83BB-4A07-BE0A-4BEF4129B6D3}"/>
              </a:ext>
            </a:extLst>
          </p:cNvPr>
          <p:cNvSpPr>
            <a:spLocks xmlns:a="http://schemas.openxmlformats.org/drawingml/2006/main" noGrp="1"/>
          </p:cNvSpPr>
          <p:nvPr/>
        </p:nvSpPr>
        <p:spPr>
          <a:xfrm xmlns:a="http://schemas.openxmlformats.org/drawingml/2006/main">
            <a:off x="609600" y="5162550"/>
            <a:ext cx="10972800" cy="819150"/>
          </a:xfrm>
          <a:prstGeom xmlns:a="http://schemas.openxmlformats.org/drawingml/2006/main" prst="roundRect">
            <a:avLst>
              <a:gd name="adj" fmla="val 20930"/>
            </a:avLst>
          </a:prstGeom>
          <a:solidFill xmlns:a="http://schemas.openxmlformats.org/drawingml/2006/main">
            <a:srgbClr val="0B1720"/>
          </a:solidFill>
          <a:ln xmlns:a="http://schemas.openxmlformats.org/drawingml/2006/main" w="0">
            <a:solidFill>
              <a:srgbClr val="0B1720"/>
            </a:solidFill>
            <a:prstDash val="solid"/>
          </a:ln>
        </p:spPr>
      </p:sp>
      <p:sp>
        <p:nvSpPr>
          <p:cNvPr id="16" name="">
            <a:extLst xmlns:a="http://schemas.openxmlformats.org/drawingml/2006/main">
              <a:ext uri="{FF2B5EF4-FFF2-40B4-BE49-F238E27FC236}">
                <a16:creationId xmlns:a16="http://schemas.microsoft.com/office/drawing/2014/main" id="{44DFF387-5F93-4946-A360-309EA42FE556}"/>
              </a:ext>
            </a:extLst>
          </p:cNvPr>
          <p:cNvSpPr>
            <a:spLocks xmlns:a="http://schemas.openxmlformats.org/drawingml/2006/main" noGrp="1"/>
          </p:cNvSpPr>
          <p:nvPr/>
        </p:nvSpPr>
        <p:spPr>
          <a:xfrm xmlns:a="http://schemas.openxmlformats.org/drawingml/2006/main">
            <a:off x="895350" y="52959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725" b="1">
                <a:solidFill>
                  <a:srgbClr val="F7F8F5"/>
                </a:solidFill>
                <a:latin typeface="Avenir Next"/>
                <a:ea typeface="Avenir Next"/>
                <a:cs typeface="Avenir Next"/>
              </a:defRPr>
            </a:pPr>
            <a:r>
              <a:rPr sz="1725" b="1">
                <a:solidFill>
                  <a:srgbClr val="F7F8F5"/>
                </a:solidFill>
                <a:latin typeface="Avenir Next"/>
                <a:ea typeface="Avenir Next"/>
                <a:cs typeface="Avenir Next"/>
              </a:rPr>
              <a:t>Every unused minute, delayed bed-day, and failed handoff now compounds across the most expensive system in the economy.</a:t>
            </a:r>
          </a:p>
        </p:txBody>
      </p:sp>
      <p:sp>
        <p:nvSpPr>
          <p:cNvPr id="17" name="">
            <a:extLst xmlns:a="http://schemas.openxmlformats.org/drawingml/2006/main">
              <a:ext uri="{FF2B5EF4-FFF2-40B4-BE49-F238E27FC236}">
                <a16:creationId xmlns:a16="http://schemas.microsoft.com/office/drawing/2014/main" id="{FF52EDF4-5A3A-4D77-B0B8-F36D830C4F11}"/>
              </a:ext>
            </a:extLst>
          </p:cNvPr>
          <p:cNvSpPr>
            <a:spLocks xmlns:a="http://schemas.openxmlformats.org/drawingml/2006/main" noGrp="1"/>
          </p:cNvSpPr>
          <p:nvPr/>
        </p:nvSpPr>
        <p:spPr>
          <a:xfrm xmlns:a="http://schemas.openxmlformats.org/drawingml/2006/main">
            <a:off x="609600"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5F7078"/>
                </a:solidFill>
                <a:latin typeface="Avenir Next"/>
                <a:ea typeface="Avenir Next"/>
                <a:cs typeface="Avenir Next"/>
              </a:defRPr>
            </a:pPr>
            <a:r>
              <a:rPr sz="675" b="0">
                <a:solidFill>
                  <a:srgbClr val="5F7078"/>
                </a:solidFill>
                <a:latin typeface="Avenir Next"/>
                <a:ea typeface="Avenir Next"/>
                <a:cs typeface="Avenir Next"/>
              </a:rPr>
              <a:t>Sources: CMS National Health Expenditure data (2024); AHA 2025 Costs of Caring report.</a:t>
            </a:r>
          </a:p>
        </p:txBody>
      </p:sp>
      <p:sp>
        <p:nvSpPr>
          <p:cNvPr id="18" name="">
            <a:extLst xmlns:a="http://schemas.openxmlformats.org/drawingml/2006/main">
              <a:ext uri="{FF2B5EF4-FFF2-40B4-BE49-F238E27FC236}">
                <a16:creationId xmlns:a16="http://schemas.microsoft.com/office/drawing/2014/main" id="{71320D5C-7208-4C2D-8103-E21EB0DAC748}"/>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02</a:t>
            </a:r>
          </a:p>
        </p:txBody>
      </p:sp>
    </p:spTree>
    <p:extLst>
      <p:ext uri="{BB962C8B-B14F-4D97-AF65-F5344CB8AC3E}">
        <p14:creationId xmlns:p14="http://schemas.microsoft.com/office/powerpoint/2010/main" val="1819760826"/>
      </p:ext>
    </p:extLst>
  </p:cSld>
</p:sld>
</file>

<file path=ppt/slides/slide3.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0E1036-970B-42E5-9EE1-4E96746245E7}"/>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6E537881-0701-4963-A413-D74811739FF3}"/>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2E922B7F-71AF-4176-8F3A-C822CBCC1139}"/>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2459920E-3E0A-41BF-85D4-DCC45A7DC18E}"/>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7D741BEC-66CD-4ED8-A72F-5E554F1450CD}"/>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73B1DE96-B8D0-4284-A748-38509B2A623C}"/>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29FC70F4-C814-48D9-AAA2-F041E985741D}"/>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95159601-8611-4005-8DB9-50F48A1585AC}"/>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75B2E319-C789-4AB1-8567-B8F1D774E6AC}"/>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136863E5-F33A-4951-AB1E-45C11FFC6CE0}"/>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82ACCF81-7415-47D2-B938-0FEC90735803}"/>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DAAAC626-1EE7-43B7-AF0C-669D0F7544BD}"/>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7710CB45-A50E-49E0-A093-6A827E2DB7CD}"/>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A9040E8B-BD87-4394-B4C8-10E1D68A810D}"/>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7731F684-0E0E-4F9F-B0B9-26ADDCB1871A}"/>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CD565B6E-84C2-4174-901D-8268ED986228}"/>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2CDECEFD-77A8-4944-A431-A03A1BA52AC2}"/>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2A7CA58A-BF9D-4BE5-A1A6-406B20879E08}"/>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E0D0849B-19D7-40ED-8646-240A3987E21B}"/>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D9C139C5-D961-41A5-94AE-E759218C2C3D}"/>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E2573549-1F6A-4536-AF1E-EDC01EF3B5A6}"/>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AD344592-F6B9-4490-B6CE-076300DF5533}"/>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32639762-37B5-4BFA-9DD8-54BBFF5CB5DE}"/>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517726B8-09C2-47E2-B5A8-7B3C6FC311D4}"/>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74E5983D-3B43-485E-ACE7-07991A55F507}"/>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EBC57464-862B-46CC-8E84-A68214B493E5}"/>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2E6CD425-519E-46CF-97B8-724C8828CE8B}"/>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49F86EF4-88F5-4A08-9409-DDC3D70D8284}"/>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AFDAA95A-227A-4AD6-9CEE-57B048BAD7BC}"/>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5F6C9468-8713-482D-9A11-F1574EF35AE0}"/>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1591BD30-FC05-4869-A920-A7CD855CBFA2}"/>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7E51E17-035C-475D-A447-77969D549F94}"/>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THE COORDINATION GAP</a:t>
            </a:r>
          </a:p>
        </p:txBody>
      </p:sp>
      <p:sp>
        <p:nvSpPr>
          <p:cNvPr id="33" name="">
            <a:extLst xmlns:a="http://schemas.openxmlformats.org/drawingml/2006/main">
              <a:ext uri="{FF2B5EF4-FFF2-40B4-BE49-F238E27FC236}">
                <a16:creationId xmlns:a16="http://schemas.microsoft.com/office/drawing/2014/main" id="{1AF27EE4-CD89-4F49-8498-FCD474C48EBB}"/>
              </a:ext>
            </a:extLst>
          </p:cNvPr>
          <p:cNvSpPr>
            <a:spLocks xmlns:a="http://schemas.openxmlformats.org/drawingml/2006/main" noGrp="1"/>
          </p:cNvSpPr>
          <p:nvPr/>
        </p:nvSpPr>
        <p:spPr>
          <a:xfrm xmlns:a="http://schemas.openxmlformats.org/drawingml/2006/main">
            <a:off x="609600" y="81915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7F8F5"/>
                </a:solidFill>
                <a:latin typeface="Avenir Next"/>
                <a:ea typeface="Avenir Next"/>
                <a:cs typeface="Avenir Next"/>
              </a:defRPr>
            </a:pPr>
            <a:r>
              <a:rPr sz="3300" b="1">
                <a:solidFill>
                  <a:srgbClr val="F7F8F5"/>
                </a:solidFill>
                <a:latin typeface="Avenir Next"/>
                <a:ea typeface="Avenir Next"/>
                <a:cs typeface="Avenir Next"/>
              </a:rPr>
              <a:t>No system owns the whole clock.</a:t>
            </a:r>
          </a:p>
        </p:txBody>
      </p:sp>
      <p:sp>
        <p:nvSpPr>
          <p:cNvPr id="34" name="">
            <a:extLst xmlns:a="http://schemas.openxmlformats.org/drawingml/2006/main">
              <a:ext uri="{FF2B5EF4-FFF2-40B4-BE49-F238E27FC236}">
                <a16:creationId xmlns:a16="http://schemas.microsoft.com/office/drawing/2014/main" id="{6ECEC79A-3F41-4CD7-B5F4-3288E6965FB5}"/>
              </a:ext>
            </a:extLst>
          </p:cNvPr>
          <p:cNvSpPr>
            <a:spLocks xmlns:a="http://schemas.openxmlformats.org/drawingml/2006/main" noGrp="1"/>
          </p:cNvSpPr>
          <p:nvPr/>
        </p:nvSpPr>
        <p:spPr>
          <a:xfrm xmlns:a="http://schemas.openxmlformats.org/drawingml/2006/main">
            <a:off x="628650" y="14287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9AA8AE"/>
                </a:solidFill>
                <a:latin typeface="Avenir Next"/>
                <a:ea typeface="Avenir Next"/>
                <a:cs typeface="Avenir Next"/>
              </a:defRPr>
            </a:pPr>
            <a:r>
              <a:rPr sz="1575" b="0">
                <a:solidFill>
                  <a:srgbClr val="9AA8AE"/>
                </a:solidFill>
                <a:latin typeface="Avenir Next"/>
                <a:ea typeface="Avenir Next"/>
                <a:cs typeface="Avenir Next"/>
              </a:rPr>
              <a:t>Every function sees its task. The risk accumulates between them.</a:t>
            </a:r>
          </a:p>
        </p:txBody>
      </p:sp>
      <p:sp>
        <p:nvSpPr>
          <p:cNvPr id="35" name="">
            <a:extLst xmlns:a="http://schemas.openxmlformats.org/drawingml/2006/main">
              <a:ext uri="{FF2B5EF4-FFF2-40B4-BE49-F238E27FC236}">
                <a16:creationId xmlns:a16="http://schemas.microsoft.com/office/drawing/2014/main" id="{0FD36D7E-0BA2-405A-A079-A8D12145C97F}"/>
              </a:ext>
            </a:extLst>
          </p:cNvPr>
          <p:cNvSpPr>
            <a:spLocks xmlns:a="http://schemas.openxmlformats.org/drawingml/2006/main" noGrp="1"/>
          </p:cNvSpPr>
          <p:nvPr/>
        </p:nvSpPr>
        <p:spPr>
          <a:xfrm xmlns:a="http://schemas.openxmlformats.org/drawingml/2006/main">
            <a:off x="571500" y="2781300"/>
            <a:ext cx="1676400" cy="1257300"/>
          </a:xfrm>
          <a:prstGeom xmlns:a="http://schemas.openxmlformats.org/drawingml/2006/main" prst="roundRect">
            <a:avLst>
              <a:gd name="adj" fmla="val 13636"/>
            </a:avLst>
          </a:prstGeom>
          <a:solidFill xmlns:a="http://schemas.openxmlformats.org/drawingml/2006/main">
            <a:srgbClr val="0E222C"/>
          </a:solidFill>
          <a:ln xmlns:a="http://schemas.openxmlformats.org/drawingml/2006/main" w="14288">
            <a:solidFill>
              <a:srgbClr val="28404A"/>
            </a:solidFill>
            <a:prstDash val="solid"/>
          </a:ln>
        </p:spPr>
      </p:sp>
      <p:sp>
        <p:nvSpPr>
          <p:cNvPr id="36" name="">
            <a:extLst xmlns:a="http://schemas.openxmlformats.org/drawingml/2006/main">
              <a:ext uri="{FF2B5EF4-FFF2-40B4-BE49-F238E27FC236}">
                <a16:creationId xmlns:a16="http://schemas.microsoft.com/office/drawing/2014/main" id="{18160B3F-D42C-428A-A047-7D267A1CC076}"/>
              </a:ext>
            </a:extLst>
          </p:cNvPr>
          <p:cNvSpPr>
            <a:spLocks xmlns:a="http://schemas.openxmlformats.org/drawingml/2006/main" noGrp="1"/>
          </p:cNvSpPr>
          <p:nvPr/>
        </p:nvSpPr>
        <p:spPr>
          <a:xfrm xmlns:a="http://schemas.openxmlformats.org/drawingml/2006/main">
            <a:off x="742950" y="2933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01</a:t>
            </a:r>
          </a:p>
        </p:txBody>
      </p:sp>
      <p:sp>
        <p:nvSpPr>
          <p:cNvPr id="37" name="">
            <a:extLst xmlns:a="http://schemas.openxmlformats.org/drawingml/2006/main">
              <a:ext uri="{FF2B5EF4-FFF2-40B4-BE49-F238E27FC236}">
                <a16:creationId xmlns:a16="http://schemas.microsoft.com/office/drawing/2014/main" id="{68712976-C64D-4018-8E49-83E4F83C661B}"/>
              </a:ext>
            </a:extLst>
          </p:cNvPr>
          <p:cNvSpPr>
            <a:spLocks xmlns:a="http://schemas.openxmlformats.org/drawingml/2006/main" noGrp="1"/>
          </p:cNvSpPr>
          <p:nvPr/>
        </p:nvSpPr>
        <p:spPr>
          <a:xfrm xmlns:a="http://schemas.openxmlformats.org/drawingml/2006/main">
            <a:off x="742950" y="3276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AUTHORIZATION</a:t>
            </a:r>
          </a:p>
        </p:txBody>
      </p:sp>
      <p:sp>
        <p:nvSpPr>
          <p:cNvPr id="38" name="">
            <a:extLst xmlns:a="http://schemas.openxmlformats.org/drawingml/2006/main">
              <a:ext uri="{FF2B5EF4-FFF2-40B4-BE49-F238E27FC236}">
                <a16:creationId xmlns:a16="http://schemas.microsoft.com/office/drawing/2014/main" id="{D0E3F77B-4DB0-460A-86B6-76A1B78BEE65}"/>
              </a:ext>
            </a:extLst>
          </p:cNvPr>
          <p:cNvSpPr>
            <a:spLocks xmlns:a="http://schemas.openxmlformats.org/drawingml/2006/main" noGrp="1"/>
          </p:cNvSpPr>
          <p:nvPr/>
        </p:nvSpPr>
        <p:spPr>
          <a:xfrm xmlns:a="http://schemas.openxmlformats.org/drawingml/2006/main">
            <a:off x="742950" y="37814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AA8AE"/>
                </a:solidFill>
                <a:latin typeface="Avenir Next"/>
                <a:ea typeface="Avenir Next"/>
                <a:cs typeface="Avenir Next"/>
              </a:defRPr>
            </a:pPr>
            <a:r>
              <a:rPr sz="825" b="0">
                <a:solidFill>
                  <a:srgbClr val="9AA8AE"/>
                </a:solidFill>
                <a:latin typeface="Avenir Next"/>
                <a:ea typeface="Avenir Next"/>
                <a:cs typeface="Avenir Next"/>
              </a:rPr>
              <a:t>payer evidence</a:t>
            </a:r>
          </a:p>
        </p:txBody>
      </p:sp>
      <p:sp>
        <p:nvSpPr>
          <p:cNvPr id="39" name="">
            <a:extLst xmlns:a="http://schemas.openxmlformats.org/drawingml/2006/main">
              <a:ext uri="{FF2B5EF4-FFF2-40B4-BE49-F238E27FC236}">
                <a16:creationId xmlns:a16="http://schemas.microsoft.com/office/drawing/2014/main" id="{CA367908-FC4A-4164-9867-6D2CAE579110}"/>
              </a:ext>
            </a:extLst>
          </p:cNvPr>
          <p:cNvSpPr>
            <a:spLocks xmlns:a="http://schemas.openxmlformats.org/drawingml/2006/main" noGrp="1"/>
          </p:cNvSpPr>
          <p:nvPr/>
        </p:nvSpPr>
        <p:spPr>
          <a:xfrm xmlns:a="http://schemas.openxmlformats.org/drawingml/2006/main">
            <a:off x="2247900" y="3409950"/>
            <a:ext cx="6096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0" name="">
            <a:extLst xmlns:a="http://schemas.openxmlformats.org/drawingml/2006/main">
              <a:ext uri="{FF2B5EF4-FFF2-40B4-BE49-F238E27FC236}">
                <a16:creationId xmlns:a16="http://schemas.microsoft.com/office/drawing/2014/main" id="{08849E7F-D712-48C3-892E-1123F6A2FDEE}"/>
              </a:ext>
            </a:extLst>
          </p:cNvPr>
          <p:cNvSpPr>
            <a:spLocks xmlns:a="http://schemas.openxmlformats.org/drawingml/2006/main" noGrp="1"/>
          </p:cNvSpPr>
          <p:nvPr/>
        </p:nvSpPr>
        <p:spPr>
          <a:xfrm xmlns:a="http://schemas.openxmlformats.org/drawingml/2006/main">
            <a:off x="2486025" y="3324225"/>
            <a:ext cx="171450" cy="171450"/>
          </a:xfrm>
          <a:prstGeom xmlns:a="http://schemas.openxmlformats.org/drawingml/2006/main" prst="ellipse">
            <a:avLst/>
          </a:prstGeom>
          <a:solidFill xmlns:a="http://schemas.openxmlformats.org/drawingml/2006/main">
            <a:srgbClr val="FF7487"/>
          </a:solidFill>
          <a:ln xmlns:a="http://schemas.openxmlformats.org/drawingml/2006/main" w="38100">
            <a:solidFill>
              <a:srgbClr val="07131C"/>
            </a:solidFill>
            <a:prstDash val="solid"/>
          </a:ln>
        </p:spPr>
      </p:sp>
      <p:sp>
        <p:nvSpPr>
          <p:cNvPr id="41" name="">
            <a:extLst xmlns:a="http://schemas.openxmlformats.org/drawingml/2006/main">
              <a:ext uri="{FF2B5EF4-FFF2-40B4-BE49-F238E27FC236}">
                <a16:creationId xmlns:a16="http://schemas.microsoft.com/office/drawing/2014/main" id="{084285ED-2E75-47C5-AED7-8F8090278900}"/>
              </a:ext>
            </a:extLst>
          </p:cNvPr>
          <p:cNvSpPr>
            <a:spLocks xmlns:a="http://schemas.openxmlformats.org/drawingml/2006/main" noGrp="1"/>
          </p:cNvSpPr>
          <p:nvPr/>
        </p:nvSpPr>
        <p:spPr>
          <a:xfrm xmlns:a="http://schemas.openxmlformats.org/drawingml/2006/main">
            <a:off x="2857500" y="2781300"/>
            <a:ext cx="1676400" cy="1257300"/>
          </a:xfrm>
          <a:prstGeom xmlns:a="http://schemas.openxmlformats.org/drawingml/2006/main" prst="roundRect">
            <a:avLst>
              <a:gd name="adj" fmla="val 13636"/>
            </a:avLst>
          </a:prstGeom>
          <a:solidFill xmlns:a="http://schemas.openxmlformats.org/drawingml/2006/main">
            <a:srgbClr val="0E222C"/>
          </a:solidFill>
          <a:ln xmlns:a="http://schemas.openxmlformats.org/drawingml/2006/main" w="14288">
            <a:solidFill>
              <a:srgbClr val="28404A"/>
            </a:solidFill>
            <a:prstDash val="solid"/>
          </a:ln>
        </p:spPr>
      </p:sp>
      <p:sp>
        <p:nvSpPr>
          <p:cNvPr id="42" name="">
            <a:extLst xmlns:a="http://schemas.openxmlformats.org/drawingml/2006/main">
              <a:ext uri="{FF2B5EF4-FFF2-40B4-BE49-F238E27FC236}">
                <a16:creationId xmlns:a16="http://schemas.microsoft.com/office/drawing/2014/main" id="{6BEF6695-02A3-49AE-B4EE-01FD58852BBE}"/>
              </a:ext>
            </a:extLst>
          </p:cNvPr>
          <p:cNvSpPr>
            <a:spLocks xmlns:a="http://schemas.openxmlformats.org/drawingml/2006/main" noGrp="1"/>
          </p:cNvSpPr>
          <p:nvPr/>
        </p:nvSpPr>
        <p:spPr>
          <a:xfrm xmlns:a="http://schemas.openxmlformats.org/drawingml/2006/main">
            <a:off x="3028950" y="2933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02</a:t>
            </a:r>
          </a:p>
        </p:txBody>
      </p:sp>
      <p:sp>
        <p:nvSpPr>
          <p:cNvPr id="43" name="">
            <a:extLst xmlns:a="http://schemas.openxmlformats.org/drawingml/2006/main">
              <a:ext uri="{FF2B5EF4-FFF2-40B4-BE49-F238E27FC236}">
                <a16:creationId xmlns:a16="http://schemas.microsoft.com/office/drawing/2014/main" id="{E854DEEA-7A96-4E32-8D91-59D5BEE6AF5D}"/>
              </a:ext>
            </a:extLst>
          </p:cNvPr>
          <p:cNvSpPr>
            <a:spLocks xmlns:a="http://schemas.openxmlformats.org/drawingml/2006/main" noGrp="1"/>
          </p:cNvSpPr>
          <p:nvPr/>
        </p:nvSpPr>
        <p:spPr>
          <a:xfrm xmlns:a="http://schemas.openxmlformats.org/drawingml/2006/main">
            <a:off x="3028950" y="3276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PRE-OP</a:t>
            </a:r>
          </a:p>
        </p:txBody>
      </p:sp>
      <p:sp>
        <p:nvSpPr>
          <p:cNvPr id="44" name="">
            <a:extLst xmlns:a="http://schemas.openxmlformats.org/drawingml/2006/main">
              <a:ext uri="{FF2B5EF4-FFF2-40B4-BE49-F238E27FC236}">
                <a16:creationId xmlns:a16="http://schemas.microsoft.com/office/drawing/2014/main" id="{9CB0F7F1-6C2F-4F6B-8E9F-06750AA03C9A}"/>
              </a:ext>
            </a:extLst>
          </p:cNvPr>
          <p:cNvSpPr>
            <a:spLocks xmlns:a="http://schemas.openxmlformats.org/drawingml/2006/main" noGrp="1"/>
          </p:cNvSpPr>
          <p:nvPr/>
        </p:nvSpPr>
        <p:spPr>
          <a:xfrm xmlns:a="http://schemas.openxmlformats.org/drawingml/2006/main">
            <a:off x="3028950" y="37814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AA8AE"/>
                </a:solidFill>
                <a:latin typeface="Avenir Next"/>
                <a:ea typeface="Avenir Next"/>
                <a:cs typeface="Avenir Next"/>
              </a:defRPr>
            </a:pPr>
            <a:r>
              <a:rPr sz="825" b="0">
                <a:solidFill>
                  <a:srgbClr val="9AA8AE"/>
                </a:solidFill>
                <a:latin typeface="Avenir Next"/>
                <a:ea typeface="Avenir Next"/>
                <a:cs typeface="Avenir Next"/>
              </a:rPr>
              <a:t>labs + clearance</a:t>
            </a:r>
          </a:p>
        </p:txBody>
      </p:sp>
      <p:sp>
        <p:nvSpPr>
          <p:cNvPr id="45" name="">
            <a:extLst xmlns:a="http://schemas.openxmlformats.org/drawingml/2006/main">
              <a:ext uri="{FF2B5EF4-FFF2-40B4-BE49-F238E27FC236}">
                <a16:creationId xmlns:a16="http://schemas.microsoft.com/office/drawing/2014/main" id="{CD9B4676-9B82-40B0-AC84-B80407D5C29E}"/>
              </a:ext>
            </a:extLst>
          </p:cNvPr>
          <p:cNvSpPr>
            <a:spLocks xmlns:a="http://schemas.openxmlformats.org/drawingml/2006/main" noGrp="1"/>
          </p:cNvSpPr>
          <p:nvPr/>
        </p:nvSpPr>
        <p:spPr>
          <a:xfrm xmlns:a="http://schemas.openxmlformats.org/drawingml/2006/main">
            <a:off x="4533900" y="3409950"/>
            <a:ext cx="6096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6" name="">
            <a:extLst xmlns:a="http://schemas.openxmlformats.org/drawingml/2006/main">
              <a:ext uri="{FF2B5EF4-FFF2-40B4-BE49-F238E27FC236}">
                <a16:creationId xmlns:a16="http://schemas.microsoft.com/office/drawing/2014/main" id="{C6DE2A28-5F52-4BCB-850B-6E37D001F0F6}"/>
              </a:ext>
            </a:extLst>
          </p:cNvPr>
          <p:cNvSpPr>
            <a:spLocks xmlns:a="http://schemas.openxmlformats.org/drawingml/2006/main" noGrp="1"/>
          </p:cNvSpPr>
          <p:nvPr/>
        </p:nvSpPr>
        <p:spPr>
          <a:xfrm xmlns:a="http://schemas.openxmlformats.org/drawingml/2006/main">
            <a:off x="4772025" y="3324225"/>
            <a:ext cx="171450" cy="171450"/>
          </a:xfrm>
          <a:prstGeom xmlns:a="http://schemas.openxmlformats.org/drawingml/2006/main" prst="ellipse">
            <a:avLst/>
          </a:prstGeom>
          <a:solidFill xmlns:a="http://schemas.openxmlformats.org/drawingml/2006/main">
            <a:srgbClr val="F3C668"/>
          </a:solidFill>
          <a:ln xmlns:a="http://schemas.openxmlformats.org/drawingml/2006/main" w="38100">
            <a:solidFill>
              <a:srgbClr val="07131C"/>
            </a:solidFill>
            <a:prstDash val="solid"/>
          </a:ln>
        </p:spPr>
      </p:sp>
      <p:sp>
        <p:nvSpPr>
          <p:cNvPr id="47" name="">
            <a:extLst xmlns:a="http://schemas.openxmlformats.org/drawingml/2006/main">
              <a:ext uri="{FF2B5EF4-FFF2-40B4-BE49-F238E27FC236}">
                <a16:creationId xmlns:a16="http://schemas.microsoft.com/office/drawing/2014/main" id="{560DF312-9276-461E-ADB4-3E99CAC1F776}"/>
              </a:ext>
            </a:extLst>
          </p:cNvPr>
          <p:cNvSpPr>
            <a:spLocks xmlns:a="http://schemas.openxmlformats.org/drawingml/2006/main" noGrp="1"/>
          </p:cNvSpPr>
          <p:nvPr/>
        </p:nvSpPr>
        <p:spPr>
          <a:xfrm xmlns:a="http://schemas.openxmlformats.org/drawingml/2006/main">
            <a:off x="5143500" y="2781300"/>
            <a:ext cx="1676400" cy="1257300"/>
          </a:xfrm>
          <a:prstGeom xmlns:a="http://schemas.openxmlformats.org/drawingml/2006/main" prst="roundRect">
            <a:avLst>
              <a:gd name="adj" fmla="val 13636"/>
            </a:avLst>
          </a:prstGeom>
          <a:solidFill xmlns:a="http://schemas.openxmlformats.org/drawingml/2006/main">
            <a:srgbClr val="0E222C"/>
          </a:solidFill>
          <a:ln xmlns:a="http://schemas.openxmlformats.org/drawingml/2006/main" w="14288">
            <a:solidFill>
              <a:srgbClr val="28404A"/>
            </a:solidFill>
            <a:prstDash val="solid"/>
          </a:ln>
        </p:spPr>
      </p:sp>
      <p:sp>
        <p:nvSpPr>
          <p:cNvPr id="48" name="">
            <a:extLst xmlns:a="http://schemas.openxmlformats.org/drawingml/2006/main">
              <a:ext uri="{FF2B5EF4-FFF2-40B4-BE49-F238E27FC236}">
                <a16:creationId xmlns:a16="http://schemas.microsoft.com/office/drawing/2014/main" id="{93AF65D7-FE31-4D82-8F56-E30E38965D93}"/>
              </a:ext>
            </a:extLst>
          </p:cNvPr>
          <p:cNvSpPr>
            <a:spLocks xmlns:a="http://schemas.openxmlformats.org/drawingml/2006/main" noGrp="1"/>
          </p:cNvSpPr>
          <p:nvPr/>
        </p:nvSpPr>
        <p:spPr>
          <a:xfrm xmlns:a="http://schemas.openxmlformats.org/drawingml/2006/main">
            <a:off x="5314950" y="2933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03</a:t>
            </a:r>
          </a:p>
        </p:txBody>
      </p:sp>
      <p:sp>
        <p:nvSpPr>
          <p:cNvPr id="49" name="">
            <a:extLst xmlns:a="http://schemas.openxmlformats.org/drawingml/2006/main">
              <a:ext uri="{FF2B5EF4-FFF2-40B4-BE49-F238E27FC236}">
                <a16:creationId xmlns:a16="http://schemas.microsoft.com/office/drawing/2014/main" id="{E82A008E-A89D-41FF-9799-77E99C2C6F59}"/>
              </a:ext>
            </a:extLst>
          </p:cNvPr>
          <p:cNvSpPr>
            <a:spLocks xmlns:a="http://schemas.openxmlformats.org/drawingml/2006/main" noGrp="1"/>
          </p:cNvSpPr>
          <p:nvPr/>
        </p:nvSpPr>
        <p:spPr>
          <a:xfrm xmlns:a="http://schemas.openxmlformats.org/drawingml/2006/main">
            <a:off x="5314950" y="3276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STAFF +</a:t>
            </a:r>
          </a:p>
          <a:p xmlns:a="http://schemas.openxmlformats.org/drawingml/2006/main">
            <a:pPr algn="l">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INSTRUMENTS</a:t>
            </a:r>
          </a:p>
        </p:txBody>
      </p:sp>
      <p:sp>
        <p:nvSpPr>
          <p:cNvPr id="50" name="">
            <a:extLst xmlns:a="http://schemas.openxmlformats.org/drawingml/2006/main">
              <a:ext uri="{FF2B5EF4-FFF2-40B4-BE49-F238E27FC236}">
                <a16:creationId xmlns:a16="http://schemas.microsoft.com/office/drawing/2014/main" id="{C6AF114A-8E28-43C1-8C6C-1592F4F02DEB}"/>
              </a:ext>
            </a:extLst>
          </p:cNvPr>
          <p:cNvSpPr>
            <a:spLocks xmlns:a="http://schemas.openxmlformats.org/drawingml/2006/main" noGrp="1"/>
          </p:cNvSpPr>
          <p:nvPr/>
        </p:nvSpPr>
        <p:spPr>
          <a:xfrm xmlns:a="http://schemas.openxmlformats.org/drawingml/2006/main">
            <a:off x="5314950" y="37814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AA8AE"/>
                </a:solidFill>
                <a:latin typeface="Avenir Next"/>
                <a:ea typeface="Avenir Next"/>
                <a:cs typeface="Avenir Next"/>
              </a:defRPr>
            </a:pPr>
            <a:r>
              <a:rPr sz="825" b="0">
                <a:solidFill>
                  <a:srgbClr val="9AA8AE"/>
                </a:solidFill>
                <a:latin typeface="Avenir Next"/>
                <a:ea typeface="Avenir Next"/>
                <a:cs typeface="Avenir Next"/>
              </a:rPr>
              <a:t>credentials + trays</a:t>
            </a:r>
          </a:p>
        </p:txBody>
      </p:sp>
      <p:sp>
        <p:nvSpPr>
          <p:cNvPr id="51" name="">
            <a:extLst xmlns:a="http://schemas.openxmlformats.org/drawingml/2006/main">
              <a:ext uri="{FF2B5EF4-FFF2-40B4-BE49-F238E27FC236}">
                <a16:creationId xmlns:a16="http://schemas.microsoft.com/office/drawing/2014/main" id="{CC0A2785-0389-4218-95E3-1A50C88EA2F0}"/>
              </a:ext>
            </a:extLst>
          </p:cNvPr>
          <p:cNvSpPr>
            <a:spLocks xmlns:a="http://schemas.openxmlformats.org/drawingml/2006/main" noGrp="1"/>
          </p:cNvSpPr>
          <p:nvPr/>
        </p:nvSpPr>
        <p:spPr>
          <a:xfrm xmlns:a="http://schemas.openxmlformats.org/drawingml/2006/main">
            <a:off x="6819900" y="3409950"/>
            <a:ext cx="6096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52" name="">
            <a:extLst xmlns:a="http://schemas.openxmlformats.org/drawingml/2006/main">
              <a:ext uri="{FF2B5EF4-FFF2-40B4-BE49-F238E27FC236}">
                <a16:creationId xmlns:a16="http://schemas.microsoft.com/office/drawing/2014/main" id="{9D5D4F56-C3E3-499D-BD05-098D83A54884}"/>
              </a:ext>
            </a:extLst>
          </p:cNvPr>
          <p:cNvSpPr>
            <a:spLocks xmlns:a="http://schemas.openxmlformats.org/drawingml/2006/main" noGrp="1"/>
          </p:cNvSpPr>
          <p:nvPr/>
        </p:nvSpPr>
        <p:spPr>
          <a:xfrm xmlns:a="http://schemas.openxmlformats.org/drawingml/2006/main">
            <a:off x="7058025" y="3324225"/>
            <a:ext cx="171450" cy="171450"/>
          </a:xfrm>
          <a:prstGeom xmlns:a="http://schemas.openxmlformats.org/drawingml/2006/main" prst="ellipse">
            <a:avLst/>
          </a:prstGeom>
          <a:solidFill xmlns:a="http://schemas.openxmlformats.org/drawingml/2006/main">
            <a:srgbClr val="FF7487"/>
          </a:solidFill>
          <a:ln xmlns:a="http://schemas.openxmlformats.org/drawingml/2006/main" w="38100">
            <a:solidFill>
              <a:srgbClr val="07131C"/>
            </a:solidFill>
            <a:prstDash val="solid"/>
          </a:ln>
        </p:spPr>
      </p:sp>
      <p:sp>
        <p:nvSpPr>
          <p:cNvPr id="53" name="">
            <a:extLst xmlns:a="http://schemas.openxmlformats.org/drawingml/2006/main">
              <a:ext uri="{FF2B5EF4-FFF2-40B4-BE49-F238E27FC236}">
                <a16:creationId xmlns:a16="http://schemas.microsoft.com/office/drawing/2014/main" id="{31B117E9-1820-44FB-8A10-571B5474208E}"/>
              </a:ext>
            </a:extLst>
          </p:cNvPr>
          <p:cNvSpPr>
            <a:spLocks xmlns:a="http://schemas.openxmlformats.org/drawingml/2006/main" noGrp="1"/>
          </p:cNvSpPr>
          <p:nvPr/>
        </p:nvSpPr>
        <p:spPr>
          <a:xfrm xmlns:a="http://schemas.openxmlformats.org/drawingml/2006/main">
            <a:off x="7429500" y="2781300"/>
            <a:ext cx="1676400" cy="1257300"/>
          </a:xfrm>
          <a:prstGeom xmlns:a="http://schemas.openxmlformats.org/drawingml/2006/main" prst="roundRect">
            <a:avLst>
              <a:gd name="adj" fmla="val 13636"/>
            </a:avLst>
          </a:prstGeom>
          <a:solidFill xmlns:a="http://schemas.openxmlformats.org/drawingml/2006/main">
            <a:srgbClr val="0E222C"/>
          </a:solidFill>
          <a:ln xmlns:a="http://schemas.openxmlformats.org/drawingml/2006/main" w="14288">
            <a:solidFill>
              <a:srgbClr val="28404A"/>
            </a:solidFill>
            <a:prstDash val="solid"/>
          </a:ln>
        </p:spPr>
      </p:sp>
      <p:sp>
        <p:nvSpPr>
          <p:cNvPr id="54" name="">
            <a:extLst xmlns:a="http://schemas.openxmlformats.org/drawingml/2006/main">
              <a:ext uri="{FF2B5EF4-FFF2-40B4-BE49-F238E27FC236}">
                <a16:creationId xmlns:a16="http://schemas.microsoft.com/office/drawing/2014/main" id="{FF2D3E90-F800-4C66-8895-E242B9366558}"/>
              </a:ext>
            </a:extLst>
          </p:cNvPr>
          <p:cNvSpPr>
            <a:spLocks xmlns:a="http://schemas.openxmlformats.org/drawingml/2006/main" noGrp="1"/>
          </p:cNvSpPr>
          <p:nvPr/>
        </p:nvSpPr>
        <p:spPr>
          <a:xfrm xmlns:a="http://schemas.openxmlformats.org/drawingml/2006/main">
            <a:off x="7600950" y="2933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04</a:t>
            </a:r>
          </a:p>
        </p:txBody>
      </p:sp>
      <p:sp>
        <p:nvSpPr>
          <p:cNvPr id="55" name="">
            <a:extLst xmlns:a="http://schemas.openxmlformats.org/drawingml/2006/main">
              <a:ext uri="{FF2B5EF4-FFF2-40B4-BE49-F238E27FC236}">
                <a16:creationId xmlns:a16="http://schemas.microsoft.com/office/drawing/2014/main" id="{429D30F9-875A-49E2-8DE3-4E6BACA0DD5A}"/>
              </a:ext>
            </a:extLst>
          </p:cNvPr>
          <p:cNvSpPr>
            <a:spLocks xmlns:a="http://schemas.openxmlformats.org/drawingml/2006/main" noGrp="1"/>
          </p:cNvSpPr>
          <p:nvPr/>
        </p:nvSpPr>
        <p:spPr>
          <a:xfrm xmlns:a="http://schemas.openxmlformats.org/drawingml/2006/main">
            <a:off x="7600950" y="3276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BED</a:t>
            </a:r>
          </a:p>
        </p:txBody>
      </p:sp>
      <p:sp>
        <p:nvSpPr>
          <p:cNvPr id="56" name="">
            <a:extLst xmlns:a="http://schemas.openxmlformats.org/drawingml/2006/main">
              <a:ext uri="{FF2B5EF4-FFF2-40B4-BE49-F238E27FC236}">
                <a16:creationId xmlns:a16="http://schemas.microsoft.com/office/drawing/2014/main" id="{8E094D3A-60FF-4DAD-8979-EEA203352B59}"/>
              </a:ext>
            </a:extLst>
          </p:cNvPr>
          <p:cNvSpPr>
            <a:spLocks xmlns:a="http://schemas.openxmlformats.org/drawingml/2006/main" noGrp="1"/>
          </p:cNvSpPr>
          <p:nvPr/>
        </p:nvSpPr>
        <p:spPr>
          <a:xfrm xmlns:a="http://schemas.openxmlformats.org/drawingml/2006/main">
            <a:off x="7600950" y="37814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9AA8AE"/>
                </a:solidFill>
                <a:latin typeface="Avenir Next"/>
                <a:ea typeface="Avenir Next"/>
                <a:cs typeface="Avenir Next"/>
              </a:defRPr>
            </a:pPr>
            <a:r>
              <a:rPr sz="825" b="0">
                <a:solidFill>
                  <a:srgbClr val="9AA8AE"/>
                </a:solidFill>
                <a:latin typeface="Avenir Next"/>
                <a:ea typeface="Avenir Next"/>
                <a:cs typeface="Avenir Next"/>
              </a:rPr>
              <a:t>acuity + capacity</a:t>
            </a:r>
          </a:p>
        </p:txBody>
      </p:sp>
      <p:sp>
        <p:nvSpPr>
          <p:cNvPr id="57" name="">
            <a:extLst xmlns:a="http://schemas.openxmlformats.org/drawingml/2006/main">
              <a:ext uri="{FF2B5EF4-FFF2-40B4-BE49-F238E27FC236}">
                <a16:creationId xmlns:a16="http://schemas.microsoft.com/office/drawing/2014/main" id="{7F1BEF0B-67E6-4E13-B188-18A5091EC0AD}"/>
              </a:ext>
            </a:extLst>
          </p:cNvPr>
          <p:cNvSpPr>
            <a:spLocks xmlns:a="http://schemas.openxmlformats.org/drawingml/2006/main" noGrp="1"/>
          </p:cNvSpPr>
          <p:nvPr/>
        </p:nvSpPr>
        <p:spPr>
          <a:xfrm xmlns:a="http://schemas.openxmlformats.org/drawingml/2006/main">
            <a:off x="9105900" y="3409950"/>
            <a:ext cx="6096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58" name="">
            <a:extLst xmlns:a="http://schemas.openxmlformats.org/drawingml/2006/main">
              <a:ext uri="{FF2B5EF4-FFF2-40B4-BE49-F238E27FC236}">
                <a16:creationId xmlns:a16="http://schemas.microsoft.com/office/drawing/2014/main" id="{EB8A8257-36B8-4135-AC3C-A4ECC54EABB7}"/>
              </a:ext>
            </a:extLst>
          </p:cNvPr>
          <p:cNvSpPr>
            <a:spLocks xmlns:a="http://schemas.openxmlformats.org/drawingml/2006/main" noGrp="1"/>
          </p:cNvSpPr>
          <p:nvPr/>
        </p:nvSpPr>
        <p:spPr>
          <a:xfrm xmlns:a="http://schemas.openxmlformats.org/drawingml/2006/main">
            <a:off x="9344025" y="3324225"/>
            <a:ext cx="171450" cy="171450"/>
          </a:xfrm>
          <a:prstGeom xmlns:a="http://schemas.openxmlformats.org/drawingml/2006/main" prst="ellipse">
            <a:avLst/>
          </a:prstGeom>
          <a:solidFill xmlns:a="http://schemas.openxmlformats.org/drawingml/2006/main">
            <a:srgbClr val="FF7487"/>
          </a:solidFill>
          <a:ln xmlns:a="http://schemas.openxmlformats.org/drawingml/2006/main" w="38100">
            <a:solidFill>
              <a:srgbClr val="07131C"/>
            </a:solidFill>
            <a:prstDash val="solid"/>
          </a:ln>
        </p:spPr>
      </p:sp>
      <p:sp>
        <p:nvSpPr>
          <p:cNvPr id="59" name="">
            <a:extLst xmlns:a="http://schemas.openxmlformats.org/drawingml/2006/main">
              <a:ext uri="{FF2B5EF4-FFF2-40B4-BE49-F238E27FC236}">
                <a16:creationId xmlns:a16="http://schemas.microsoft.com/office/drawing/2014/main" id="{C4BDD88C-42D8-4F3F-8ACD-AB5DEC6B3622}"/>
              </a:ext>
            </a:extLst>
          </p:cNvPr>
          <p:cNvSpPr>
            <a:spLocks xmlns:a="http://schemas.openxmlformats.org/drawingml/2006/main" noGrp="1"/>
          </p:cNvSpPr>
          <p:nvPr/>
        </p:nvSpPr>
        <p:spPr>
          <a:xfrm xmlns:a="http://schemas.openxmlformats.org/drawingml/2006/main">
            <a:off x="9715500" y="2781300"/>
            <a:ext cx="1676400" cy="1257300"/>
          </a:xfrm>
          <a:prstGeom xmlns:a="http://schemas.openxmlformats.org/drawingml/2006/main" prst="roundRect">
            <a:avLst>
              <a:gd name="adj" fmla="val 13636"/>
            </a:avLst>
          </a:prstGeom>
          <a:solidFill xmlns:a="http://schemas.openxmlformats.org/drawingml/2006/main">
            <a:srgbClr val="83F3C9"/>
          </a:solidFill>
          <a:ln xmlns:a="http://schemas.openxmlformats.org/drawingml/2006/main" w="14288">
            <a:solidFill>
              <a:srgbClr val="83F3C9"/>
            </a:solidFill>
            <a:prstDash val="solid"/>
          </a:ln>
        </p:spPr>
      </p:sp>
      <p:sp>
        <p:nvSpPr>
          <p:cNvPr id="60" name="">
            <a:extLst xmlns:a="http://schemas.openxmlformats.org/drawingml/2006/main">
              <a:ext uri="{FF2B5EF4-FFF2-40B4-BE49-F238E27FC236}">
                <a16:creationId xmlns:a16="http://schemas.microsoft.com/office/drawing/2014/main" id="{5AB62A6B-A5B6-4E3F-917C-E123AA22121B}"/>
              </a:ext>
            </a:extLst>
          </p:cNvPr>
          <p:cNvSpPr>
            <a:spLocks xmlns:a="http://schemas.openxmlformats.org/drawingml/2006/main" noGrp="1"/>
          </p:cNvSpPr>
          <p:nvPr/>
        </p:nvSpPr>
        <p:spPr>
          <a:xfrm xmlns:a="http://schemas.openxmlformats.org/drawingml/2006/main">
            <a:off x="9886950" y="29337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B1720"/>
                </a:solidFill>
                <a:latin typeface="Avenir Next"/>
                <a:ea typeface="Avenir Next"/>
                <a:cs typeface="Avenir Next"/>
              </a:defRPr>
            </a:pPr>
            <a:r>
              <a:rPr sz="900" b="1">
                <a:solidFill>
                  <a:srgbClr val="0B1720"/>
                </a:solidFill>
                <a:latin typeface="Avenir Next"/>
                <a:ea typeface="Avenir Next"/>
                <a:cs typeface="Avenir Next"/>
              </a:rPr>
              <a:t>05</a:t>
            </a:r>
          </a:p>
        </p:txBody>
      </p:sp>
      <p:sp>
        <p:nvSpPr>
          <p:cNvPr id="61" name="">
            <a:extLst xmlns:a="http://schemas.openxmlformats.org/drawingml/2006/main">
              <a:ext uri="{FF2B5EF4-FFF2-40B4-BE49-F238E27FC236}">
                <a16:creationId xmlns:a16="http://schemas.microsoft.com/office/drawing/2014/main" id="{5927FA90-D707-4666-90E0-53F4CDC28711}"/>
              </a:ext>
            </a:extLst>
          </p:cNvPr>
          <p:cNvSpPr>
            <a:spLocks xmlns:a="http://schemas.openxmlformats.org/drawingml/2006/main" noGrp="1"/>
          </p:cNvSpPr>
          <p:nvPr/>
        </p:nvSpPr>
        <p:spPr>
          <a:xfrm xmlns:a="http://schemas.openxmlformats.org/drawingml/2006/main">
            <a:off x="9886950" y="32766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0B1720"/>
                </a:solidFill>
                <a:latin typeface="Avenir Next"/>
                <a:ea typeface="Avenir Next"/>
                <a:cs typeface="Avenir Next"/>
              </a:defRPr>
            </a:pPr>
            <a:r>
              <a:rPr sz="1125" b="1">
                <a:solidFill>
                  <a:srgbClr val="0B1720"/>
                </a:solidFill>
                <a:latin typeface="Avenir Next"/>
                <a:ea typeface="Avenir Next"/>
                <a:cs typeface="Avenir Next"/>
              </a:rPr>
              <a:t>INCISION</a:t>
            </a:r>
          </a:p>
        </p:txBody>
      </p:sp>
      <p:sp>
        <p:nvSpPr>
          <p:cNvPr id="62" name="">
            <a:extLst xmlns:a="http://schemas.openxmlformats.org/drawingml/2006/main">
              <a:ext uri="{FF2B5EF4-FFF2-40B4-BE49-F238E27FC236}">
                <a16:creationId xmlns:a16="http://schemas.microsoft.com/office/drawing/2014/main" id="{F31DA9C0-678A-4367-BAA5-0EED4A00FB3F}"/>
              </a:ext>
            </a:extLst>
          </p:cNvPr>
          <p:cNvSpPr>
            <a:spLocks xmlns:a="http://schemas.openxmlformats.org/drawingml/2006/main" noGrp="1"/>
          </p:cNvSpPr>
          <p:nvPr/>
        </p:nvSpPr>
        <p:spPr>
          <a:xfrm xmlns:a="http://schemas.openxmlformats.org/drawingml/2006/main">
            <a:off x="9886950" y="37814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247B63"/>
                </a:solidFill>
                <a:latin typeface="Avenir Next"/>
                <a:ea typeface="Avenir Next"/>
                <a:cs typeface="Avenir Next"/>
              </a:defRPr>
            </a:pPr>
            <a:r>
              <a:rPr sz="825" b="0">
                <a:solidFill>
                  <a:srgbClr val="247B63"/>
                </a:solidFill>
                <a:latin typeface="Avenir Next"/>
                <a:ea typeface="Avenir Next"/>
                <a:cs typeface="Avenir Next"/>
              </a:rPr>
              <a:t>ready case</a:t>
            </a:r>
          </a:p>
        </p:txBody>
      </p:sp>
      <p:sp>
        <p:nvSpPr>
          <p:cNvPr id="63" name="">
            <a:extLst xmlns:a="http://schemas.openxmlformats.org/drawingml/2006/main">
              <a:ext uri="{FF2B5EF4-FFF2-40B4-BE49-F238E27FC236}">
                <a16:creationId xmlns:a16="http://schemas.microsoft.com/office/drawing/2014/main" id="{FA2D77F2-2BE1-4497-B738-30C52387D87D}"/>
              </a:ext>
            </a:extLst>
          </p:cNvPr>
          <p:cNvSpPr>
            <a:spLocks xmlns:a="http://schemas.openxmlformats.org/drawingml/2006/main" noGrp="1"/>
          </p:cNvSpPr>
          <p:nvPr/>
        </p:nvSpPr>
        <p:spPr>
          <a:xfrm xmlns:a="http://schemas.openxmlformats.org/drawingml/2006/main">
            <a:off x="609600" y="50101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7F8F5"/>
                </a:solidFill>
                <a:latin typeface="Avenir Next"/>
                <a:ea typeface="Avenir Next"/>
                <a:cs typeface="Avenir Next"/>
              </a:defRPr>
            </a:pPr>
            <a:r>
              <a:rPr sz="1650" b="0">
                <a:solidFill>
                  <a:srgbClr val="F7F8F5"/>
                </a:solidFill>
                <a:latin typeface="Avenir Next"/>
                <a:ea typeface="Avenir Next"/>
                <a:cs typeface="Avenir Next"/>
              </a:rPr>
              <a:t>The bottleneck is not intelligence inside a system.</a:t>
            </a:r>
          </a:p>
        </p:txBody>
      </p:sp>
      <p:sp>
        <p:nvSpPr>
          <p:cNvPr id="64" name="">
            <a:extLst xmlns:a="http://schemas.openxmlformats.org/drawingml/2006/main">
              <a:ext uri="{FF2B5EF4-FFF2-40B4-BE49-F238E27FC236}">
                <a16:creationId xmlns:a16="http://schemas.microsoft.com/office/drawing/2014/main" id="{9B7C4977-06F9-4A7F-BB3E-38C6B6F80532}"/>
              </a:ext>
            </a:extLst>
          </p:cNvPr>
          <p:cNvSpPr>
            <a:spLocks xmlns:a="http://schemas.openxmlformats.org/drawingml/2006/main" noGrp="1"/>
          </p:cNvSpPr>
          <p:nvPr/>
        </p:nvSpPr>
        <p:spPr>
          <a:xfrm xmlns:a="http://schemas.openxmlformats.org/drawingml/2006/main">
            <a:off x="609600" y="539115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83F3C9"/>
                </a:solidFill>
                <a:latin typeface="Avenir Next"/>
                <a:ea typeface="Avenir Next"/>
                <a:cs typeface="Avenir Next"/>
              </a:defRPr>
            </a:pPr>
            <a:r>
              <a:rPr sz="2550" b="1">
                <a:solidFill>
                  <a:srgbClr val="83F3C9"/>
                </a:solidFill>
                <a:latin typeface="Avenir Next"/>
                <a:ea typeface="Avenir Next"/>
                <a:cs typeface="Avenir Next"/>
              </a:rPr>
              <a:t>It is accountability across systems.</a:t>
            </a:r>
          </a:p>
        </p:txBody>
      </p:sp>
      <p:sp>
        <p:nvSpPr>
          <p:cNvPr id="65" name="">
            <a:extLst xmlns:a="http://schemas.openxmlformats.org/drawingml/2006/main">
              <a:ext uri="{FF2B5EF4-FFF2-40B4-BE49-F238E27FC236}">
                <a16:creationId xmlns:a16="http://schemas.microsoft.com/office/drawing/2014/main" id="{6DA4EF5E-729D-451A-8D86-96A099544D96}"/>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03</a:t>
            </a:r>
          </a:p>
        </p:txBody>
      </p:sp>
    </p:spTree>
    <p:extLst>
      <p:ext uri="{BB962C8B-B14F-4D97-AF65-F5344CB8AC3E}">
        <p14:creationId xmlns:p14="http://schemas.microsoft.com/office/powerpoint/2010/main" val="1245104661"/>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0F9889-55F2-4E08-8788-31989E41B2E5}"/>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6C2BF5-4D9D-4125-8527-642F70F7E5B7}"/>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THE TECHNOLOGY SHIFT</a:t>
            </a:r>
          </a:p>
        </p:txBody>
      </p:sp>
      <p:sp>
        <p:nvSpPr>
          <p:cNvPr id="3" name="">
            <a:extLst xmlns:a="http://schemas.openxmlformats.org/drawingml/2006/main">
              <a:ext uri="{FF2B5EF4-FFF2-40B4-BE49-F238E27FC236}">
                <a16:creationId xmlns:a16="http://schemas.microsoft.com/office/drawing/2014/main" id="{8D959D45-35FE-4E3A-8352-B8AC7A74059B}"/>
              </a:ext>
            </a:extLst>
          </p:cNvPr>
          <p:cNvSpPr>
            <a:spLocks xmlns:a="http://schemas.openxmlformats.org/drawingml/2006/main" noGrp="1"/>
          </p:cNvSpPr>
          <p:nvPr/>
        </p:nvSpPr>
        <p:spPr>
          <a:xfrm xmlns:a="http://schemas.openxmlformats.org/drawingml/2006/main">
            <a:off x="609600" y="8191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0B1720"/>
                </a:solidFill>
                <a:latin typeface="Avenir Next"/>
                <a:ea typeface="Avenir Next"/>
                <a:cs typeface="Avenir Next"/>
              </a:defRPr>
            </a:pPr>
            <a:r>
              <a:rPr sz="3300" b="1">
                <a:solidFill>
                  <a:srgbClr val="0B1720"/>
                </a:solidFill>
                <a:latin typeface="Avenir Next"/>
                <a:ea typeface="Avenir Next"/>
                <a:cs typeface="Avenir Next"/>
              </a:rPr>
              <a:t>The next value layer is execution.</a:t>
            </a:r>
          </a:p>
        </p:txBody>
      </p:sp>
      <p:sp>
        <p:nvSpPr>
          <p:cNvPr id="4" name="">
            <a:extLst xmlns:a="http://schemas.openxmlformats.org/drawingml/2006/main">
              <a:ext uri="{FF2B5EF4-FFF2-40B4-BE49-F238E27FC236}">
                <a16:creationId xmlns:a16="http://schemas.microsoft.com/office/drawing/2014/main" id="{E6D17B33-84CB-4310-8BF7-AEEE3F174B60}"/>
              </a:ext>
            </a:extLst>
          </p:cNvPr>
          <p:cNvSpPr>
            <a:spLocks xmlns:a="http://schemas.openxmlformats.org/drawingml/2006/main" noGrp="1"/>
          </p:cNvSpPr>
          <p:nvPr/>
        </p:nvSpPr>
        <p:spPr>
          <a:xfrm xmlns:a="http://schemas.openxmlformats.org/drawingml/2006/main">
            <a:off x="609600" y="1447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F7078"/>
                </a:solidFill>
                <a:latin typeface="Avenir Next"/>
                <a:ea typeface="Avenir Next"/>
                <a:cs typeface="Avenir Next"/>
              </a:defRPr>
            </a:pPr>
            <a:r>
              <a:rPr sz="1575" b="0">
                <a:solidFill>
                  <a:srgbClr val="5F7078"/>
                </a:solidFill>
                <a:latin typeface="Avenir Next"/>
                <a:ea typeface="Avenir Next"/>
                <a:cs typeface="Avenir Next"/>
              </a:rPr>
              <a:t>A dashboard predicts failure. A governed agent helps prevent it—and verifies what happened.</a:t>
            </a:r>
          </a:p>
        </p:txBody>
      </p:sp>
      <p:sp>
        <p:nvSpPr>
          <p:cNvPr id="5" name="">
            <a:extLst xmlns:a="http://schemas.openxmlformats.org/drawingml/2006/main">
              <a:ext uri="{FF2B5EF4-FFF2-40B4-BE49-F238E27FC236}">
                <a16:creationId xmlns:a16="http://schemas.microsoft.com/office/drawing/2014/main" id="{FF402D3D-B5A6-420B-939E-1DB339CC4C87}"/>
              </a:ext>
            </a:extLst>
          </p:cNvPr>
          <p:cNvSpPr>
            <a:spLocks xmlns:a="http://schemas.openxmlformats.org/drawingml/2006/main" noGrp="1"/>
          </p:cNvSpPr>
          <p:nvPr/>
        </p:nvSpPr>
        <p:spPr>
          <a:xfrm xmlns:a="http://schemas.openxmlformats.org/drawingml/2006/main">
            <a:off x="609600" y="2495550"/>
            <a:ext cx="2324100" cy="1981200"/>
          </a:xfrm>
          <a:prstGeom xmlns:a="http://schemas.openxmlformats.org/drawingml/2006/main" prst="roundRect">
            <a:avLst>
              <a:gd name="adj" fmla="val 9615"/>
            </a:avLst>
          </a:prstGeom>
          <a:solidFill xmlns:a="http://schemas.openxmlformats.org/drawingml/2006/main">
            <a:srgbClr val="D9DEDD"/>
          </a:solidFill>
          <a:ln xmlns:a="http://schemas.openxmlformats.org/drawingml/2006/main" w="0">
            <a:solidFill>
              <a:srgbClr val="D9DEDD"/>
            </a:solidFill>
            <a:prstDash val="solid"/>
          </a:ln>
        </p:spPr>
      </p:sp>
      <p:sp>
        <p:nvSpPr>
          <p:cNvPr id="6" name="">
            <a:extLst xmlns:a="http://schemas.openxmlformats.org/drawingml/2006/main">
              <a:ext uri="{FF2B5EF4-FFF2-40B4-BE49-F238E27FC236}">
                <a16:creationId xmlns:a16="http://schemas.microsoft.com/office/drawing/2014/main" id="{7DFB61B6-D6E0-496B-AA1E-859C4DC7593F}"/>
              </a:ext>
            </a:extLst>
          </p:cNvPr>
          <p:cNvSpPr>
            <a:spLocks xmlns:a="http://schemas.openxmlformats.org/drawingml/2006/main" noGrp="1"/>
          </p:cNvSpPr>
          <p:nvPr/>
        </p:nvSpPr>
        <p:spPr>
          <a:xfrm xmlns:a="http://schemas.openxmlformats.org/drawingml/2006/main">
            <a:off x="81915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0640123-419D-4B50-802F-530CBF195381}"/>
              </a:ext>
            </a:extLst>
          </p:cNvPr>
          <p:cNvSpPr>
            <a:spLocks xmlns:a="http://schemas.openxmlformats.org/drawingml/2006/main" noGrp="1"/>
          </p:cNvSpPr>
          <p:nvPr/>
        </p:nvSpPr>
        <p:spPr>
          <a:xfrm xmlns:a="http://schemas.openxmlformats.org/drawingml/2006/main">
            <a:off x="819150" y="31432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5F7078"/>
                </a:solidFill>
                <a:latin typeface="Avenir Next"/>
                <a:ea typeface="Avenir Next"/>
                <a:cs typeface="Avenir Next"/>
              </a:defRPr>
            </a:pPr>
            <a:r>
              <a:rPr sz="1650" b="1">
                <a:solidFill>
                  <a:srgbClr val="5F7078"/>
                </a:solidFill>
                <a:latin typeface="Avenir Next"/>
                <a:ea typeface="Avenir Next"/>
                <a:cs typeface="Avenir Next"/>
              </a:rPr>
              <a:t>RECORD</a:t>
            </a:r>
          </a:p>
        </p:txBody>
      </p:sp>
      <p:sp>
        <p:nvSpPr>
          <p:cNvPr id="8" name="">
            <a:extLst xmlns:a="http://schemas.openxmlformats.org/drawingml/2006/main">
              <a:ext uri="{FF2B5EF4-FFF2-40B4-BE49-F238E27FC236}">
                <a16:creationId xmlns:a16="http://schemas.microsoft.com/office/drawing/2014/main" id="{42368E83-9335-4660-B801-BE2D0C27D767}"/>
              </a:ext>
            </a:extLst>
          </p:cNvPr>
          <p:cNvSpPr>
            <a:spLocks xmlns:a="http://schemas.openxmlformats.org/drawingml/2006/main" noGrp="1"/>
          </p:cNvSpPr>
          <p:nvPr/>
        </p:nvSpPr>
        <p:spPr>
          <a:xfrm xmlns:a="http://schemas.openxmlformats.org/drawingml/2006/main">
            <a:off x="819150" y="369570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F7078"/>
                </a:solidFill>
                <a:latin typeface="Avenir Next"/>
                <a:ea typeface="Avenir Next"/>
                <a:cs typeface="Avenir Next"/>
              </a:defRPr>
            </a:pPr>
            <a:r>
              <a:rPr sz="1350" b="0">
                <a:solidFill>
                  <a:srgbClr val="5F7078"/>
                </a:solidFill>
                <a:latin typeface="Avenir Next"/>
                <a:ea typeface="Avenir Next"/>
                <a:cs typeface="Avenir Next"/>
              </a:rPr>
              <a:t>What happened?</a:t>
            </a:r>
          </a:p>
        </p:txBody>
      </p:sp>
      <p:sp>
        <p:nvSpPr>
          <p:cNvPr id="9" name="">
            <a:extLst xmlns:a="http://schemas.openxmlformats.org/drawingml/2006/main">
              <a:ext uri="{FF2B5EF4-FFF2-40B4-BE49-F238E27FC236}">
                <a16:creationId xmlns:a16="http://schemas.microsoft.com/office/drawing/2014/main" id="{A2889753-F01B-4A79-89F5-6A72D87138D1}"/>
              </a:ext>
            </a:extLst>
          </p:cNvPr>
          <p:cNvSpPr>
            <a:spLocks xmlns:a="http://schemas.openxmlformats.org/drawingml/2006/main" noGrp="1"/>
          </p:cNvSpPr>
          <p:nvPr/>
        </p:nvSpPr>
        <p:spPr>
          <a:xfrm xmlns:a="http://schemas.openxmlformats.org/drawingml/2006/main">
            <a:off x="2990850" y="3209925"/>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5F7078"/>
                </a:solidFill>
                <a:latin typeface="Avenir Next"/>
                <a:ea typeface="Avenir Next"/>
                <a:cs typeface="Avenir Next"/>
              </a:defRPr>
            </a:pPr>
            <a:r>
              <a:rPr sz="1800" b="1">
                <a:solidFill>
                  <a:srgbClr val="5F7078"/>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87AD923C-41D9-4D73-B1F9-56DE391D019F}"/>
              </a:ext>
            </a:extLst>
          </p:cNvPr>
          <p:cNvSpPr>
            <a:spLocks xmlns:a="http://schemas.openxmlformats.org/drawingml/2006/main" noGrp="1"/>
          </p:cNvSpPr>
          <p:nvPr/>
        </p:nvSpPr>
        <p:spPr>
          <a:xfrm xmlns:a="http://schemas.openxmlformats.org/drawingml/2006/main">
            <a:off x="3333750" y="2495550"/>
            <a:ext cx="2324100" cy="1981200"/>
          </a:xfrm>
          <a:prstGeom xmlns:a="http://schemas.openxmlformats.org/drawingml/2006/main" prst="roundRect">
            <a:avLst>
              <a:gd name="adj" fmla="val 9615"/>
            </a:avLst>
          </a:prstGeom>
          <a:solidFill xmlns:a="http://schemas.openxmlformats.org/drawingml/2006/main">
            <a:srgbClr val="CAD5D4"/>
          </a:solidFill>
          <a:ln xmlns:a="http://schemas.openxmlformats.org/drawingml/2006/main" w="0">
            <a:solidFill>
              <a:srgbClr val="CAD5D4"/>
            </a:solidFill>
            <a:prstDash val="solid"/>
          </a:ln>
        </p:spPr>
      </p:sp>
      <p:sp>
        <p:nvSpPr>
          <p:cNvPr id="11" name="">
            <a:extLst xmlns:a="http://schemas.openxmlformats.org/drawingml/2006/main">
              <a:ext uri="{FF2B5EF4-FFF2-40B4-BE49-F238E27FC236}">
                <a16:creationId xmlns:a16="http://schemas.microsoft.com/office/drawing/2014/main" id="{A13C0492-64C7-4E45-86CA-21297520107B}"/>
              </a:ext>
            </a:extLst>
          </p:cNvPr>
          <p:cNvSpPr>
            <a:spLocks xmlns:a="http://schemas.openxmlformats.org/drawingml/2006/main" noGrp="1"/>
          </p:cNvSpPr>
          <p:nvPr/>
        </p:nvSpPr>
        <p:spPr>
          <a:xfrm xmlns:a="http://schemas.openxmlformats.org/drawingml/2006/main">
            <a:off x="354330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8A0F7B8D-3362-4646-9BB1-3C5319812259}"/>
              </a:ext>
            </a:extLst>
          </p:cNvPr>
          <p:cNvSpPr>
            <a:spLocks xmlns:a="http://schemas.openxmlformats.org/drawingml/2006/main" noGrp="1"/>
          </p:cNvSpPr>
          <p:nvPr/>
        </p:nvSpPr>
        <p:spPr>
          <a:xfrm xmlns:a="http://schemas.openxmlformats.org/drawingml/2006/main">
            <a:off x="3543300" y="31432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5F7078"/>
                </a:solidFill>
                <a:latin typeface="Avenir Next"/>
                <a:ea typeface="Avenir Next"/>
                <a:cs typeface="Avenir Next"/>
              </a:defRPr>
            </a:pPr>
            <a:r>
              <a:rPr sz="1650" b="1">
                <a:solidFill>
                  <a:srgbClr val="5F7078"/>
                </a:solidFill>
                <a:latin typeface="Avenir Next"/>
                <a:ea typeface="Avenir Next"/>
                <a:cs typeface="Avenir Next"/>
              </a:rPr>
              <a:t>SEE</a:t>
            </a:r>
          </a:p>
        </p:txBody>
      </p:sp>
      <p:sp>
        <p:nvSpPr>
          <p:cNvPr id="13" name="">
            <a:extLst xmlns:a="http://schemas.openxmlformats.org/drawingml/2006/main">
              <a:ext uri="{FF2B5EF4-FFF2-40B4-BE49-F238E27FC236}">
                <a16:creationId xmlns:a16="http://schemas.microsoft.com/office/drawing/2014/main" id="{9DE2E2E2-E7E1-440B-B672-439930F45027}"/>
              </a:ext>
            </a:extLst>
          </p:cNvPr>
          <p:cNvSpPr>
            <a:spLocks xmlns:a="http://schemas.openxmlformats.org/drawingml/2006/main" noGrp="1"/>
          </p:cNvSpPr>
          <p:nvPr/>
        </p:nvSpPr>
        <p:spPr>
          <a:xfrm xmlns:a="http://schemas.openxmlformats.org/drawingml/2006/main">
            <a:off x="3543300" y="369570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F7078"/>
                </a:solidFill>
                <a:latin typeface="Avenir Next"/>
                <a:ea typeface="Avenir Next"/>
                <a:cs typeface="Avenir Next"/>
              </a:defRPr>
            </a:pPr>
            <a:r>
              <a:rPr sz="1350" b="0">
                <a:solidFill>
                  <a:srgbClr val="5F7078"/>
                </a:solidFill>
                <a:latin typeface="Avenir Next"/>
                <a:ea typeface="Avenir Next"/>
                <a:cs typeface="Avenir Next"/>
              </a:rPr>
              <a:t>What is happening?</a:t>
            </a:r>
          </a:p>
        </p:txBody>
      </p:sp>
      <p:sp>
        <p:nvSpPr>
          <p:cNvPr id="14" name="">
            <a:extLst xmlns:a="http://schemas.openxmlformats.org/drawingml/2006/main">
              <a:ext uri="{FF2B5EF4-FFF2-40B4-BE49-F238E27FC236}">
                <a16:creationId xmlns:a16="http://schemas.microsoft.com/office/drawing/2014/main" id="{D371FC33-E7F9-4E25-BD1E-989697F0A9F6}"/>
              </a:ext>
            </a:extLst>
          </p:cNvPr>
          <p:cNvSpPr>
            <a:spLocks xmlns:a="http://schemas.openxmlformats.org/drawingml/2006/main" noGrp="1"/>
          </p:cNvSpPr>
          <p:nvPr/>
        </p:nvSpPr>
        <p:spPr>
          <a:xfrm xmlns:a="http://schemas.openxmlformats.org/drawingml/2006/main">
            <a:off x="5715000" y="3209925"/>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5F7078"/>
                </a:solidFill>
                <a:latin typeface="Avenir Next"/>
                <a:ea typeface="Avenir Next"/>
                <a:cs typeface="Avenir Next"/>
              </a:defRPr>
            </a:pPr>
            <a:r>
              <a:rPr sz="1800" b="1">
                <a:solidFill>
                  <a:srgbClr val="5F7078"/>
                </a:solidFill>
                <a:latin typeface="Avenir Next"/>
                <a:ea typeface="Avenir Next"/>
                <a:cs typeface="Avenir Next"/>
              </a:rPr>
              <a:t>→</a:t>
            </a:r>
          </a:p>
        </p:txBody>
      </p:sp>
      <p:sp>
        <p:nvSpPr>
          <p:cNvPr id="15" name="">
            <a:extLst xmlns:a="http://schemas.openxmlformats.org/drawingml/2006/main">
              <a:ext uri="{FF2B5EF4-FFF2-40B4-BE49-F238E27FC236}">
                <a16:creationId xmlns:a16="http://schemas.microsoft.com/office/drawing/2014/main" id="{79147059-0EF9-4DB7-892F-E777B79F707F}"/>
              </a:ext>
            </a:extLst>
          </p:cNvPr>
          <p:cNvSpPr>
            <a:spLocks xmlns:a="http://schemas.openxmlformats.org/drawingml/2006/main" noGrp="1"/>
          </p:cNvSpPr>
          <p:nvPr/>
        </p:nvSpPr>
        <p:spPr>
          <a:xfrm xmlns:a="http://schemas.openxmlformats.org/drawingml/2006/main">
            <a:off x="6057900" y="2495550"/>
            <a:ext cx="2324100" cy="1981200"/>
          </a:xfrm>
          <a:prstGeom xmlns:a="http://schemas.openxmlformats.org/drawingml/2006/main" prst="roundRect">
            <a:avLst>
              <a:gd name="adj" fmla="val 9615"/>
            </a:avLst>
          </a:prstGeom>
          <a:solidFill xmlns:a="http://schemas.openxmlformats.org/drawingml/2006/main">
            <a:srgbClr val="B7C9C5"/>
          </a:solidFill>
          <a:ln xmlns:a="http://schemas.openxmlformats.org/drawingml/2006/main" w="0">
            <a:solidFill>
              <a:srgbClr val="B7C9C5"/>
            </a:solidFill>
            <a:prstDash val="solid"/>
          </a:ln>
        </p:spPr>
      </p:sp>
      <p:sp>
        <p:nvSpPr>
          <p:cNvPr id="16" name="">
            <a:extLst xmlns:a="http://schemas.openxmlformats.org/drawingml/2006/main">
              <a:ext uri="{FF2B5EF4-FFF2-40B4-BE49-F238E27FC236}">
                <a16:creationId xmlns:a16="http://schemas.microsoft.com/office/drawing/2014/main" id="{B3BF575F-15CF-4350-BAC9-3F5F73FB1030}"/>
              </a:ext>
            </a:extLst>
          </p:cNvPr>
          <p:cNvSpPr>
            <a:spLocks xmlns:a="http://schemas.openxmlformats.org/drawingml/2006/main" noGrp="1"/>
          </p:cNvSpPr>
          <p:nvPr/>
        </p:nvSpPr>
        <p:spPr>
          <a:xfrm xmlns:a="http://schemas.openxmlformats.org/drawingml/2006/main">
            <a:off x="626745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03</a:t>
            </a:r>
          </a:p>
        </p:txBody>
      </p:sp>
      <p:sp>
        <p:nvSpPr>
          <p:cNvPr id="17" name="">
            <a:extLst xmlns:a="http://schemas.openxmlformats.org/drawingml/2006/main">
              <a:ext uri="{FF2B5EF4-FFF2-40B4-BE49-F238E27FC236}">
                <a16:creationId xmlns:a16="http://schemas.microsoft.com/office/drawing/2014/main" id="{DDFEEF32-A3B7-4A75-A0F8-8A8FBF933F01}"/>
              </a:ext>
            </a:extLst>
          </p:cNvPr>
          <p:cNvSpPr>
            <a:spLocks xmlns:a="http://schemas.openxmlformats.org/drawingml/2006/main" noGrp="1"/>
          </p:cNvSpPr>
          <p:nvPr/>
        </p:nvSpPr>
        <p:spPr>
          <a:xfrm xmlns:a="http://schemas.openxmlformats.org/drawingml/2006/main">
            <a:off x="6267450" y="31432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PREDICT</a:t>
            </a:r>
          </a:p>
        </p:txBody>
      </p:sp>
      <p:sp>
        <p:nvSpPr>
          <p:cNvPr id="18" name="">
            <a:extLst xmlns:a="http://schemas.openxmlformats.org/drawingml/2006/main">
              <a:ext uri="{FF2B5EF4-FFF2-40B4-BE49-F238E27FC236}">
                <a16:creationId xmlns:a16="http://schemas.microsoft.com/office/drawing/2014/main" id="{C9FD35F4-DD9D-48ED-A2D8-C68F20678353}"/>
              </a:ext>
            </a:extLst>
          </p:cNvPr>
          <p:cNvSpPr>
            <a:spLocks xmlns:a="http://schemas.openxmlformats.org/drawingml/2006/main" noGrp="1"/>
          </p:cNvSpPr>
          <p:nvPr/>
        </p:nvSpPr>
        <p:spPr>
          <a:xfrm xmlns:a="http://schemas.openxmlformats.org/drawingml/2006/main">
            <a:off x="6267450" y="369570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F7078"/>
                </a:solidFill>
                <a:latin typeface="Avenir Next"/>
                <a:ea typeface="Avenir Next"/>
                <a:cs typeface="Avenir Next"/>
              </a:defRPr>
            </a:pPr>
            <a:r>
              <a:rPr sz="1350" b="0">
                <a:solidFill>
                  <a:srgbClr val="5F7078"/>
                </a:solidFill>
                <a:latin typeface="Avenir Next"/>
                <a:ea typeface="Avenir Next"/>
                <a:cs typeface="Avenir Next"/>
              </a:rPr>
              <a:t>What will happen?</a:t>
            </a:r>
          </a:p>
        </p:txBody>
      </p:sp>
      <p:sp>
        <p:nvSpPr>
          <p:cNvPr id="19" name="">
            <a:extLst xmlns:a="http://schemas.openxmlformats.org/drawingml/2006/main">
              <a:ext uri="{FF2B5EF4-FFF2-40B4-BE49-F238E27FC236}">
                <a16:creationId xmlns:a16="http://schemas.microsoft.com/office/drawing/2014/main" id="{89DAA40F-9856-4B36-90F9-4D67599E56FF}"/>
              </a:ext>
            </a:extLst>
          </p:cNvPr>
          <p:cNvSpPr>
            <a:spLocks xmlns:a="http://schemas.openxmlformats.org/drawingml/2006/main" noGrp="1"/>
          </p:cNvSpPr>
          <p:nvPr/>
        </p:nvSpPr>
        <p:spPr>
          <a:xfrm xmlns:a="http://schemas.openxmlformats.org/drawingml/2006/main">
            <a:off x="8439150" y="3209925"/>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5F7078"/>
                </a:solidFill>
                <a:latin typeface="Avenir Next"/>
                <a:ea typeface="Avenir Next"/>
                <a:cs typeface="Avenir Next"/>
              </a:defRPr>
            </a:pPr>
            <a:r>
              <a:rPr sz="1800" b="1">
                <a:solidFill>
                  <a:srgbClr val="5F7078"/>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FC8C4DCC-B3A1-4488-9843-C68BDFF7EED0}"/>
              </a:ext>
            </a:extLst>
          </p:cNvPr>
          <p:cNvSpPr>
            <a:spLocks xmlns:a="http://schemas.openxmlformats.org/drawingml/2006/main" noGrp="1"/>
          </p:cNvSpPr>
          <p:nvPr/>
        </p:nvSpPr>
        <p:spPr>
          <a:xfrm xmlns:a="http://schemas.openxmlformats.org/drawingml/2006/main">
            <a:off x="8782050" y="2495550"/>
            <a:ext cx="2324100" cy="1981200"/>
          </a:xfrm>
          <a:prstGeom xmlns:a="http://schemas.openxmlformats.org/drawingml/2006/main" prst="roundRect">
            <a:avLst>
              <a:gd name="adj" fmla="val 9615"/>
            </a:avLst>
          </a:prstGeom>
          <a:solidFill xmlns:a="http://schemas.openxmlformats.org/drawingml/2006/main">
            <a:srgbClr val="0B1720"/>
          </a:solidFill>
          <a:ln xmlns:a="http://schemas.openxmlformats.org/drawingml/2006/main" w="0">
            <a:solidFill>
              <a:srgbClr val="0B1720"/>
            </a:solidFill>
            <a:prstDash val="solid"/>
          </a:ln>
        </p:spPr>
      </p:sp>
      <p:sp>
        <p:nvSpPr>
          <p:cNvPr id="21" name="">
            <a:extLst xmlns:a="http://schemas.openxmlformats.org/drawingml/2006/main">
              <a:ext uri="{FF2B5EF4-FFF2-40B4-BE49-F238E27FC236}">
                <a16:creationId xmlns:a16="http://schemas.microsoft.com/office/drawing/2014/main" id="{BD6A4FE2-C5A4-4910-BCDA-299C5DF4DDC3}"/>
              </a:ext>
            </a:extLst>
          </p:cNvPr>
          <p:cNvSpPr>
            <a:spLocks xmlns:a="http://schemas.openxmlformats.org/drawingml/2006/main" noGrp="1"/>
          </p:cNvSpPr>
          <p:nvPr/>
        </p:nvSpPr>
        <p:spPr>
          <a:xfrm xmlns:a="http://schemas.openxmlformats.org/drawingml/2006/main">
            <a:off x="899160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04</a:t>
            </a:r>
          </a:p>
        </p:txBody>
      </p:sp>
      <p:sp>
        <p:nvSpPr>
          <p:cNvPr id="22" name="">
            <a:extLst xmlns:a="http://schemas.openxmlformats.org/drawingml/2006/main">
              <a:ext uri="{FF2B5EF4-FFF2-40B4-BE49-F238E27FC236}">
                <a16:creationId xmlns:a16="http://schemas.microsoft.com/office/drawing/2014/main" id="{1B43EEC6-7A49-4A50-82FE-3E1F6CEE1C91}"/>
              </a:ext>
            </a:extLst>
          </p:cNvPr>
          <p:cNvSpPr>
            <a:spLocks xmlns:a="http://schemas.openxmlformats.org/drawingml/2006/main" noGrp="1"/>
          </p:cNvSpPr>
          <p:nvPr/>
        </p:nvSpPr>
        <p:spPr>
          <a:xfrm xmlns:a="http://schemas.openxmlformats.org/drawingml/2006/main">
            <a:off x="8991600" y="31432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7F8F5"/>
                </a:solidFill>
                <a:latin typeface="Avenir Next"/>
                <a:ea typeface="Avenir Next"/>
                <a:cs typeface="Avenir Next"/>
              </a:defRPr>
            </a:pPr>
            <a:r>
              <a:rPr sz="1650" b="1">
                <a:solidFill>
                  <a:srgbClr val="F7F8F5"/>
                </a:solidFill>
                <a:latin typeface="Avenir Next"/>
                <a:ea typeface="Avenir Next"/>
                <a:cs typeface="Avenir Next"/>
              </a:rPr>
              <a:t>COORDINATE</a:t>
            </a:r>
          </a:p>
        </p:txBody>
      </p:sp>
      <p:sp>
        <p:nvSpPr>
          <p:cNvPr id="23" name="">
            <a:extLst xmlns:a="http://schemas.openxmlformats.org/drawingml/2006/main">
              <a:ext uri="{FF2B5EF4-FFF2-40B4-BE49-F238E27FC236}">
                <a16:creationId xmlns:a16="http://schemas.microsoft.com/office/drawing/2014/main" id="{ECF06608-70FB-4D11-A091-01A4BB05ABAB}"/>
              </a:ext>
            </a:extLst>
          </p:cNvPr>
          <p:cNvSpPr>
            <a:spLocks xmlns:a="http://schemas.openxmlformats.org/drawingml/2006/main" noGrp="1"/>
          </p:cNvSpPr>
          <p:nvPr/>
        </p:nvSpPr>
        <p:spPr>
          <a:xfrm xmlns:a="http://schemas.openxmlformats.org/drawingml/2006/main">
            <a:off x="8991600" y="369570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C4D2D5"/>
                </a:solidFill>
                <a:latin typeface="Avenir Next"/>
                <a:ea typeface="Avenir Next"/>
                <a:cs typeface="Avenir Next"/>
              </a:defRPr>
            </a:pPr>
            <a:r>
              <a:rPr sz="1350" b="0">
                <a:solidFill>
                  <a:srgbClr val="C4D2D5"/>
                </a:solidFill>
                <a:latin typeface="Avenir Next"/>
                <a:ea typeface="Avenir Next"/>
                <a:cs typeface="Avenir Next"/>
              </a:rPr>
              <a:t>What should happen next?</a:t>
            </a:r>
          </a:p>
        </p:txBody>
      </p:sp>
      <p:sp>
        <p:nvSpPr>
          <p:cNvPr id="24" name="">
            <a:extLst xmlns:a="http://schemas.openxmlformats.org/drawingml/2006/main">
              <a:ext uri="{FF2B5EF4-FFF2-40B4-BE49-F238E27FC236}">
                <a16:creationId xmlns:a16="http://schemas.microsoft.com/office/drawing/2014/main" id="{D183668D-01FD-4C19-82EF-B6C8F80A12F2}"/>
              </a:ext>
            </a:extLst>
          </p:cNvPr>
          <p:cNvSpPr>
            <a:spLocks xmlns:a="http://schemas.openxmlformats.org/drawingml/2006/main" noGrp="1"/>
          </p:cNvSpPr>
          <p:nvPr/>
        </p:nvSpPr>
        <p:spPr>
          <a:xfrm xmlns:a="http://schemas.openxmlformats.org/drawingml/2006/main">
            <a:off x="6743700" y="50101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5F7078"/>
                </a:solidFill>
                <a:latin typeface="Avenir Next"/>
                <a:ea typeface="Avenir Next"/>
                <a:cs typeface="Avenir Next"/>
              </a:defRPr>
            </a:pPr>
            <a:r>
              <a:rPr sz="900" b="1">
                <a:solidFill>
                  <a:srgbClr val="5F7078"/>
                </a:solidFill>
                <a:latin typeface="Avenir Next"/>
                <a:ea typeface="Avenir Next"/>
                <a:cs typeface="Avenir Next"/>
              </a:rPr>
              <a:t>SENSE</a:t>
            </a:r>
          </a:p>
        </p:txBody>
      </p:sp>
      <p:sp>
        <p:nvSpPr>
          <p:cNvPr id="25" name="">
            <a:extLst xmlns:a="http://schemas.openxmlformats.org/drawingml/2006/main">
              <a:ext uri="{FF2B5EF4-FFF2-40B4-BE49-F238E27FC236}">
                <a16:creationId xmlns:a16="http://schemas.microsoft.com/office/drawing/2014/main" id="{2FD1CD45-EA4C-469D-8AE3-112D2DCC6A0D}"/>
              </a:ext>
            </a:extLst>
          </p:cNvPr>
          <p:cNvSpPr>
            <a:spLocks xmlns:a="http://schemas.openxmlformats.org/drawingml/2006/main" noGrp="1"/>
          </p:cNvSpPr>
          <p:nvPr/>
        </p:nvSpPr>
        <p:spPr>
          <a:xfrm xmlns:a="http://schemas.openxmlformats.org/drawingml/2006/main">
            <a:off x="7848600" y="50101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5F7078"/>
                </a:solidFill>
                <a:latin typeface="Avenir Next"/>
                <a:ea typeface="Avenir Next"/>
                <a:cs typeface="Avenir Next"/>
              </a:defRPr>
            </a:pPr>
            <a:r>
              <a:rPr sz="900" b="1">
                <a:solidFill>
                  <a:srgbClr val="5F7078"/>
                </a:solidFill>
                <a:latin typeface="Avenir Next"/>
                <a:ea typeface="Avenir Next"/>
                <a:cs typeface="Avenir Next"/>
              </a:rPr>
              <a:t>PLAN</a:t>
            </a:r>
          </a:p>
        </p:txBody>
      </p:sp>
      <p:sp>
        <p:nvSpPr>
          <p:cNvPr id="26" name="">
            <a:extLst xmlns:a="http://schemas.openxmlformats.org/drawingml/2006/main">
              <a:ext uri="{FF2B5EF4-FFF2-40B4-BE49-F238E27FC236}">
                <a16:creationId xmlns:a16="http://schemas.microsoft.com/office/drawing/2014/main" id="{CEA12A1A-DE2B-47FE-9C44-A25D6A508986}"/>
              </a:ext>
            </a:extLst>
          </p:cNvPr>
          <p:cNvSpPr>
            <a:spLocks xmlns:a="http://schemas.openxmlformats.org/drawingml/2006/main" noGrp="1"/>
          </p:cNvSpPr>
          <p:nvPr/>
        </p:nvSpPr>
        <p:spPr>
          <a:xfrm xmlns:a="http://schemas.openxmlformats.org/drawingml/2006/main">
            <a:off x="8953500" y="50101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5F7078"/>
                </a:solidFill>
                <a:latin typeface="Avenir Next"/>
                <a:ea typeface="Avenir Next"/>
                <a:cs typeface="Avenir Next"/>
              </a:defRPr>
            </a:pPr>
            <a:r>
              <a:rPr sz="900" b="1">
                <a:solidFill>
                  <a:srgbClr val="5F7078"/>
                </a:solidFill>
                <a:latin typeface="Avenir Next"/>
                <a:ea typeface="Avenir Next"/>
                <a:cs typeface="Avenir Next"/>
              </a:rPr>
              <a:t>ACT</a:t>
            </a:r>
          </a:p>
        </p:txBody>
      </p:sp>
      <p:sp>
        <p:nvSpPr>
          <p:cNvPr id="27" name="">
            <a:extLst xmlns:a="http://schemas.openxmlformats.org/drawingml/2006/main">
              <a:ext uri="{FF2B5EF4-FFF2-40B4-BE49-F238E27FC236}">
                <a16:creationId xmlns:a16="http://schemas.microsoft.com/office/drawing/2014/main" id="{A2356DE3-3CE2-4DB7-ADB6-4D18ED0C31CA}"/>
              </a:ext>
            </a:extLst>
          </p:cNvPr>
          <p:cNvSpPr>
            <a:spLocks xmlns:a="http://schemas.openxmlformats.org/drawingml/2006/main" noGrp="1"/>
          </p:cNvSpPr>
          <p:nvPr/>
        </p:nvSpPr>
        <p:spPr>
          <a:xfrm xmlns:a="http://schemas.openxmlformats.org/drawingml/2006/main">
            <a:off x="10058400" y="50101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VERIFY</a:t>
            </a:r>
          </a:p>
        </p:txBody>
      </p:sp>
      <p:sp>
        <p:nvSpPr>
          <p:cNvPr id="28" name="">
            <a:extLst xmlns:a="http://schemas.openxmlformats.org/drawingml/2006/main">
              <a:ext uri="{FF2B5EF4-FFF2-40B4-BE49-F238E27FC236}">
                <a16:creationId xmlns:a16="http://schemas.microsoft.com/office/drawing/2014/main" id="{E53B01BF-631D-49C5-99FF-F77E417412D7}"/>
              </a:ext>
            </a:extLst>
          </p:cNvPr>
          <p:cNvSpPr>
            <a:spLocks xmlns:a="http://schemas.openxmlformats.org/drawingml/2006/main" noGrp="1"/>
          </p:cNvSpPr>
          <p:nvPr/>
        </p:nvSpPr>
        <p:spPr>
          <a:xfrm xmlns:a="http://schemas.openxmlformats.org/drawingml/2006/main">
            <a:off x="6972300" y="5334000"/>
            <a:ext cx="3905250" cy="0"/>
          </a:xfrm>
          <a:prstGeom xmlns:a="http://schemas.openxmlformats.org/drawingml/2006/main" prst="line">
            <a:avLst/>
          </a:prstGeom>
          <a:noFill xmlns:a="http://schemas.openxmlformats.org/drawingml/2006/main"/>
          <a:ln xmlns:a="http://schemas.openxmlformats.org/drawingml/2006/main" w="28575">
            <a:solidFill>
              <a:srgbClr val="247B63"/>
            </a:solidFill>
            <a:prstDash val="solid"/>
          </a:ln>
        </p:spPr>
      </p:sp>
      <p:sp>
        <p:nvSpPr>
          <p:cNvPr id="29" name="">
            <a:extLst xmlns:a="http://schemas.openxmlformats.org/drawingml/2006/main">
              <a:ext uri="{FF2B5EF4-FFF2-40B4-BE49-F238E27FC236}">
                <a16:creationId xmlns:a16="http://schemas.microsoft.com/office/drawing/2014/main" id="{09356915-2948-4A1A-AF28-286A17159522}"/>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04</a:t>
            </a:r>
          </a:p>
        </p:txBody>
      </p:sp>
    </p:spTree>
    <p:extLst>
      <p:ext uri="{BB962C8B-B14F-4D97-AF65-F5344CB8AC3E}">
        <p14:creationId xmlns:p14="http://schemas.microsoft.com/office/powerpoint/2010/main" val="529948787"/>
      </p:ext>
    </p:extLst>
  </p:cSld>
</p:sld>
</file>

<file path=ppt/slides/slide5.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2A5CCF-C5CA-462B-92C6-9ACD5CCCAAD8}"/>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463FEEB5-9A6B-450F-AC20-189A20D31973}"/>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2C7AC7E4-A545-41A5-80F4-7DF7ECFC7DF6}"/>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F4BD59B6-0C4C-42BB-B9EB-A80AF6C740C1}"/>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6944C979-8488-49F6-8A6C-216A2568DEDB}"/>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BD33B72F-FA9B-457F-875E-AAA3E539D5AC}"/>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44881CB7-F088-4CC1-93F9-E500EB65FDF3}"/>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1C4FA197-74B1-4F1B-B6CB-35A1740C36A6}"/>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A51DDD18-B142-4BD8-8619-AD07AED34A91}"/>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F7B937D6-2E33-4CE7-B08D-B1990F942483}"/>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23D5D60E-BCA4-4475-9826-0D6A6D7F5A5D}"/>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35CAF049-F8FE-486A-86B9-28C3E0EB8DD9}"/>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3DC65544-282F-4FA2-9091-8E3E8731CF19}"/>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A6674DEB-8316-4C5C-AF4A-ACDFFCB8DF3A}"/>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B9AAD835-4A41-41A0-ADDF-5F8EB5F8012E}"/>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D12F2FE9-C8C1-487F-A3A4-689968FC8AAA}"/>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D2D8211F-C6FB-4CD0-BC97-492B9415C631}"/>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2492B77F-151E-4178-B366-46883945F11E}"/>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BF930740-44DB-4EAF-82B5-2E5645AAF9B5}"/>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D954A225-D6A4-48B6-AB29-3219C2ACD882}"/>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99BBFF57-D157-4BE6-8C52-3BA8E7ED0109}"/>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864F4087-C33E-4702-8B28-6D9968FE4A78}"/>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D0008AB3-C9C8-4245-9269-2680DCD161B2}"/>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E90EFD0C-576C-4368-80FA-F0B4D446A062}"/>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5DD6AFB9-709D-48A8-A848-CB5F6D095F40}"/>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AC3E23CB-F433-49C7-A147-2B98989AE71B}"/>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682EF678-71FC-4C13-894B-F698FCFC3621}"/>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51995C3B-AFD5-4744-B7E8-C1B5217BEDCB}"/>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A127C363-2337-4E5C-8DE1-57EBFA5FAAD7}"/>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5EA75AA4-9EB1-436A-A341-A411EC2F82B9}"/>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424BA2AF-02B8-47B5-A78E-9544653241DF}"/>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BBB5519-FA45-44EE-93EC-0D31693FD9D6}"/>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ENTERPRISE TRANSFORMATION MAP</a:t>
            </a:r>
          </a:p>
        </p:txBody>
      </p:sp>
      <p:sp>
        <p:nvSpPr>
          <p:cNvPr id="33" name="">
            <a:extLst xmlns:a="http://schemas.openxmlformats.org/drawingml/2006/main">
              <a:ext uri="{FF2B5EF4-FFF2-40B4-BE49-F238E27FC236}">
                <a16:creationId xmlns:a16="http://schemas.microsoft.com/office/drawing/2014/main" id="{A2C2E84B-6C3B-43D7-949C-8F591F9DC2FB}"/>
              </a:ext>
            </a:extLst>
          </p:cNvPr>
          <p:cNvSpPr>
            <a:spLocks xmlns:a="http://schemas.openxmlformats.org/drawingml/2006/main" noGrp="1"/>
          </p:cNvSpPr>
          <p:nvPr/>
        </p:nvSpPr>
        <p:spPr>
          <a:xfrm xmlns:a="http://schemas.openxmlformats.org/drawingml/2006/main">
            <a:off x="609600" y="781050"/>
            <a:ext cx="876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7F8F5"/>
                </a:solidFill>
                <a:latin typeface="Avenir Next"/>
                <a:ea typeface="Avenir Next"/>
                <a:cs typeface="Avenir Next"/>
              </a:defRPr>
            </a:pPr>
            <a:r>
              <a:rPr sz="3300" b="1">
                <a:solidFill>
                  <a:srgbClr val="F7F8F5"/>
                </a:solidFill>
                <a:latin typeface="Avenir Next"/>
                <a:ea typeface="Avenir Next"/>
                <a:cs typeface="Avenir Next"/>
              </a:rPr>
              <a:t>Six levers. One operating system.</a:t>
            </a:r>
          </a:p>
        </p:txBody>
      </p:sp>
      <p:sp>
        <p:nvSpPr>
          <p:cNvPr id="34" name="">
            <a:extLst xmlns:a="http://schemas.openxmlformats.org/drawingml/2006/main">
              <a:ext uri="{FF2B5EF4-FFF2-40B4-BE49-F238E27FC236}">
                <a16:creationId xmlns:a16="http://schemas.microsoft.com/office/drawing/2014/main" id="{82234C0C-F5E8-4D10-BFD4-EB8DD6089A8F}"/>
              </a:ext>
            </a:extLst>
          </p:cNvPr>
          <p:cNvSpPr>
            <a:spLocks xmlns:a="http://schemas.openxmlformats.org/drawingml/2006/main" noGrp="1"/>
          </p:cNvSpPr>
          <p:nvPr/>
        </p:nvSpPr>
        <p:spPr>
          <a:xfrm xmlns:a="http://schemas.openxmlformats.org/drawingml/2006/main">
            <a:off x="609600" y="1381125"/>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83F3C9"/>
                </a:solidFill>
                <a:latin typeface="Avenir Next"/>
                <a:ea typeface="Avenir Next"/>
                <a:cs typeface="Avenir Next"/>
              </a:defRPr>
            </a:pPr>
            <a:r>
              <a:rPr sz="1425" b="0">
                <a:solidFill>
                  <a:srgbClr val="83F3C9"/>
                </a:solidFill>
                <a:latin typeface="Avenir Next"/>
                <a:ea typeface="Avenir Next"/>
                <a:cs typeface="Avenir Next"/>
              </a:rPr>
              <a:t>The strategic mistake is funding six portfolios. The opportunity is connecting one system.</a:t>
            </a:r>
          </a:p>
        </p:txBody>
      </p:sp>
      <p:sp>
        <p:nvSpPr>
          <p:cNvPr id="35" name="">
            <a:extLst xmlns:a="http://schemas.openxmlformats.org/drawingml/2006/main">
              <a:ext uri="{FF2B5EF4-FFF2-40B4-BE49-F238E27FC236}">
                <a16:creationId xmlns:a16="http://schemas.microsoft.com/office/drawing/2014/main" id="{AED18A09-CFC5-4F71-A998-DB0253C995EE}"/>
              </a:ext>
            </a:extLst>
          </p:cNvPr>
          <p:cNvSpPr>
            <a:spLocks xmlns:a="http://schemas.openxmlformats.org/drawingml/2006/main" noGrp="1"/>
          </p:cNvSpPr>
          <p:nvPr/>
        </p:nvSpPr>
        <p:spPr>
          <a:xfrm xmlns:a="http://schemas.openxmlformats.org/drawingml/2006/main">
            <a:off x="609600"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7AA7FF"/>
            </a:solidFill>
            <a:prstDash val="solid"/>
          </a:ln>
        </p:spPr>
      </p:sp>
      <p:sp>
        <p:nvSpPr>
          <p:cNvPr id="36" name="">
            <a:extLst xmlns:a="http://schemas.openxmlformats.org/drawingml/2006/main">
              <a:ext uri="{FF2B5EF4-FFF2-40B4-BE49-F238E27FC236}">
                <a16:creationId xmlns:a16="http://schemas.microsoft.com/office/drawing/2014/main" id="{D28CD088-9506-4D1E-A916-5F6E9DFB1A19}"/>
              </a:ext>
            </a:extLst>
          </p:cNvPr>
          <p:cNvSpPr>
            <a:spLocks xmlns:a="http://schemas.openxmlformats.org/drawingml/2006/main" noGrp="1"/>
          </p:cNvSpPr>
          <p:nvPr/>
        </p:nvSpPr>
        <p:spPr>
          <a:xfrm xmlns:a="http://schemas.openxmlformats.org/drawingml/2006/main">
            <a:off x="609600"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7AA7FF"/>
                </a:solidFill>
                <a:latin typeface="Avenir Next"/>
                <a:ea typeface="Avenir Next"/>
                <a:cs typeface="Avenir Next"/>
              </a:defRPr>
            </a:pPr>
            <a:r>
              <a:rPr sz="975" b="1">
                <a:solidFill>
                  <a:srgbClr val="7AA7FF"/>
                </a:solidFill>
                <a:latin typeface="Avenir Next"/>
                <a:ea typeface="Avenir Next"/>
                <a:cs typeface="Avenir Next"/>
              </a:rPr>
              <a:t>DX</a:t>
            </a:r>
          </a:p>
        </p:txBody>
      </p:sp>
      <p:sp>
        <p:nvSpPr>
          <p:cNvPr id="37" name="">
            <a:extLst xmlns:a="http://schemas.openxmlformats.org/drawingml/2006/main">
              <a:ext uri="{FF2B5EF4-FFF2-40B4-BE49-F238E27FC236}">
                <a16:creationId xmlns:a16="http://schemas.microsoft.com/office/drawing/2014/main" id="{79FD5A71-A95A-45BC-832B-6EBE91B461AC}"/>
              </a:ext>
            </a:extLst>
          </p:cNvPr>
          <p:cNvSpPr>
            <a:spLocks xmlns:a="http://schemas.openxmlformats.org/drawingml/2006/main" noGrp="1"/>
          </p:cNvSpPr>
          <p:nvPr/>
        </p:nvSpPr>
        <p:spPr>
          <a:xfrm xmlns:a="http://schemas.openxmlformats.org/drawingml/2006/main">
            <a:off x="609600"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Clinical</a:t>
            </a:r>
          </a:p>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Diagnosis</a:t>
            </a:r>
          </a:p>
        </p:txBody>
      </p:sp>
      <p:sp>
        <p:nvSpPr>
          <p:cNvPr id="38" name="">
            <a:extLst xmlns:a="http://schemas.openxmlformats.org/drawingml/2006/main">
              <a:ext uri="{FF2B5EF4-FFF2-40B4-BE49-F238E27FC236}">
                <a16:creationId xmlns:a16="http://schemas.microsoft.com/office/drawing/2014/main" id="{C1578CBD-B3DF-4235-9348-C4978AFB8929}"/>
              </a:ext>
            </a:extLst>
          </p:cNvPr>
          <p:cNvSpPr>
            <a:spLocks xmlns:a="http://schemas.openxmlformats.org/drawingml/2006/main" noGrp="1"/>
          </p:cNvSpPr>
          <p:nvPr/>
        </p:nvSpPr>
        <p:spPr>
          <a:xfrm xmlns:a="http://schemas.openxmlformats.org/drawingml/2006/main">
            <a:off x="609600" y="3543300"/>
            <a:ext cx="1543050" cy="0"/>
          </a:xfrm>
          <a:prstGeom xmlns:a="http://schemas.openxmlformats.org/drawingml/2006/main" prst="line">
            <a:avLst/>
          </a:prstGeom>
          <a:noFill xmlns:a="http://schemas.openxmlformats.org/drawingml/2006/main"/>
          <a:ln xmlns:a="http://schemas.openxmlformats.org/drawingml/2006/main" w="28575">
            <a:solidFill>
              <a:srgbClr val="7AA7FF"/>
            </a:solidFill>
            <a:prstDash val="solid"/>
          </a:ln>
        </p:spPr>
      </p:sp>
      <p:sp>
        <p:nvSpPr>
          <p:cNvPr id="39" name="">
            <a:extLst xmlns:a="http://schemas.openxmlformats.org/drawingml/2006/main">
              <a:ext uri="{FF2B5EF4-FFF2-40B4-BE49-F238E27FC236}">
                <a16:creationId xmlns:a16="http://schemas.microsoft.com/office/drawing/2014/main" id="{63A3AE67-E43B-4473-A342-DFE109BA345B}"/>
              </a:ext>
            </a:extLst>
          </p:cNvPr>
          <p:cNvSpPr>
            <a:spLocks xmlns:a="http://schemas.openxmlformats.org/drawingml/2006/main" noGrp="1"/>
          </p:cNvSpPr>
          <p:nvPr/>
        </p:nvSpPr>
        <p:spPr>
          <a:xfrm xmlns:a="http://schemas.openxmlformats.org/drawingml/2006/main">
            <a:off x="2428875"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51DFE3"/>
            </a:solidFill>
            <a:prstDash val="solid"/>
          </a:ln>
        </p:spPr>
      </p:sp>
      <p:sp>
        <p:nvSpPr>
          <p:cNvPr id="40" name="">
            <a:extLst xmlns:a="http://schemas.openxmlformats.org/drawingml/2006/main">
              <a:ext uri="{FF2B5EF4-FFF2-40B4-BE49-F238E27FC236}">
                <a16:creationId xmlns:a16="http://schemas.microsoft.com/office/drawing/2014/main" id="{FBA0423F-E62F-4784-A651-31AD4CBEC3CB}"/>
              </a:ext>
            </a:extLst>
          </p:cNvPr>
          <p:cNvSpPr>
            <a:spLocks xmlns:a="http://schemas.openxmlformats.org/drawingml/2006/main" noGrp="1"/>
          </p:cNvSpPr>
          <p:nvPr/>
        </p:nvSpPr>
        <p:spPr>
          <a:xfrm xmlns:a="http://schemas.openxmlformats.org/drawingml/2006/main">
            <a:off x="2428875"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51DFE3"/>
                </a:solidFill>
                <a:latin typeface="Avenir Next"/>
                <a:ea typeface="Avenir Next"/>
                <a:cs typeface="Avenir Next"/>
              </a:defRPr>
            </a:pPr>
            <a:r>
              <a:rPr sz="975" b="1">
                <a:solidFill>
                  <a:srgbClr val="51DFE3"/>
                </a:solidFill>
                <a:latin typeface="Avenir Next"/>
                <a:ea typeface="Avenir Next"/>
                <a:cs typeface="Avenir Next"/>
              </a:rPr>
              <a:t>FD</a:t>
            </a:r>
          </a:p>
        </p:txBody>
      </p:sp>
      <p:sp>
        <p:nvSpPr>
          <p:cNvPr id="41" name="">
            <a:extLst xmlns:a="http://schemas.openxmlformats.org/drawingml/2006/main">
              <a:ext uri="{FF2B5EF4-FFF2-40B4-BE49-F238E27FC236}">
                <a16:creationId xmlns:a16="http://schemas.microsoft.com/office/drawing/2014/main" id="{463EA561-BC08-4FB4-8B0C-A0F0AE047FE5}"/>
              </a:ext>
            </a:extLst>
          </p:cNvPr>
          <p:cNvSpPr>
            <a:spLocks xmlns:a="http://schemas.openxmlformats.org/drawingml/2006/main" noGrp="1"/>
          </p:cNvSpPr>
          <p:nvPr/>
        </p:nvSpPr>
        <p:spPr>
          <a:xfrm xmlns:a="http://schemas.openxmlformats.org/drawingml/2006/main">
            <a:off x="2428875"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Digital</a:t>
            </a:r>
          </a:p>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Front Door</a:t>
            </a:r>
          </a:p>
        </p:txBody>
      </p:sp>
      <p:sp>
        <p:nvSpPr>
          <p:cNvPr id="42" name="">
            <a:extLst xmlns:a="http://schemas.openxmlformats.org/drawingml/2006/main">
              <a:ext uri="{FF2B5EF4-FFF2-40B4-BE49-F238E27FC236}">
                <a16:creationId xmlns:a16="http://schemas.microsoft.com/office/drawing/2014/main" id="{1EED45D1-B3B2-4FFF-99B8-FF9E66097187}"/>
              </a:ext>
            </a:extLst>
          </p:cNvPr>
          <p:cNvSpPr>
            <a:spLocks xmlns:a="http://schemas.openxmlformats.org/drawingml/2006/main" noGrp="1"/>
          </p:cNvSpPr>
          <p:nvPr/>
        </p:nvSpPr>
        <p:spPr>
          <a:xfrm xmlns:a="http://schemas.openxmlformats.org/drawingml/2006/main">
            <a:off x="2428875" y="3543300"/>
            <a:ext cx="1543050" cy="0"/>
          </a:xfrm>
          <a:prstGeom xmlns:a="http://schemas.openxmlformats.org/drawingml/2006/main" prst="line">
            <a:avLst/>
          </a:prstGeom>
          <a:noFill xmlns:a="http://schemas.openxmlformats.org/drawingml/2006/main"/>
          <a:ln xmlns:a="http://schemas.openxmlformats.org/drawingml/2006/main" w="28575">
            <a:solidFill>
              <a:srgbClr val="51DFE3"/>
            </a:solidFill>
            <a:prstDash val="solid"/>
          </a:ln>
        </p:spPr>
      </p:sp>
      <p:sp>
        <p:nvSpPr>
          <p:cNvPr id="43" name="">
            <a:extLst xmlns:a="http://schemas.openxmlformats.org/drawingml/2006/main">
              <a:ext uri="{FF2B5EF4-FFF2-40B4-BE49-F238E27FC236}">
                <a16:creationId xmlns:a16="http://schemas.microsoft.com/office/drawing/2014/main" id="{3E709795-9E8D-4819-9C48-1ADCD61115FF}"/>
              </a:ext>
            </a:extLst>
          </p:cNvPr>
          <p:cNvSpPr>
            <a:spLocks xmlns:a="http://schemas.openxmlformats.org/drawingml/2006/main" noGrp="1"/>
          </p:cNvSpPr>
          <p:nvPr/>
        </p:nvSpPr>
        <p:spPr>
          <a:xfrm xmlns:a="http://schemas.openxmlformats.org/drawingml/2006/main">
            <a:off x="4248150"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F3C668"/>
            </a:solidFill>
            <a:prstDash val="solid"/>
          </a:ln>
        </p:spPr>
      </p:sp>
      <p:sp>
        <p:nvSpPr>
          <p:cNvPr id="44" name="">
            <a:extLst xmlns:a="http://schemas.openxmlformats.org/drawingml/2006/main">
              <a:ext uri="{FF2B5EF4-FFF2-40B4-BE49-F238E27FC236}">
                <a16:creationId xmlns:a16="http://schemas.microsoft.com/office/drawing/2014/main" id="{6542A32E-E183-47B8-8822-BC7EE19038D8}"/>
              </a:ext>
            </a:extLst>
          </p:cNvPr>
          <p:cNvSpPr>
            <a:spLocks xmlns:a="http://schemas.openxmlformats.org/drawingml/2006/main" noGrp="1"/>
          </p:cNvSpPr>
          <p:nvPr/>
        </p:nvSpPr>
        <p:spPr>
          <a:xfrm xmlns:a="http://schemas.openxmlformats.org/drawingml/2006/main">
            <a:off x="4248150"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3C668"/>
                </a:solidFill>
                <a:latin typeface="Avenir Next"/>
                <a:ea typeface="Avenir Next"/>
                <a:cs typeface="Avenir Next"/>
              </a:defRPr>
            </a:pPr>
            <a:r>
              <a:rPr sz="975" b="1">
                <a:solidFill>
                  <a:srgbClr val="F3C668"/>
                </a:solidFill>
                <a:latin typeface="Avenir Next"/>
                <a:ea typeface="Avenir Next"/>
                <a:cs typeface="Avenir Next"/>
              </a:rPr>
              <a:t>RX</a:t>
            </a:r>
          </a:p>
        </p:txBody>
      </p:sp>
      <p:sp>
        <p:nvSpPr>
          <p:cNvPr id="45" name="">
            <a:extLst xmlns:a="http://schemas.openxmlformats.org/drawingml/2006/main">
              <a:ext uri="{FF2B5EF4-FFF2-40B4-BE49-F238E27FC236}">
                <a16:creationId xmlns:a16="http://schemas.microsoft.com/office/drawing/2014/main" id="{D9BA3AD5-5F35-4F54-82DE-3D941ACDA9E4}"/>
              </a:ext>
            </a:extLst>
          </p:cNvPr>
          <p:cNvSpPr>
            <a:spLocks xmlns:a="http://schemas.openxmlformats.org/drawingml/2006/main" noGrp="1"/>
          </p:cNvSpPr>
          <p:nvPr/>
        </p:nvSpPr>
        <p:spPr>
          <a:xfrm xmlns:a="http://schemas.openxmlformats.org/drawingml/2006/main">
            <a:off x="4248150"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Robotics</a:t>
            </a:r>
          </a:p>
        </p:txBody>
      </p:sp>
      <p:sp>
        <p:nvSpPr>
          <p:cNvPr id="46" name="">
            <a:extLst xmlns:a="http://schemas.openxmlformats.org/drawingml/2006/main">
              <a:ext uri="{FF2B5EF4-FFF2-40B4-BE49-F238E27FC236}">
                <a16:creationId xmlns:a16="http://schemas.microsoft.com/office/drawing/2014/main" id="{0A958450-F4A0-4D19-84BD-E9B50BF6BB8D}"/>
              </a:ext>
            </a:extLst>
          </p:cNvPr>
          <p:cNvSpPr>
            <a:spLocks xmlns:a="http://schemas.openxmlformats.org/drawingml/2006/main" noGrp="1"/>
          </p:cNvSpPr>
          <p:nvPr/>
        </p:nvSpPr>
        <p:spPr>
          <a:xfrm xmlns:a="http://schemas.openxmlformats.org/drawingml/2006/main">
            <a:off x="4248150" y="3543300"/>
            <a:ext cx="1543050" cy="0"/>
          </a:xfrm>
          <a:prstGeom xmlns:a="http://schemas.openxmlformats.org/drawingml/2006/main" prst="line">
            <a:avLst/>
          </a:prstGeom>
          <a:noFill xmlns:a="http://schemas.openxmlformats.org/drawingml/2006/main"/>
          <a:ln xmlns:a="http://schemas.openxmlformats.org/drawingml/2006/main" w="28575">
            <a:solidFill>
              <a:srgbClr val="F3C668"/>
            </a:solidFill>
            <a:prstDash val="solid"/>
          </a:ln>
        </p:spPr>
      </p:sp>
      <p:sp>
        <p:nvSpPr>
          <p:cNvPr id="47" name="">
            <a:extLst xmlns:a="http://schemas.openxmlformats.org/drawingml/2006/main">
              <a:ext uri="{FF2B5EF4-FFF2-40B4-BE49-F238E27FC236}">
                <a16:creationId xmlns:a16="http://schemas.microsoft.com/office/drawing/2014/main" id="{599835D6-706B-481D-A849-1554BAAECADB}"/>
              </a:ext>
            </a:extLst>
          </p:cNvPr>
          <p:cNvSpPr>
            <a:spLocks xmlns:a="http://schemas.openxmlformats.org/drawingml/2006/main" noGrp="1"/>
          </p:cNvSpPr>
          <p:nvPr/>
        </p:nvSpPr>
        <p:spPr>
          <a:xfrm xmlns:a="http://schemas.openxmlformats.org/drawingml/2006/main">
            <a:off x="6067425"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60D799"/>
            </a:solidFill>
            <a:prstDash val="solid"/>
          </a:ln>
        </p:spPr>
      </p:sp>
      <p:sp>
        <p:nvSpPr>
          <p:cNvPr id="48" name="">
            <a:extLst xmlns:a="http://schemas.openxmlformats.org/drawingml/2006/main">
              <a:ext uri="{FF2B5EF4-FFF2-40B4-BE49-F238E27FC236}">
                <a16:creationId xmlns:a16="http://schemas.microsoft.com/office/drawing/2014/main" id="{38A5E0EF-CB53-49D7-BE2C-E7635594D88E}"/>
              </a:ext>
            </a:extLst>
          </p:cNvPr>
          <p:cNvSpPr>
            <a:spLocks xmlns:a="http://schemas.openxmlformats.org/drawingml/2006/main" noGrp="1"/>
          </p:cNvSpPr>
          <p:nvPr/>
        </p:nvSpPr>
        <p:spPr>
          <a:xfrm xmlns:a="http://schemas.openxmlformats.org/drawingml/2006/main">
            <a:off x="6067425"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0D799"/>
                </a:solidFill>
                <a:latin typeface="Avenir Next"/>
                <a:ea typeface="Avenir Next"/>
                <a:cs typeface="Avenir Next"/>
              </a:defRPr>
            </a:pPr>
            <a:r>
              <a:rPr sz="975" b="1">
                <a:solidFill>
                  <a:srgbClr val="60D799"/>
                </a:solidFill>
                <a:latin typeface="Avenir Next"/>
                <a:ea typeface="Avenir Next"/>
                <a:cs typeface="Avenir Next"/>
              </a:rPr>
              <a:t>LC</a:t>
            </a:r>
          </a:p>
        </p:txBody>
      </p:sp>
      <p:sp>
        <p:nvSpPr>
          <p:cNvPr id="49" name="">
            <a:extLst xmlns:a="http://schemas.openxmlformats.org/drawingml/2006/main">
              <a:ext uri="{FF2B5EF4-FFF2-40B4-BE49-F238E27FC236}">
                <a16:creationId xmlns:a16="http://schemas.microsoft.com/office/drawing/2014/main" id="{CCB40C61-62C8-4850-B5F0-3620502CDC98}"/>
              </a:ext>
            </a:extLst>
          </p:cNvPr>
          <p:cNvSpPr>
            <a:spLocks xmlns:a="http://schemas.openxmlformats.org/drawingml/2006/main" noGrp="1"/>
          </p:cNvSpPr>
          <p:nvPr/>
        </p:nvSpPr>
        <p:spPr>
          <a:xfrm xmlns:a="http://schemas.openxmlformats.org/drawingml/2006/main">
            <a:off x="6067425"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Longitudinal</a:t>
            </a:r>
          </a:p>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Care</a:t>
            </a:r>
          </a:p>
        </p:txBody>
      </p:sp>
      <p:sp>
        <p:nvSpPr>
          <p:cNvPr id="50" name="">
            <a:extLst xmlns:a="http://schemas.openxmlformats.org/drawingml/2006/main">
              <a:ext uri="{FF2B5EF4-FFF2-40B4-BE49-F238E27FC236}">
                <a16:creationId xmlns:a16="http://schemas.microsoft.com/office/drawing/2014/main" id="{E54D99F7-59B2-4C1B-AD92-C61695C3051C}"/>
              </a:ext>
            </a:extLst>
          </p:cNvPr>
          <p:cNvSpPr>
            <a:spLocks xmlns:a="http://schemas.openxmlformats.org/drawingml/2006/main" noGrp="1"/>
          </p:cNvSpPr>
          <p:nvPr/>
        </p:nvSpPr>
        <p:spPr>
          <a:xfrm xmlns:a="http://schemas.openxmlformats.org/drawingml/2006/main">
            <a:off x="6067425" y="3543300"/>
            <a:ext cx="1543050" cy="0"/>
          </a:xfrm>
          <a:prstGeom xmlns:a="http://schemas.openxmlformats.org/drawingml/2006/main" prst="line">
            <a:avLst/>
          </a:prstGeom>
          <a:noFill xmlns:a="http://schemas.openxmlformats.org/drawingml/2006/main"/>
          <a:ln xmlns:a="http://schemas.openxmlformats.org/drawingml/2006/main" w="28575">
            <a:solidFill>
              <a:srgbClr val="60D799"/>
            </a:solidFill>
            <a:prstDash val="solid"/>
          </a:ln>
        </p:spPr>
      </p:sp>
      <p:sp>
        <p:nvSpPr>
          <p:cNvPr id="51" name="">
            <a:extLst xmlns:a="http://schemas.openxmlformats.org/drawingml/2006/main">
              <a:ext uri="{FF2B5EF4-FFF2-40B4-BE49-F238E27FC236}">
                <a16:creationId xmlns:a16="http://schemas.microsoft.com/office/drawing/2014/main" id="{09940A95-18D2-482F-BF4B-2D8A24468541}"/>
              </a:ext>
            </a:extLst>
          </p:cNvPr>
          <p:cNvSpPr>
            <a:spLocks xmlns:a="http://schemas.openxmlformats.org/drawingml/2006/main" noGrp="1"/>
          </p:cNvSpPr>
          <p:nvPr/>
        </p:nvSpPr>
        <p:spPr>
          <a:xfrm xmlns:a="http://schemas.openxmlformats.org/drawingml/2006/main">
            <a:off x="7886700"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AA91FF"/>
            </a:solidFill>
            <a:prstDash val="solid"/>
          </a:ln>
        </p:spPr>
      </p:sp>
      <p:sp>
        <p:nvSpPr>
          <p:cNvPr id="52" name="">
            <a:extLst xmlns:a="http://schemas.openxmlformats.org/drawingml/2006/main">
              <a:ext uri="{FF2B5EF4-FFF2-40B4-BE49-F238E27FC236}">
                <a16:creationId xmlns:a16="http://schemas.microsoft.com/office/drawing/2014/main" id="{A7866BE2-B9D4-4E12-ADFC-08C4D1DAF1BA}"/>
              </a:ext>
            </a:extLst>
          </p:cNvPr>
          <p:cNvSpPr>
            <a:spLocks xmlns:a="http://schemas.openxmlformats.org/drawingml/2006/main" noGrp="1"/>
          </p:cNvSpPr>
          <p:nvPr/>
        </p:nvSpPr>
        <p:spPr>
          <a:xfrm xmlns:a="http://schemas.openxmlformats.org/drawingml/2006/main">
            <a:off x="7886700"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A91FF"/>
                </a:solidFill>
                <a:latin typeface="Avenir Next"/>
                <a:ea typeface="Avenir Next"/>
                <a:cs typeface="Avenir Next"/>
              </a:defRPr>
            </a:pPr>
            <a:r>
              <a:rPr sz="975" b="1">
                <a:solidFill>
                  <a:srgbClr val="AA91FF"/>
                </a:solidFill>
                <a:latin typeface="Avenir Next"/>
                <a:ea typeface="Avenir Next"/>
                <a:cs typeface="Avenir Next"/>
              </a:rPr>
              <a:t>TA</a:t>
            </a:r>
          </a:p>
        </p:txBody>
      </p:sp>
      <p:sp>
        <p:nvSpPr>
          <p:cNvPr id="53" name="">
            <a:extLst xmlns:a="http://schemas.openxmlformats.org/drawingml/2006/main">
              <a:ext uri="{FF2B5EF4-FFF2-40B4-BE49-F238E27FC236}">
                <a16:creationId xmlns:a16="http://schemas.microsoft.com/office/drawing/2014/main" id="{53FA38BF-E686-4C4A-9C31-D506850FDAD4}"/>
              </a:ext>
            </a:extLst>
          </p:cNvPr>
          <p:cNvSpPr>
            <a:spLocks xmlns:a="http://schemas.openxmlformats.org/drawingml/2006/main" noGrp="1"/>
          </p:cNvSpPr>
          <p:nvPr/>
        </p:nvSpPr>
        <p:spPr>
          <a:xfrm xmlns:a="http://schemas.openxmlformats.org/drawingml/2006/main">
            <a:off x="7886700"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Task</a:t>
            </a:r>
          </a:p>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Automation</a:t>
            </a:r>
          </a:p>
        </p:txBody>
      </p:sp>
      <p:sp>
        <p:nvSpPr>
          <p:cNvPr id="54" name="">
            <a:extLst xmlns:a="http://schemas.openxmlformats.org/drawingml/2006/main">
              <a:ext uri="{FF2B5EF4-FFF2-40B4-BE49-F238E27FC236}">
                <a16:creationId xmlns:a16="http://schemas.microsoft.com/office/drawing/2014/main" id="{E8171624-B14B-46DB-BCB6-B4F4F4D9657D}"/>
              </a:ext>
            </a:extLst>
          </p:cNvPr>
          <p:cNvSpPr>
            <a:spLocks xmlns:a="http://schemas.openxmlformats.org/drawingml/2006/main" noGrp="1"/>
          </p:cNvSpPr>
          <p:nvPr/>
        </p:nvSpPr>
        <p:spPr>
          <a:xfrm xmlns:a="http://schemas.openxmlformats.org/drawingml/2006/main">
            <a:off x="7886700" y="3543300"/>
            <a:ext cx="1543050" cy="0"/>
          </a:xfrm>
          <a:prstGeom xmlns:a="http://schemas.openxmlformats.org/drawingml/2006/main" prst="line">
            <a:avLst/>
          </a:prstGeom>
          <a:noFill xmlns:a="http://schemas.openxmlformats.org/drawingml/2006/main"/>
          <a:ln xmlns:a="http://schemas.openxmlformats.org/drawingml/2006/main" w="28575">
            <a:solidFill>
              <a:srgbClr val="AA91FF"/>
            </a:solidFill>
            <a:prstDash val="solid"/>
          </a:ln>
        </p:spPr>
      </p:sp>
      <p:sp>
        <p:nvSpPr>
          <p:cNvPr id="55" name="">
            <a:extLst xmlns:a="http://schemas.openxmlformats.org/drawingml/2006/main">
              <a:ext uri="{FF2B5EF4-FFF2-40B4-BE49-F238E27FC236}">
                <a16:creationId xmlns:a16="http://schemas.microsoft.com/office/drawing/2014/main" id="{09E4495D-223E-4C31-BD83-A4AF7BA00B2C}"/>
              </a:ext>
            </a:extLst>
          </p:cNvPr>
          <p:cNvSpPr>
            <a:spLocks xmlns:a="http://schemas.openxmlformats.org/drawingml/2006/main" noGrp="1"/>
          </p:cNvSpPr>
          <p:nvPr/>
        </p:nvSpPr>
        <p:spPr>
          <a:xfrm xmlns:a="http://schemas.openxmlformats.org/drawingml/2006/main">
            <a:off x="9705975" y="2247900"/>
            <a:ext cx="4572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14288">
            <a:solidFill>
              <a:srgbClr val="FF7487"/>
            </a:solidFill>
            <a:prstDash val="solid"/>
          </a:ln>
        </p:spPr>
      </p:sp>
      <p:sp>
        <p:nvSpPr>
          <p:cNvPr id="56" name="">
            <a:extLst xmlns:a="http://schemas.openxmlformats.org/drawingml/2006/main">
              <a:ext uri="{FF2B5EF4-FFF2-40B4-BE49-F238E27FC236}">
                <a16:creationId xmlns:a16="http://schemas.microsoft.com/office/drawing/2014/main" id="{896F2951-E40B-4DB3-8C57-B5A175D36FDC}"/>
              </a:ext>
            </a:extLst>
          </p:cNvPr>
          <p:cNvSpPr>
            <a:spLocks xmlns:a="http://schemas.openxmlformats.org/drawingml/2006/main" noGrp="1"/>
          </p:cNvSpPr>
          <p:nvPr/>
        </p:nvSpPr>
        <p:spPr>
          <a:xfrm xmlns:a="http://schemas.openxmlformats.org/drawingml/2006/main">
            <a:off x="9705975" y="2247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7487"/>
                </a:solidFill>
                <a:latin typeface="Avenir Next"/>
                <a:ea typeface="Avenir Next"/>
                <a:cs typeface="Avenir Next"/>
              </a:defRPr>
            </a:pPr>
            <a:r>
              <a:rPr sz="975" b="1">
                <a:solidFill>
                  <a:srgbClr val="FF7487"/>
                </a:solidFill>
                <a:latin typeface="Avenir Next"/>
                <a:ea typeface="Avenir Next"/>
                <a:cs typeface="Avenir Next"/>
              </a:rPr>
              <a:t>PM</a:t>
            </a:r>
          </a:p>
        </p:txBody>
      </p:sp>
      <p:sp>
        <p:nvSpPr>
          <p:cNvPr id="57" name="">
            <a:extLst xmlns:a="http://schemas.openxmlformats.org/drawingml/2006/main">
              <a:ext uri="{FF2B5EF4-FFF2-40B4-BE49-F238E27FC236}">
                <a16:creationId xmlns:a16="http://schemas.microsoft.com/office/drawing/2014/main" id="{A9911733-60DB-402E-824E-EB3E010A9070}"/>
              </a:ext>
            </a:extLst>
          </p:cNvPr>
          <p:cNvSpPr>
            <a:spLocks xmlns:a="http://schemas.openxmlformats.org/drawingml/2006/main" noGrp="1"/>
          </p:cNvSpPr>
          <p:nvPr/>
        </p:nvSpPr>
        <p:spPr>
          <a:xfrm xmlns:a="http://schemas.openxmlformats.org/drawingml/2006/main">
            <a:off x="9705975" y="2876550"/>
            <a:ext cx="1562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Precision</a:t>
            </a:r>
          </a:p>
          <a:p xmlns:a="http://schemas.openxmlformats.org/drawingml/2006/main">
            <a:pPr algn="l">
              <a:defRPr sz="1350" b="1">
                <a:solidFill>
                  <a:srgbClr val="F7F8F5"/>
                </a:solidFill>
                <a:latin typeface="Avenir Next"/>
                <a:ea typeface="Avenir Next"/>
                <a:cs typeface="Avenir Next"/>
              </a:defRPr>
            </a:pPr>
            <a:r>
              <a:rPr sz="1350" b="1">
                <a:solidFill>
                  <a:srgbClr val="F7F8F5"/>
                </a:solidFill>
                <a:latin typeface="Avenir Next"/>
                <a:ea typeface="Avenir Next"/>
                <a:cs typeface="Avenir Next"/>
              </a:rPr>
              <a:t>Medicine</a:t>
            </a:r>
          </a:p>
        </p:txBody>
      </p:sp>
      <p:sp>
        <p:nvSpPr>
          <p:cNvPr id="58" name="">
            <a:extLst xmlns:a="http://schemas.openxmlformats.org/drawingml/2006/main">
              <a:ext uri="{FF2B5EF4-FFF2-40B4-BE49-F238E27FC236}">
                <a16:creationId xmlns:a16="http://schemas.microsoft.com/office/drawing/2014/main" id="{1BA47A2A-E588-4092-9BFA-ED308EC4F73C}"/>
              </a:ext>
            </a:extLst>
          </p:cNvPr>
          <p:cNvSpPr>
            <a:spLocks xmlns:a="http://schemas.openxmlformats.org/drawingml/2006/main" noGrp="1"/>
          </p:cNvSpPr>
          <p:nvPr/>
        </p:nvSpPr>
        <p:spPr>
          <a:xfrm xmlns:a="http://schemas.openxmlformats.org/drawingml/2006/main">
            <a:off x="9705975" y="3543300"/>
            <a:ext cx="1543050" cy="0"/>
          </a:xfrm>
          <a:prstGeom xmlns:a="http://schemas.openxmlformats.org/drawingml/2006/main" prst="line">
            <a:avLst/>
          </a:prstGeom>
          <a:noFill xmlns:a="http://schemas.openxmlformats.org/drawingml/2006/main"/>
          <a:ln xmlns:a="http://schemas.openxmlformats.org/drawingml/2006/main" w="28575">
            <a:solidFill>
              <a:srgbClr val="FF7487"/>
            </a:solidFill>
            <a:prstDash val="solid"/>
          </a:ln>
        </p:spPr>
      </p:sp>
      <p:sp>
        <p:nvSpPr>
          <p:cNvPr id="59" name="">
            <a:extLst xmlns:a="http://schemas.openxmlformats.org/drawingml/2006/main">
              <a:ext uri="{FF2B5EF4-FFF2-40B4-BE49-F238E27FC236}">
                <a16:creationId xmlns:a16="http://schemas.microsoft.com/office/drawing/2014/main" id="{16565D8B-B6DF-4630-8BED-4B393019FA86}"/>
              </a:ext>
            </a:extLst>
          </p:cNvPr>
          <p:cNvSpPr>
            <a:spLocks xmlns:a="http://schemas.openxmlformats.org/drawingml/2006/main" noGrp="1"/>
          </p:cNvSpPr>
          <p:nvPr/>
        </p:nvSpPr>
        <p:spPr>
          <a:xfrm xmlns:a="http://schemas.openxmlformats.org/drawingml/2006/main">
            <a:off x="609600" y="4076700"/>
            <a:ext cx="109728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9525">
            <a:solidFill>
              <a:srgbClr val="28404A"/>
            </a:solidFill>
            <a:prstDash val="solid"/>
          </a:ln>
        </p:spPr>
      </p:sp>
      <p:sp>
        <p:nvSpPr>
          <p:cNvPr id="60" name="">
            <a:extLst xmlns:a="http://schemas.openxmlformats.org/drawingml/2006/main">
              <a:ext uri="{FF2B5EF4-FFF2-40B4-BE49-F238E27FC236}">
                <a16:creationId xmlns:a16="http://schemas.microsoft.com/office/drawing/2014/main" id="{C6A4A8F0-5E25-4C5A-A569-3748277AF533}"/>
              </a:ext>
            </a:extLst>
          </p:cNvPr>
          <p:cNvSpPr>
            <a:spLocks xmlns:a="http://schemas.openxmlformats.org/drawingml/2006/main" noGrp="1"/>
          </p:cNvSpPr>
          <p:nvPr/>
        </p:nvSpPr>
        <p:spPr>
          <a:xfrm xmlns:a="http://schemas.openxmlformats.org/drawingml/2006/main">
            <a:off x="838200" y="40767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SHARED CONTEXT</a:t>
            </a:r>
          </a:p>
        </p:txBody>
      </p:sp>
      <p:sp>
        <p:nvSpPr>
          <p:cNvPr id="61" name="">
            <a:extLst xmlns:a="http://schemas.openxmlformats.org/drawingml/2006/main">
              <a:ext uri="{FF2B5EF4-FFF2-40B4-BE49-F238E27FC236}">
                <a16:creationId xmlns:a16="http://schemas.microsoft.com/office/drawing/2014/main" id="{97AAA1F3-E264-444B-8A69-D97DF7DF58A1}"/>
              </a:ext>
            </a:extLst>
          </p:cNvPr>
          <p:cNvSpPr>
            <a:spLocks xmlns:a="http://schemas.openxmlformats.org/drawingml/2006/main" noGrp="1"/>
          </p:cNvSpPr>
          <p:nvPr/>
        </p:nvSpPr>
        <p:spPr>
          <a:xfrm xmlns:a="http://schemas.openxmlformats.org/drawingml/2006/main">
            <a:off x="3028950" y="4076700"/>
            <a:ext cx="822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C3D0D3"/>
                </a:solidFill>
                <a:latin typeface="Avenir Next"/>
                <a:ea typeface="Avenir Next"/>
                <a:cs typeface="Avenir Next"/>
              </a:defRPr>
            </a:pPr>
            <a:r>
              <a:rPr sz="1200" b="0">
                <a:solidFill>
                  <a:srgbClr val="C3D0D3"/>
                </a:solidFill>
                <a:latin typeface="Avenir Next"/>
                <a:ea typeface="Avenir Next"/>
                <a:cs typeface="Avenir Next"/>
              </a:rPr>
              <a:t>One longitudinal view of intent, capacity, risk, and state</a:t>
            </a:r>
          </a:p>
        </p:txBody>
      </p:sp>
      <p:sp>
        <p:nvSpPr>
          <p:cNvPr id="62" name="">
            <a:extLst xmlns:a="http://schemas.openxmlformats.org/drawingml/2006/main">
              <a:ext uri="{FF2B5EF4-FFF2-40B4-BE49-F238E27FC236}">
                <a16:creationId xmlns:a16="http://schemas.microsoft.com/office/drawing/2014/main" id="{1A9FB8F2-7696-4057-BC91-18F0A44217E2}"/>
              </a:ext>
            </a:extLst>
          </p:cNvPr>
          <p:cNvSpPr>
            <a:spLocks xmlns:a="http://schemas.openxmlformats.org/drawingml/2006/main" noGrp="1"/>
          </p:cNvSpPr>
          <p:nvPr/>
        </p:nvSpPr>
        <p:spPr>
          <a:xfrm xmlns:a="http://schemas.openxmlformats.org/drawingml/2006/main">
            <a:off x="609600" y="4667250"/>
            <a:ext cx="10972800" cy="457200"/>
          </a:xfrm>
          <a:prstGeom xmlns:a="http://schemas.openxmlformats.org/drawingml/2006/main" prst="roundRect">
            <a:avLst>
              <a:gd name="adj" fmla="val 25000"/>
            </a:avLst>
          </a:prstGeom>
          <a:solidFill xmlns:a="http://schemas.openxmlformats.org/drawingml/2006/main">
            <a:srgbClr val="15313C"/>
          </a:solidFill>
          <a:ln xmlns:a="http://schemas.openxmlformats.org/drawingml/2006/main" w="9525">
            <a:solidFill>
              <a:srgbClr val="28404A"/>
            </a:solidFill>
            <a:prstDash val="solid"/>
          </a:ln>
        </p:spPr>
      </p:sp>
      <p:sp>
        <p:nvSpPr>
          <p:cNvPr id="63" name="">
            <a:extLst xmlns:a="http://schemas.openxmlformats.org/drawingml/2006/main">
              <a:ext uri="{FF2B5EF4-FFF2-40B4-BE49-F238E27FC236}">
                <a16:creationId xmlns:a16="http://schemas.microsoft.com/office/drawing/2014/main" id="{1592C5BA-F786-4572-992B-E4E19FAEF1AE}"/>
              </a:ext>
            </a:extLst>
          </p:cNvPr>
          <p:cNvSpPr>
            <a:spLocks xmlns:a="http://schemas.openxmlformats.org/drawingml/2006/main" noGrp="1"/>
          </p:cNvSpPr>
          <p:nvPr/>
        </p:nvSpPr>
        <p:spPr>
          <a:xfrm xmlns:a="http://schemas.openxmlformats.org/drawingml/2006/main">
            <a:off x="83820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GOVERNED ACTION</a:t>
            </a:r>
          </a:p>
        </p:txBody>
      </p:sp>
      <p:sp>
        <p:nvSpPr>
          <p:cNvPr id="64" name="">
            <a:extLst xmlns:a="http://schemas.openxmlformats.org/drawingml/2006/main">
              <a:ext uri="{FF2B5EF4-FFF2-40B4-BE49-F238E27FC236}">
                <a16:creationId xmlns:a16="http://schemas.microsoft.com/office/drawing/2014/main" id="{DF0ED0C0-0955-4796-ACC4-4FB8485007D9}"/>
              </a:ext>
            </a:extLst>
          </p:cNvPr>
          <p:cNvSpPr>
            <a:spLocks xmlns:a="http://schemas.openxmlformats.org/drawingml/2006/main" noGrp="1"/>
          </p:cNvSpPr>
          <p:nvPr/>
        </p:nvSpPr>
        <p:spPr>
          <a:xfrm xmlns:a="http://schemas.openxmlformats.org/drawingml/2006/main">
            <a:off x="3028950" y="4667250"/>
            <a:ext cx="822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C3D0D3"/>
                </a:solidFill>
                <a:latin typeface="Avenir Next"/>
                <a:ea typeface="Avenir Next"/>
                <a:cs typeface="Avenir Next"/>
              </a:defRPr>
            </a:pPr>
            <a:r>
              <a:rPr sz="1200" b="0">
                <a:solidFill>
                  <a:srgbClr val="C3D0D3"/>
                </a:solidFill>
                <a:latin typeface="Avenir Next"/>
                <a:ea typeface="Avenir Next"/>
                <a:cs typeface="Avenir Next"/>
              </a:rPr>
              <a:t>Permissions, thresholds, named approvals, rollback, and stop conditions</a:t>
            </a:r>
          </a:p>
        </p:txBody>
      </p:sp>
      <p:sp>
        <p:nvSpPr>
          <p:cNvPr id="65" name="">
            <a:extLst xmlns:a="http://schemas.openxmlformats.org/drawingml/2006/main">
              <a:ext uri="{FF2B5EF4-FFF2-40B4-BE49-F238E27FC236}">
                <a16:creationId xmlns:a16="http://schemas.microsoft.com/office/drawing/2014/main" id="{443C5E15-BA37-4BA7-B8AB-BCEA37FBE6D0}"/>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oundRect">
            <a:avLst>
              <a:gd name="adj" fmla="val 25000"/>
            </a:avLst>
          </a:prstGeom>
          <a:solidFill xmlns:a="http://schemas.openxmlformats.org/drawingml/2006/main">
            <a:srgbClr val="0E222C"/>
          </a:solidFill>
          <a:ln xmlns:a="http://schemas.openxmlformats.org/drawingml/2006/main" w="9525">
            <a:solidFill>
              <a:srgbClr val="28404A"/>
            </a:solidFill>
            <a:prstDash val="solid"/>
          </a:ln>
        </p:spPr>
      </p:sp>
      <p:sp>
        <p:nvSpPr>
          <p:cNvPr id="66" name="">
            <a:extLst xmlns:a="http://schemas.openxmlformats.org/drawingml/2006/main">
              <a:ext uri="{FF2B5EF4-FFF2-40B4-BE49-F238E27FC236}">
                <a16:creationId xmlns:a16="http://schemas.microsoft.com/office/drawing/2014/main" id="{4A333E49-4A2F-4E58-BC91-DA7634DDCE5C}"/>
              </a:ext>
            </a:extLst>
          </p:cNvPr>
          <p:cNvSpPr>
            <a:spLocks xmlns:a="http://schemas.openxmlformats.org/drawingml/2006/main" noGrp="1"/>
          </p:cNvSpPr>
          <p:nvPr/>
        </p:nvSpPr>
        <p:spPr>
          <a:xfrm xmlns:a="http://schemas.openxmlformats.org/drawingml/2006/main">
            <a:off x="838200" y="52578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CAUSAL SCORECARD</a:t>
            </a:r>
          </a:p>
        </p:txBody>
      </p:sp>
      <p:sp>
        <p:nvSpPr>
          <p:cNvPr id="67" name="">
            <a:extLst xmlns:a="http://schemas.openxmlformats.org/drawingml/2006/main">
              <a:ext uri="{FF2B5EF4-FFF2-40B4-BE49-F238E27FC236}">
                <a16:creationId xmlns:a16="http://schemas.microsoft.com/office/drawing/2014/main" id="{997A0623-FAEC-41DA-B8CB-FC2E6BFCAEA4}"/>
              </a:ext>
            </a:extLst>
          </p:cNvPr>
          <p:cNvSpPr>
            <a:spLocks xmlns:a="http://schemas.openxmlformats.org/drawingml/2006/main" noGrp="1"/>
          </p:cNvSpPr>
          <p:nvPr/>
        </p:nvSpPr>
        <p:spPr>
          <a:xfrm xmlns:a="http://schemas.openxmlformats.org/drawingml/2006/main">
            <a:off x="3028950" y="5257800"/>
            <a:ext cx="822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C3D0D3"/>
                </a:solidFill>
                <a:latin typeface="Avenir Next"/>
                <a:ea typeface="Avenir Next"/>
                <a:cs typeface="Avenir Next"/>
              </a:defRPr>
            </a:pPr>
            <a:r>
              <a:rPr sz="1200" b="0">
                <a:solidFill>
                  <a:srgbClr val="C3D0D3"/>
                </a:solidFill>
                <a:latin typeface="Avenir Next"/>
                <a:ea typeface="Avenir Next"/>
                <a:cs typeface="Avenir Next"/>
              </a:rPr>
              <a:t>Access · flow · workforce · economics · trust</a:t>
            </a:r>
          </a:p>
        </p:txBody>
      </p:sp>
      <p:sp>
        <p:nvSpPr>
          <p:cNvPr id="68" name="">
            <a:extLst xmlns:a="http://schemas.openxmlformats.org/drawingml/2006/main">
              <a:ext uri="{FF2B5EF4-FFF2-40B4-BE49-F238E27FC236}">
                <a16:creationId xmlns:a16="http://schemas.microsoft.com/office/drawing/2014/main" id="{C89169FE-EB0D-43C2-A6C6-79EB69F00094}"/>
              </a:ext>
            </a:extLst>
          </p:cNvPr>
          <p:cNvSpPr>
            <a:spLocks xmlns:a="http://schemas.openxmlformats.org/drawingml/2006/main" noGrp="1"/>
          </p:cNvSpPr>
          <p:nvPr/>
        </p:nvSpPr>
        <p:spPr>
          <a:xfrm xmlns:a="http://schemas.openxmlformats.org/drawingml/2006/main">
            <a:off x="609600"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5F7078"/>
                </a:solidFill>
                <a:latin typeface="Avenir Next"/>
                <a:ea typeface="Avenir Next"/>
                <a:cs typeface="Avenir Next"/>
              </a:defRPr>
            </a:pPr>
            <a:r>
              <a:rPr sz="675" b="0">
                <a:solidFill>
                  <a:srgbClr val="5F7078"/>
                </a:solidFill>
                <a:latin typeface="Avenir Next"/>
                <a:ea typeface="Avenir Next"/>
                <a:cs typeface="Avenir Next"/>
              </a:rPr>
              <a:t>Transformation architecture developed for the SRS 2026 executive demonstration.</a:t>
            </a:r>
          </a:p>
        </p:txBody>
      </p:sp>
      <p:sp>
        <p:nvSpPr>
          <p:cNvPr id="69" name="">
            <a:extLst xmlns:a="http://schemas.openxmlformats.org/drawingml/2006/main">
              <a:ext uri="{FF2B5EF4-FFF2-40B4-BE49-F238E27FC236}">
                <a16:creationId xmlns:a16="http://schemas.microsoft.com/office/drawing/2014/main" id="{6A32744D-CBAE-43CD-BF72-727FF5455F33}"/>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05</a:t>
            </a:r>
          </a:p>
        </p:txBody>
      </p:sp>
    </p:spTree>
    <p:extLst>
      <p:ext uri="{BB962C8B-B14F-4D97-AF65-F5344CB8AC3E}">
        <p14:creationId xmlns:p14="http://schemas.microsoft.com/office/powerpoint/2010/main" val="462198172"/>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403932-920B-4B64-904A-0FD5868F790C}"/>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F4E615-C429-4384-BA7C-F2987CC169F2}"/>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THE SIX THESES</a:t>
            </a:r>
          </a:p>
        </p:txBody>
      </p:sp>
      <p:sp>
        <p:nvSpPr>
          <p:cNvPr id="3" name="">
            <a:extLst xmlns:a="http://schemas.openxmlformats.org/drawingml/2006/main">
              <a:ext uri="{FF2B5EF4-FFF2-40B4-BE49-F238E27FC236}">
                <a16:creationId xmlns:a16="http://schemas.microsoft.com/office/drawing/2014/main" id="{E3369F2C-EDBD-4C18-B840-9750A38121F3}"/>
              </a:ext>
            </a:extLst>
          </p:cNvPr>
          <p:cNvSpPr>
            <a:spLocks xmlns:a="http://schemas.openxmlformats.org/drawingml/2006/main" noGrp="1"/>
          </p:cNvSpPr>
          <p:nvPr/>
        </p:nvSpPr>
        <p:spPr>
          <a:xfrm xmlns:a="http://schemas.openxmlformats.org/drawingml/2006/main">
            <a:off x="609600" y="781050"/>
            <a:ext cx="1000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0B1720"/>
                </a:solidFill>
                <a:latin typeface="Avenir Next"/>
                <a:ea typeface="Avenir Next"/>
                <a:cs typeface="Avenir Next"/>
              </a:defRPr>
            </a:pPr>
            <a:r>
              <a:rPr sz="3300" b="1">
                <a:solidFill>
                  <a:srgbClr val="0B1720"/>
                </a:solidFill>
                <a:latin typeface="Avenir Next"/>
                <a:ea typeface="Avenir Next"/>
                <a:cs typeface="Avenir Next"/>
              </a:rPr>
              <a:t>Each lever changes the unit of management.</a:t>
            </a:r>
          </a:p>
        </p:txBody>
      </p:sp>
      <p:sp>
        <p:nvSpPr>
          <p:cNvPr id="4" name="">
            <a:extLst xmlns:a="http://schemas.openxmlformats.org/drawingml/2006/main">
              <a:ext uri="{FF2B5EF4-FFF2-40B4-BE49-F238E27FC236}">
                <a16:creationId xmlns:a16="http://schemas.microsoft.com/office/drawing/2014/main" id="{F2B14334-1A93-41B8-8ADE-DDA089068944}"/>
              </a:ext>
            </a:extLst>
          </p:cNvPr>
          <p:cNvSpPr>
            <a:spLocks xmlns:a="http://schemas.openxmlformats.org/drawingml/2006/main" noGrp="1"/>
          </p:cNvSpPr>
          <p:nvPr/>
        </p:nvSpPr>
        <p:spPr>
          <a:xfrm xmlns:a="http://schemas.openxmlformats.org/drawingml/2006/main">
            <a:off x="609600" y="20764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7AA7FF"/>
            </a:solidFill>
            <a:prstDash val="solid"/>
          </a:ln>
        </p:spPr>
      </p:sp>
      <p:sp>
        <p:nvSpPr>
          <p:cNvPr id="5" name="">
            <a:extLst xmlns:a="http://schemas.openxmlformats.org/drawingml/2006/main">
              <a:ext uri="{FF2B5EF4-FFF2-40B4-BE49-F238E27FC236}">
                <a16:creationId xmlns:a16="http://schemas.microsoft.com/office/drawing/2014/main" id="{9ADB82F3-42DE-4153-8E42-6B3C318C74CA}"/>
              </a:ext>
            </a:extLst>
          </p:cNvPr>
          <p:cNvSpPr>
            <a:spLocks xmlns:a="http://schemas.openxmlformats.org/drawingml/2006/main" noGrp="1"/>
          </p:cNvSpPr>
          <p:nvPr/>
        </p:nvSpPr>
        <p:spPr>
          <a:xfrm xmlns:a="http://schemas.openxmlformats.org/drawingml/2006/main">
            <a:off x="609600" y="2076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7AA7FF"/>
                </a:solidFill>
                <a:latin typeface="Avenir Next"/>
                <a:ea typeface="Avenir Next"/>
                <a:cs typeface="Avenir Next"/>
              </a:defRPr>
            </a:pPr>
            <a:r>
              <a:rPr sz="975" b="1">
                <a:solidFill>
                  <a:srgbClr val="7AA7FF"/>
                </a:solidFill>
                <a:latin typeface="Avenir Next"/>
                <a:ea typeface="Avenir Next"/>
                <a:cs typeface="Avenir Next"/>
              </a:rPr>
              <a:t>DX</a:t>
            </a:r>
          </a:p>
        </p:txBody>
      </p:sp>
      <p:sp>
        <p:nvSpPr>
          <p:cNvPr id="6" name="">
            <a:extLst xmlns:a="http://schemas.openxmlformats.org/drawingml/2006/main">
              <a:ext uri="{FF2B5EF4-FFF2-40B4-BE49-F238E27FC236}">
                <a16:creationId xmlns:a16="http://schemas.microsoft.com/office/drawing/2014/main" id="{178E5505-55D6-4386-B0E2-E9AF4857A343}"/>
              </a:ext>
            </a:extLst>
          </p:cNvPr>
          <p:cNvSpPr>
            <a:spLocks xmlns:a="http://schemas.openxmlformats.org/drawingml/2006/main" noGrp="1"/>
          </p:cNvSpPr>
          <p:nvPr/>
        </p:nvSpPr>
        <p:spPr>
          <a:xfrm xmlns:a="http://schemas.openxmlformats.org/drawingml/2006/main">
            <a:off x="1162050" y="20955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Clinical Diagnosis</a:t>
            </a:r>
          </a:p>
        </p:txBody>
      </p:sp>
      <p:sp>
        <p:nvSpPr>
          <p:cNvPr id="7" name="">
            <a:extLst xmlns:a="http://schemas.openxmlformats.org/drawingml/2006/main">
              <a:ext uri="{FF2B5EF4-FFF2-40B4-BE49-F238E27FC236}">
                <a16:creationId xmlns:a16="http://schemas.microsoft.com/office/drawing/2014/main" id="{FA22F291-DC3A-4031-8776-8442155F3567}"/>
              </a:ext>
            </a:extLst>
          </p:cNvPr>
          <p:cNvSpPr>
            <a:spLocks xmlns:a="http://schemas.openxmlformats.org/drawingml/2006/main" noGrp="1"/>
          </p:cNvSpPr>
          <p:nvPr/>
        </p:nvSpPr>
        <p:spPr>
          <a:xfrm xmlns:a="http://schemas.openxmlformats.org/drawingml/2006/main">
            <a:off x="609600" y="27241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Episode → continuously updated routing decision</a:t>
            </a:r>
          </a:p>
        </p:txBody>
      </p:sp>
      <p:sp>
        <p:nvSpPr>
          <p:cNvPr id="8" name="">
            <a:extLst xmlns:a="http://schemas.openxmlformats.org/drawingml/2006/main">
              <a:ext uri="{FF2B5EF4-FFF2-40B4-BE49-F238E27FC236}">
                <a16:creationId xmlns:a16="http://schemas.microsoft.com/office/drawing/2014/main" id="{772E5977-03E7-47B1-9A9B-2C45630C9A1C}"/>
              </a:ext>
            </a:extLst>
          </p:cNvPr>
          <p:cNvSpPr>
            <a:spLocks xmlns:a="http://schemas.openxmlformats.org/drawingml/2006/main" noGrp="1"/>
          </p:cNvSpPr>
          <p:nvPr/>
        </p:nvSpPr>
        <p:spPr>
          <a:xfrm xmlns:a="http://schemas.openxmlformats.org/drawingml/2006/main">
            <a:off x="609600" y="3581400"/>
            <a:ext cx="781050" cy="0"/>
          </a:xfrm>
          <a:prstGeom xmlns:a="http://schemas.openxmlformats.org/drawingml/2006/main" prst="line">
            <a:avLst/>
          </a:prstGeom>
          <a:noFill xmlns:a="http://schemas.openxmlformats.org/drawingml/2006/main"/>
          <a:ln xmlns:a="http://schemas.openxmlformats.org/drawingml/2006/main" w="38100">
            <a:solidFill>
              <a:srgbClr val="7AA7FF"/>
            </a:solidFill>
            <a:prstDash val="solid"/>
          </a:ln>
        </p:spPr>
      </p:sp>
      <p:sp>
        <p:nvSpPr>
          <p:cNvPr id="9" name="">
            <a:extLst xmlns:a="http://schemas.openxmlformats.org/drawingml/2006/main">
              <a:ext uri="{FF2B5EF4-FFF2-40B4-BE49-F238E27FC236}">
                <a16:creationId xmlns:a16="http://schemas.microsoft.com/office/drawing/2014/main" id="{D4106B39-AC1E-416D-AAB3-3B88D4F4C2FC}"/>
              </a:ext>
            </a:extLst>
          </p:cNvPr>
          <p:cNvSpPr>
            <a:spLocks xmlns:a="http://schemas.openxmlformats.org/drawingml/2006/main" noGrp="1"/>
          </p:cNvSpPr>
          <p:nvPr/>
        </p:nvSpPr>
        <p:spPr>
          <a:xfrm xmlns:a="http://schemas.openxmlformats.org/drawingml/2006/main">
            <a:off x="4124325" y="2000250"/>
            <a:ext cx="0" cy="158115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10" name="">
            <a:extLst xmlns:a="http://schemas.openxmlformats.org/drawingml/2006/main">
              <a:ext uri="{FF2B5EF4-FFF2-40B4-BE49-F238E27FC236}">
                <a16:creationId xmlns:a16="http://schemas.microsoft.com/office/drawing/2014/main" id="{D5384532-78F1-4AD1-9699-2B1E6F1B5232}"/>
              </a:ext>
            </a:extLst>
          </p:cNvPr>
          <p:cNvSpPr>
            <a:spLocks xmlns:a="http://schemas.openxmlformats.org/drawingml/2006/main" noGrp="1"/>
          </p:cNvSpPr>
          <p:nvPr/>
        </p:nvSpPr>
        <p:spPr>
          <a:xfrm xmlns:a="http://schemas.openxmlformats.org/drawingml/2006/main">
            <a:off x="4391025" y="20764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51DFE3"/>
            </a:solidFill>
            <a:prstDash val="solid"/>
          </a:ln>
        </p:spPr>
      </p:sp>
      <p:sp>
        <p:nvSpPr>
          <p:cNvPr id="11" name="">
            <a:extLst xmlns:a="http://schemas.openxmlformats.org/drawingml/2006/main">
              <a:ext uri="{FF2B5EF4-FFF2-40B4-BE49-F238E27FC236}">
                <a16:creationId xmlns:a16="http://schemas.microsoft.com/office/drawing/2014/main" id="{43A64774-EC77-49BC-8DA2-260B1314AF6B}"/>
              </a:ext>
            </a:extLst>
          </p:cNvPr>
          <p:cNvSpPr>
            <a:spLocks xmlns:a="http://schemas.openxmlformats.org/drawingml/2006/main" noGrp="1"/>
          </p:cNvSpPr>
          <p:nvPr/>
        </p:nvSpPr>
        <p:spPr>
          <a:xfrm xmlns:a="http://schemas.openxmlformats.org/drawingml/2006/main">
            <a:off x="4391025" y="2076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51DFE3"/>
                </a:solidFill>
                <a:latin typeface="Avenir Next"/>
                <a:ea typeface="Avenir Next"/>
                <a:cs typeface="Avenir Next"/>
              </a:defRPr>
            </a:pPr>
            <a:r>
              <a:rPr sz="975" b="1">
                <a:solidFill>
                  <a:srgbClr val="51DFE3"/>
                </a:solidFill>
                <a:latin typeface="Avenir Next"/>
                <a:ea typeface="Avenir Next"/>
                <a:cs typeface="Avenir Next"/>
              </a:rPr>
              <a:t>FD</a:t>
            </a:r>
          </a:p>
        </p:txBody>
      </p:sp>
      <p:sp>
        <p:nvSpPr>
          <p:cNvPr id="12" name="">
            <a:extLst xmlns:a="http://schemas.openxmlformats.org/drawingml/2006/main">
              <a:ext uri="{FF2B5EF4-FFF2-40B4-BE49-F238E27FC236}">
                <a16:creationId xmlns:a16="http://schemas.microsoft.com/office/drawing/2014/main" id="{E1AD8C0D-138E-4533-8DC3-2A88C2AE36D4}"/>
              </a:ext>
            </a:extLst>
          </p:cNvPr>
          <p:cNvSpPr>
            <a:spLocks xmlns:a="http://schemas.openxmlformats.org/drawingml/2006/main" noGrp="1"/>
          </p:cNvSpPr>
          <p:nvPr/>
        </p:nvSpPr>
        <p:spPr>
          <a:xfrm xmlns:a="http://schemas.openxmlformats.org/drawingml/2006/main">
            <a:off x="4943475" y="20955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Digital Front Door</a:t>
            </a:r>
          </a:p>
        </p:txBody>
      </p:sp>
      <p:sp>
        <p:nvSpPr>
          <p:cNvPr id="13" name="">
            <a:extLst xmlns:a="http://schemas.openxmlformats.org/drawingml/2006/main">
              <a:ext uri="{FF2B5EF4-FFF2-40B4-BE49-F238E27FC236}">
                <a16:creationId xmlns:a16="http://schemas.microsoft.com/office/drawing/2014/main" id="{4EAB816C-E776-43B5-B1ED-89E14B67C22D}"/>
              </a:ext>
            </a:extLst>
          </p:cNvPr>
          <p:cNvSpPr>
            <a:spLocks xmlns:a="http://schemas.openxmlformats.org/drawingml/2006/main" noGrp="1"/>
          </p:cNvSpPr>
          <p:nvPr/>
        </p:nvSpPr>
        <p:spPr>
          <a:xfrm xmlns:a="http://schemas.openxmlformats.org/drawingml/2006/main">
            <a:off x="4391025" y="27241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Channel → persistent relationship that resolves needs</a:t>
            </a:r>
          </a:p>
        </p:txBody>
      </p:sp>
      <p:sp>
        <p:nvSpPr>
          <p:cNvPr id="14" name="">
            <a:extLst xmlns:a="http://schemas.openxmlformats.org/drawingml/2006/main">
              <a:ext uri="{FF2B5EF4-FFF2-40B4-BE49-F238E27FC236}">
                <a16:creationId xmlns:a16="http://schemas.microsoft.com/office/drawing/2014/main" id="{1EDBFCF5-5A78-44D4-8012-B75EAEE48DE3}"/>
              </a:ext>
            </a:extLst>
          </p:cNvPr>
          <p:cNvSpPr>
            <a:spLocks xmlns:a="http://schemas.openxmlformats.org/drawingml/2006/main" noGrp="1"/>
          </p:cNvSpPr>
          <p:nvPr/>
        </p:nvSpPr>
        <p:spPr>
          <a:xfrm xmlns:a="http://schemas.openxmlformats.org/drawingml/2006/main">
            <a:off x="4391025" y="3581400"/>
            <a:ext cx="781050" cy="0"/>
          </a:xfrm>
          <a:prstGeom xmlns:a="http://schemas.openxmlformats.org/drawingml/2006/main" prst="line">
            <a:avLst/>
          </a:prstGeom>
          <a:noFill xmlns:a="http://schemas.openxmlformats.org/drawingml/2006/main"/>
          <a:ln xmlns:a="http://schemas.openxmlformats.org/drawingml/2006/main" w="38100">
            <a:solidFill>
              <a:srgbClr val="51DFE3"/>
            </a:solidFill>
            <a:prstDash val="solid"/>
          </a:ln>
        </p:spPr>
      </p:sp>
      <p:sp>
        <p:nvSpPr>
          <p:cNvPr id="15" name="">
            <a:extLst xmlns:a="http://schemas.openxmlformats.org/drawingml/2006/main">
              <a:ext uri="{FF2B5EF4-FFF2-40B4-BE49-F238E27FC236}">
                <a16:creationId xmlns:a16="http://schemas.microsoft.com/office/drawing/2014/main" id="{AA28A193-7A53-44AB-9397-49D27E6CE129}"/>
              </a:ext>
            </a:extLst>
          </p:cNvPr>
          <p:cNvSpPr>
            <a:spLocks xmlns:a="http://schemas.openxmlformats.org/drawingml/2006/main" noGrp="1"/>
          </p:cNvSpPr>
          <p:nvPr/>
        </p:nvSpPr>
        <p:spPr>
          <a:xfrm xmlns:a="http://schemas.openxmlformats.org/drawingml/2006/main">
            <a:off x="7905750" y="2000250"/>
            <a:ext cx="0" cy="158115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16" name="">
            <a:extLst xmlns:a="http://schemas.openxmlformats.org/drawingml/2006/main">
              <a:ext uri="{FF2B5EF4-FFF2-40B4-BE49-F238E27FC236}">
                <a16:creationId xmlns:a16="http://schemas.microsoft.com/office/drawing/2014/main" id="{E3258A69-D42A-428B-AB00-7A46B7B314E1}"/>
              </a:ext>
            </a:extLst>
          </p:cNvPr>
          <p:cNvSpPr>
            <a:spLocks xmlns:a="http://schemas.openxmlformats.org/drawingml/2006/main" noGrp="1"/>
          </p:cNvSpPr>
          <p:nvPr/>
        </p:nvSpPr>
        <p:spPr>
          <a:xfrm xmlns:a="http://schemas.openxmlformats.org/drawingml/2006/main">
            <a:off x="8172450" y="20764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F3C668"/>
            </a:solidFill>
            <a:prstDash val="solid"/>
          </a:ln>
        </p:spPr>
      </p:sp>
      <p:sp>
        <p:nvSpPr>
          <p:cNvPr id="17" name="">
            <a:extLst xmlns:a="http://schemas.openxmlformats.org/drawingml/2006/main">
              <a:ext uri="{FF2B5EF4-FFF2-40B4-BE49-F238E27FC236}">
                <a16:creationId xmlns:a16="http://schemas.microsoft.com/office/drawing/2014/main" id="{B7B851DA-B2F8-4B4C-87D5-E814F318DCE8}"/>
              </a:ext>
            </a:extLst>
          </p:cNvPr>
          <p:cNvSpPr>
            <a:spLocks xmlns:a="http://schemas.openxmlformats.org/drawingml/2006/main" noGrp="1"/>
          </p:cNvSpPr>
          <p:nvPr/>
        </p:nvSpPr>
        <p:spPr>
          <a:xfrm xmlns:a="http://schemas.openxmlformats.org/drawingml/2006/main">
            <a:off x="8172450" y="20764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3C668"/>
                </a:solidFill>
                <a:latin typeface="Avenir Next"/>
                <a:ea typeface="Avenir Next"/>
                <a:cs typeface="Avenir Next"/>
              </a:defRPr>
            </a:pPr>
            <a:r>
              <a:rPr sz="975" b="1">
                <a:solidFill>
                  <a:srgbClr val="F3C668"/>
                </a:solidFill>
                <a:latin typeface="Avenir Next"/>
                <a:ea typeface="Avenir Next"/>
                <a:cs typeface="Avenir Next"/>
              </a:rPr>
              <a:t>RX</a:t>
            </a:r>
          </a:p>
        </p:txBody>
      </p:sp>
      <p:sp>
        <p:nvSpPr>
          <p:cNvPr id="18" name="">
            <a:extLst xmlns:a="http://schemas.openxmlformats.org/drawingml/2006/main">
              <a:ext uri="{FF2B5EF4-FFF2-40B4-BE49-F238E27FC236}">
                <a16:creationId xmlns:a16="http://schemas.microsoft.com/office/drawing/2014/main" id="{E29D7AE5-E71C-4E67-AD3B-FD5AAFDCF324}"/>
              </a:ext>
            </a:extLst>
          </p:cNvPr>
          <p:cNvSpPr>
            <a:spLocks xmlns:a="http://schemas.openxmlformats.org/drawingml/2006/main" noGrp="1"/>
          </p:cNvSpPr>
          <p:nvPr/>
        </p:nvSpPr>
        <p:spPr>
          <a:xfrm xmlns:a="http://schemas.openxmlformats.org/drawingml/2006/main">
            <a:off x="8724900" y="20955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Robotics</a:t>
            </a:r>
          </a:p>
        </p:txBody>
      </p:sp>
      <p:sp>
        <p:nvSpPr>
          <p:cNvPr id="19" name="">
            <a:extLst xmlns:a="http://schemas.openxmlformats.org/drawingml/2006/main">
              <a:ext uri="{FF2B5EF4-FFF2-40B4-BE49-F238E27FC236}">
                <a16:creationId xmlns:a16="http://schemas.microsoft.com/office/drawing/2014/main" id="{90F55147-AD3F-4580-A5B5-E77F48CBBC87}"/>
              </a:ext>
            </a:extLst>
          </p:cNvPr>
          <p:cNvSpPr>
            <a:spLocks xmlns:a="http://schemas.openxmlformats.org/drawingml/2006/main" noGrp="1"/>
          </p:cNvSpPr>
          <p:nvPr/>
        </p:nvSpPr>
        <p:spPr>
          <a:xfrm xmlns:a="http://schemas.openxmlformats.org/drawingml/2006/main">
            <a:off x="8172450" y="27241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Precision instrument → distributed capacity platform</a:t>
            </a:r>
          </a:p>
        </p:txBody>
      </p:sp>
      <p:sp>
        <p:nvSpPr>
          <p:cNvPr id="20" name="">
            <a:extLst xmlns:a="http://schemas.openxmlformats.org/drawingml/2006/main">
              <a:ext uri="{FF2B5EF4-FFF2-40B4-BE49-F238E27FC236}">
                <a16:creationId xmlns:a16="http://schemas.microsoft.com/office/drawing/2014/main" id="{3FB9446C-A670-456A-9505-C6618051B98C}"/>
              </a:ext>
            </a:extLst>
          </p:cNvPr>
          <p:cNvSpPr>
            <a:spLocks xmlns:a="http://schemas.openxmlformats.org/drawingml/2006/main" noGrp="1"/>
          </p:cNvSpPr>
          <p:nvPr/>
        </p:nvSpPr>
        <p:spPr>
          <a:xfrm xmlns:a="http://schemas.openxmlformats.org/drawingml/2006/main">
            <a:off x="8172450" y="3581400"/>
            <a:ext cx="781050" cy="0"/>
          </a:xfrm>
          <a:prstGeom xmlns:a="http://schemas.openxmlformats.org/drawingml/2006/main" prst="line">
            <a:avLst/>
          </a:prstGeom>
          <a:noFill xmlns:a="http://schemas.openxmlformats.org/drawingml/2006/main"/>
          <a:ln xmlns:a="http://schemas.openxmlformats.org/drawingml/2006/main" w="38100">
            <a:solidFill>
              <a:srgbClr val="F3C668"/>
            </a:solidFill>
            <a:prstDash val="solid"/>
          </a:ln>
        </p:spPr>
      </p:sp>
      <p:sp>
        <p:nvSpPr>
          <p:cNvPr id="21" name="">
            <a:extLst xmlns:a="http://schemas.openxmlformats.org/drawingml/2006/main">
              <a:ext uri="{FF2B5EF4-FFF2-40B4-BE49-F238E27FC236}">
                <a16:creationId xmlns:a16="http://schemas.microsoft.com/office/drawing/2014/main" id="{F9F4B3F3-523B-43F2-8EB0-DFC3B101D6FF}"/>
              </a:ext>
            </a:extLst>
          </p:cNvPr>
          <p:cNvSpPr>
            <a:spLocks xmlns:a="http://schemas.openxmlformats.org/drawingml/2006/main" noGrp="1"/>
          </p:cNvSpPr>
          <p:nvPr/>
        </p:nvSpPr>
        <p:spPr>
          <a:xfrm xmlns:a="http://schemas.openxmlformats.org/drawingml/2006/main">
            <a:off x="609600" y="40576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60D799"/>
            </a:solidFill>
            <a:prstDash val="solid"/>
          </a:ln>
        </p:spPr>
      </p:sp>
      <p:sp>
        <p:nvSpPr>
          <p:cNvPr id="22" name="">
            <a:extLst xmlns:a="http://schemas.openxmlformats.org/drawingml/2006/main">
              <a:ext uri="{FF2B5EF4-FFF2-40B4-BE49-F238E27FC236}">
                <a16:creationId xmlns:a16="http://schemas.microsoft.com/office/drawing/2014/main" id="{EA8AA20A-BD15-4FC9-86B6-C84C9B759355}"/>
              </a:ext>
            </a:extLst>
          </p:cNvPr>
          <p:cNvSpPr>
            <a:spLocks xmlns:a="http://schemas.openxmlformats.org/drawingml/2006/main" noGrp="1"/>
          </p:cNvSpPr>
          <p:nvPr/>
        </p:nvSpPr>
        <p:spPr>
          <a:xfrm xmlns:a="http://schemas.openxmlformats.org/drawingml/2006/main">
            <a:off x="609600" y="4057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0D799"/>
                </a:solidFill>
                <a:latin typeface="Avenir Next"/>
                <a:ea typeface="Avenir Next"/>
                <a:cs typeface="Avenir Next"/>
              </a:defRPr>
            </a:pPr>
            <a:r>
              <a:rPr sz="975" b="1">
                <a:solidFill>
                  <a:srgbClr val="60D799"/>
                </a:solidFill>
                <a:latin typeface="Avenir Next"/>
                <a:ea typeface="Avenir Next"/>
                <a:cs typeface="Avenir Next"/>
              </a:rPr>
              <a:t>LC</a:t>
            </a:r>
          </a:p>
        </p:txBody>
      </p:sp>
      <p:sp>
        <p:nvSpPr>
          <p:cNvPr id="23" name="">
            <a:extLst xmlns:a="http://schemas.openxmlformats.org/drawingml/2006/main">
              <a:ext uri="{FF2B5EF4-FFF2-40B4-BE49-F238E27FC236}">
                <a16:creationId xmlns:a16="http://schemas.microsoft.com/office/drawing/2014/main" id="{B674FADD-65C1-4B21-B26E-79F9C511137B}"/>
              </a:ext>
            </a:extLst>
          </p:cNvPr>
          <p:cNvSpPr>
            <a:spLocks xmlns:a="http://schemas.openxmlformats.org/drawingml/2006/main" noGrp="1"/>
          </p:cNvSpPr>
          <p:nvPr/>
        </p:nvSpPr>
        <p:spPr>
          <a:xfrm xmlns:a="http://schemas.openxmlformats.org/drawingml/2006/main">
            <a:off x="1162050" y="40767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Longitudinal Care</a:t>
            </a:r>
          </a:p>
        </p:txBody>
      </p:sp>
      <p:sp>
        <p:nvSpPr>
          <p:cNvPr id="24" name="">
            <a:extLst xmlns:a="http://schemas.openxmlformats.org/drawingml/2006/main">
              <a:ext uri="{FF2B5EF4-FFF2-40B4-BE49-F238E27FC236}">
                <a16:creationId xmlns:a16="http://schemas.microsoft.com/office/drawing/2014/main" id="{81FE1F4A-D271-4A50-A08B-FADD2CBCDDB2}"/>
              </a:ext>
            </a:extLst>
          </p:cNvPr>
          <p:cNvSpPr>
            <a:spLocks xmlns:a="http://schemas.openxmlformats.org/drawingml/2006/main" noGrp="1"/>
          </p:cNvSpPr>
          <p:nvPr/>
        </p:nvSpPr>
        <p:spPr>
          <a:xfrm xmlns:a="http://schemas.openxmlformats.org/drawingml/2006/main">
            <a:off x="609600" y="47053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Visits → continuously managed queue</a:t>
            </a:r>
          </a:p>
        </p:txBody>
      </p:sp>
      <p:sp>
        <p:nvSpPr>
          <p:cNvPr id="25" name="">
            <a:extLst xmlns:a="http://schemas.openxmlformats.org/drawingml/2006/main">
              <a:ext uri="{FF2B5EF4-FFF2-40B4-BE49-F238E27FC236}">
                <a16:creationId xmlns:a16="http://schemas.microsoft.com/office/drawing/2014/main" id="{FFE05A7E-DB97-4FB1-973C-EB59835F1C06}"/>
              </a:ext>
            </a:extLst>
          </p:cNvPr>
          <p:cNvSpPr>
            <a:spLocks xmlns:a="http://schemas.openxmlformats.org/drawingml/2006/main" noGrp="1"/>
          </p:cNvSpPr>
          <p:nvPr/>
        </p:nvSpPr>
        <p:spPr>
          <a:xfrm xmlns:a="http://schemas.openxmlformats.org/drawingml/2006/main">
            <a:off x="609600" y="5562600"/>
            <a:ext cx="781050" cy="0"/>
          </a:xfrm>
          <a:prstGeom xmlns:a="http://schemas.openxmlformats.org/drawingml/2006/main" prst="line">
            <a:avLst/>
          </a:prstGeom>
          <a:noFill xmlns:a="http://schemas.openxmlformats.org/drawingml/2006/main"/>
          <a:ln xmlns:a="http://schemas.openxmlformats.org/drawingml/2006/main" w="38100">
            <a:solidFill>
              <a:srgbClr val="60D799"/>
            </a:solidFill>
            <a:prstDash val="solid"/>
          </a:ln>
        </p:spPr>
      </p:sp>
      <p:sp>
        <p:nvSpPr>
          <p:cNvPr id="26" name="">
            <a:extLst xmlns:a="http://schemas.openxmlformats.org/drawingml/2006/main">
              <a:ext uri="{FF2B5EF4-FFF2-40B4-BE49-F238E27FC236}">
                <a16:creationId xmlns:a16="http://schemas.microsoft.com/office/drawing/2014/main" id="{3DBD6580-2F8E-4ACA-903B-6E6B65EC8BF0}"/>
              </a:ext>
            </a:extLst>
          </p:cNvPr>
          <p:cNvSpPr>
            <a:spLocks xmlns:a="http://schemas.openxmlformats.org/drawingml/2006/main" noGrp="1"/>
          </p:cNvSpPr>
          <p:nvPr/>
        </p:nvSpPr>
        <p:spPr>
          <a:xfrm xmlns:a="http://schemas.openxmlformats.org/drawingml/2006/main">
            <a:off x="4124325" y="3981450"/>
            <a:ext cx="0" cy="158115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27" name="">
            <a:extLst xmlns:a="http://schemas.openxmlformats.org/drawingml/2006/main">
              <a:ext uri="{FF2B5EF4-FFF2-40B4-BE49-F238E27FC236}">
                <a16:creationId xmlns:a16="http://schemas.microsoft.com/office/drawing/2014/main" id="{1311009D-6260-4676-8551-4D165FE87295}"/>
              </a:ext>
            </a:extLst>
          </p:cNvPr>
          <p:cNvSpPr>
            <a:spLocks xmlns:a="http://schemas.openxmlformats.org/drawingml/2006/main" noGrp="1"/>
          </p:cNvSpPr>
          <p:nvPr/>
        </p:nvSpPr>
        <p:spPr>
          <a:xfrm xmlns:a="http://schemas.openxmlformats.org/drawingml/2006/main">
            <a:off x="4391025" y="40576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AA91FF"/>
            </a:solidFill>
            <a:prstDash val="solid"/>
          </a:ln>
        </p:spPr>
      </p:sp>
      <p:sp>
        <p:nvSpPr>
          <p:cNvPr id="28" name="">
            <a:extLst xmlns:a="http://schemas.openxmlformats.org/drawingml/2006/main">
              <a:ext uri="{FF2B5EF4-FFF2-40B4-BE49-F238E27FC236}">
                <a16:creationId xmlns:a16="http://schemas.microsoft.com/office/drawing/2014/main" id="{51A82ED4-FC16-4EE7-B274-C4F947C2EA05}"/>
              </a:ext>
            </a:extLst>
          </p:cNvPr>
          <p:cNvSpPr>
            <a:spLocks xmlns:a="http://schemas.openxmlformats.org/drawingml/2006/main" noGrp="1"/>
          </p:cNvSpPr>
          <p:nvPr/>
        </p:nvSpPr>
        <p:spPr>
          <a:xfrm xmlns:a="http://schemas.openxmlformats.org/drawingml/2006/main">
            <a:off x="4391025" y="4057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A91FF"/>
                </a:solidFill>
                <a:latin typeface="Avenir Next"/>
                <a:ea typeface="Avenir Next"/>
                <a:cs typeface="Avenir Next"/>
              </a:defRPr>
            </a:pPr>
            <a:r>
              <a:rPr sz="975" b="1">
                <a:solidFill>
                  <a:srgbClr val="AA91FF"/>
                </a:solidFill>
                <a:latin typeface="Avenir Next"/>
                <a:ea typeface="Avenir Next"/>
                <a:cs typeface="Avenir Next"/>
              </a:rPr>
              <a:t>TA</a:t>
            </a:r>
          </a:p>
        </p:txBody>
      </p:sp>
      <p:sp>
        <p:nvSpPr>
          <p:cNvPr id="29" name="">
            <a:extLst xmlns:a="http://schemas.openxmlformats.org/drawingml/2006/main">
              <a:ext uri="{FF2B5EF4-FFF2-40B4-BE49-F238E27FC236}">
                <a16:creationId xmlns:a16="http://schemas.microsoft.com/office/drawing/2014/main" id="{C4A3D39A-C3AD-4D4F-9588-E61AECFAD99A}"/>
              </a:ext>
            </a:extLst>
          </p:cNvPr>
          <p:cNvSpPr>
            <a:spLocks xmlns:a="http://schemas.openxmlformats.org/drawingml/2006/main" noGrp="1"/>
          </p:cNvSpPr>
          <p:nvPr/>
        </p:nvSpPr>
        <p:spPr>
          <a:xfrm xmlns:a="http://schemas.openxmlformats.org/drawingml/2006/main">
            <a:off x="4943475" y="40767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Task Automation</a:t>
            </a:r>
          </a:p>
        </p:txBody>
      </p:sp>
      <p:sp>
        <p:nvSpPr>
          <p:cNvPr id="30" name="">
            <a:extLst xmlns:a="http://schemas.openxmlformats.org/drawingml/2006/main">
              <a:ext uri="{FF2B5EF4-FFF2-40B4-BE49-F238E27FC236}">
                <a16:creationId xmlns:a16="http://schemas.microsoft.com/office/drawing/2014/main" id="{BB8121E1-9333-4B99-8E9F-798A1845E04A}"/>
              </a:ext>
            </a:extLst>
          </p:cNvPr>
          <p:cNvSpPr>
            <a:spLocks xmlns:a="http://schemas.openxmlformats.org/drawingml/2006/main" noGrp="1"/>
          </p:cNvSpPr>
          <p:nvPr/>
        </p:nvSpPr>
        <p:spPr>
          <a:xfrm xmlns:a="http://schemas.openxmlformats.org/drawingml/2006/main">
            <a:off x="4391025" y="47053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Task → governed outcome, executed and verified</a:t>
            </a:r>
          </a:p>
        </p:txBody>
      </p:sp>
      <p:sp>
        <p:nvSpPr>
          <p:cNvPr id="31" name="">
            <a:extLst xmlns:a="http://schemas.openxmlformats.org/drawingml/2006/main">
              <a:ext uri="{FF2B5EF4-FFF2-40B4-BE49-F238E27FC236}">
                <a16:creationId xmlns:a16="http://schemas.microsoft.com/office/drawing/2014/main" id="{67C909FB-B253-4CC9-A322-DD1779D747DD}"/>
              </a:ext>
            </a:extLst>
          </p:cNvPr>
          <p:cNvSpPr>
            <a:spLocks xmlns:a="http://schemas.openxmlformats.org/drawingml/2006/main" noGrp="1"/>
          </p:cNvSpPr>
          <p:nvPr/>
        </p:nvSpPr>
        <p:spPr>
          <a:xfrm xmlns:a="http://schemas.openxmlformats.org/drawingml/2006/main">
            <a:off x="4391025" y="5562600"/>
            <a:ext cx="781050" cy="0"/>
          </a:xfrm>
          <a:prstGeom xmlns:a="http://schemas.openxmlformats.org/drawingml/2006/main" prst="line">
            <a:avLst/>
          </a:prstGeom>
          <a:noFill xmlns:a="http://schemas.openxmlformats.org/drawingml/2006/main"/>
          <a:ln xmlns:a="http://schemas.openxmlformats.org/drawingml/2006/main" w="38100">
            <a:solidFill>
              <a:srgbClr val="AA91FF"/>
            </a:solidFill>
            <a:prstDash val="solid"/>
          </a:ln>
        </p:spPr>
      </p:sp>
      <p:sp>
        <p:nvSpPr>
          <p:cNvPr id="32" name="">
            <a:extLst xmlns:a="http://schemas.openxmlformats.org/drawingml/2006/main">
              <a:ext uri="{FF2B5EF4-FFF2-40B4-BE49-F238E27FC236}">
                <a16:creationId xmlns:a16="http://schemas.microsoft.com/office/drawing/2014/main" id="{40578C96-8D50-4E50-A316-A30B8D22FC02}"/>
              </a:ext>
            </a:extLst>
          </p:cNvPr>
          <p:cNvSpPr>
            <a:spLocks xmlns:a="http://schemas.openxmlformats.org/drawingml/2006/main" noGrp="1"/>
          </p:cNvSpPr>
          <p:nvPr/>
        </p:nvSpPr>
        <p:spPr>
          <a:xfrm xmlns:a="http://schemas.openxmlformats.org/drawingml/2006/main">
            <a:off x="7905750" y="3981450"/>
            <a:ext cx="0" cy="158115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33" name="">
            <a:extLst xmlns:a="http://schemas.openxmlformats.org/drawingml/2006/main">
              <a:ext uri="{FF2B5EF4-FFF2-40B4-BE49-F238E27FC236}">
                <a16:creationId xmlns:a16="http://schemas.microsoft.com/office/drawing/2014/main" id="{CF3BEFDE-7509-4F7B-9084-1652CF1129BD}"/>
              </a:ext>
            </a:extLst>
          </p:cNvPr>
          <p:cNvSpPr>
            <a:spLocks xmlns:a="http://schemas.openxmlformats.org/drawingml/2006/main" noGrp="1"/>
          </p:cNvSpPr>
          <p:nvPr/>
        </p:nvSpPr>
        <p:spPr>
          <a:xfrm xmlns:a="http://schemas.openxmlformats.org/drawingml/2006/main">
            <a:off x="8172450" y="40576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FF7487"/>
            </a:solidFill>
            <a:prstDash val="solid"/>
          </a:ln>
        </p:spPr>
      </p:sp>
      <p:sp>
        <p:nvSpPr>
          <p:cNvPr id="34" name="">
            <a:extLst xmlns:a="http://schemas.openxmlformats.org/drawingml/2006/main">
              <a:ext uri="{FF2B5EF4-FFF2-40B4-BE49-F238E27FC236}">
                <a16:creationId xmlns:a16="http://schemas.microsoft.com/office/drawing/2014/main" id="{DED6079A-5E19-44F3-9854-8F6F708015EC}"/>
              </a:ext>
            </a:extLst>
          </p:cNvPr>
          <p:cNvSpPr>
            <a:spLocks xmlns:a="http://schemas.openxmlformats.org/drawingml/2006/main" noGrp="1"/>
          </p:cNvSpPr>
          <p:nvPr/>
        </p:nvSpPr>
        <p:spPr>
          <a:xfrm xmlns:a="http://schemas.openxmlformats.org/drawingml/2006/main">
            <a:off x="8172450" y="4057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F7487"/>
                </a:solidFill>
                <a:latin typeface="Avenir Next"/>
                <a:ea typeface="Avenir Next"/>
                <a:cs typeface="Avenir Next"/>
              </a:defRPr>
            </a:pPr>
            <a:r>
              <a:rPr sz="975" b="1">
                <a:solidFill>
                  <a:srgbClr val="FF7487"/>
                </a:solidFill>
                <a:latin typeface="Avenir Next"/>
                <a:ea typeface="Avenir Next"/>
                <a:cs typeface="Avenir Next"/>
              </a:rPr>
              <a:t>PM</a:t>
            </a:r>
          </a:p>
        </p:txBody>
      </p:sp>
      <p:sp>
        <p:nvSpPr>
          <p:cNvPr id="35" name="">
            <a:extLst xmlns:a="http://schemas.openxmlformats.org/drawingml/2006/main">
              <a:ext uri="{FF2B5EF4-FFF2-40B4-BE49-F238E27FC236}">
                <a16:creationId xmlns:a16="http://schemas.microsoft.com/office/drawing/2014/main" id="{3A14E337-CF25-4575-A16C-0DE9A41AB9B6}"/>
              </a:ext>
            </a:extLst>
          </p:cNvPr>
          <p:cNvSpPr>
            <a:spLocks xmlns:a="http://schemas.openxmlformats.org/drawingml/2006/main" noGrp="1"/>
          </p:cNvSpPr>
          <p:nvPr/>
        </p:nvSpPr>
        <p:spPr>
          <a:xfrm xmlns:a="http://schemas.openxmlformats.org/drawingml/2006/main">
            <a:off x="8724900" y="4076700"/>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Precision Medicine</a:t>
            </a:r>
          </a:p>
        </p:txBody>
      </p:sp>
      <p:sp>
        <p:nvSpPr>
          <p:cNvPr id="36" name="">
            <a:extLst xmlns:a="http://schemas.openxmlformats.org/drawingml/2006/main">
              <a:ext uri="{FF2B5EF4-FFF2-40B4-BE49-F238E27FC236}">
                <a16:creationId xmlns:a16="http://schemas.microsoft.com/office/drawing/2014/main" id="{07BC572A-79DC-4E56-B3F0-DCE96D8925BC}"/>
              </a:ext>
            </a:extLst>
          </p:cNvPr>
          <p:cNvSpPr>
            <a:spLocks xmlns:a="http://schemas.openxmlformats.org/drawingml/2006/main" noGrp="1"/>
          </p:cNvSpPr>
          <p:nvPr/>
        </p:nvSpPr>
        <p:spPr>
          <a:xfrm xmlns:a="http://schemas.openxmlformats.org/drawingml/2006/main">
            <a:off x="8172450" y="4705350"/>
            <a:ext cx="316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Specialist report → learning operating model</a:t>
            </a:r>
          </a:p>
        </p:txBody>
      </p:sp>
      <p:sp>
        <p:nvSpPr>
          <p:cNvPr id="37" name="">
            <a:extLst xmlns:a="http://schemas.openxmlformats.org/drawingml/2006/main">
              <a:ext uri="{FF2B5EF4-FFF2-40B4-BE49-F238E27FC236}">
                <a16:creationId xmlns:a16="http://schemas.microsoft.com/office/drawing/2014/main" id="{DE2E3F8B-3800-4A44-905D-7D162B42ECFC}"/>
              </a:ext>
            </a:extLst>
          </p:cNvPr>
          <p:cNvSpPr>
            <a:spLocks xmlns:a="http://schemas.openxmlformats.org/drawingml/2006/main" noGrp="1"/>
          </p:cNvSpPr>
          <p:nvPr/>
        </p:nvSpPr>
        <p:spPr>
          <a:xfrm xmlns:a="http://schemas.openxmlformats.org/drawingml/2006/main">
            <a:off x="8172450" y="5562600"/>
            <a:ext cx="781050" cy="0"/>
          </a:xfrm>
          <a:prstGeom xmlns:a="http://schemas.openxmlformats.org/drawingml/2006/main" prst="line">
            <a:avLst/>
          </a:prstGeom>
          <a:noFill xmlns:a="http://schemas.openxmlformats.org/drawingml/2006/main"/>
          <a:ln xmlns:a="http://schemas.openxmlformats.org/drawingml/2006/main" w="38100">
            <a:solidFill>
              <a:srgbClr val="FF7487"/>
            </a:solidFill>
            <a:prstDash val="solid"/>
          </a:ln>
        </p:spPr>
      </p:sp>
      <p:sp>
        <p:nvSpPr>
          <p:cNvPr id="38" name="">
            <a:extLst xmlns:a="http://schemas.openxmlformats.org/drawingml/2006/main">
              <a:ext uri="{FF2B5EF4-FFF2-40B4-BE49-F238E27FC236}">
                <a16:creationId xmlns:a16="http://schemas.microsoft.com/office/drawing/2014/main" id="{674D1336-CA53-4B9C-9AEA-B27C83D2447E}"/>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06</a:t>
            </a:r>
          </a:p>
        </p:txBody>
      </p:sp>
    </p:spTree>
    <p:extLst>
      <p:ext uri="{BB962C8B-B14F-4D97-AF65-F5344CB8AC3E}">
        <p14:creationId xmlns:p14="http://schemas.microsoft.com/office/powerpoint/2010/main" val="1125279885"/>
      </p:ext>
    </p:extLst>
  </p:cSld>
</p:sld>
</file>

<file path=ppt/slides/slide7.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D69142-34C2-43E1-BB3B-C1D96145C2B6}"/>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D85208A7-6E32-4B00-A06A-7AC20C394E04}"/>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01371421-D43C-4693-9CDF-F72EED784FDE}"/>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2B335BED-9D29-44FF-BC1F-4C4448E4EEC9}"/>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9D71BF61-1947-4C70-85F0-7909230B634F}"/>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CDD670EE-FD6F-4759-ACE4-1F1A64A60212}"/>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EA0A6065-8133-4212-A06D-330B4DEC6627}"/>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DFE022EE-3826-44F6-A5D4-CC8E5C78DE7A}"/>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43AC280B-3553-44C9-A250-FDBBB44E8543}"/>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2A029399-3459-45AB-A43B-E643D5ABBE40}"/>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BC3890D6-7D12-4AB6-AF87-43BD2B36EB2D}"/>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58975223-CBFD-4D17-8670-A5B3A4A08603}"/>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32757EE5-18C5-4010-9D16-415C45ECF199}"/>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0A4230DC-14AE-4889-AE3A-E9538A0850A5}"/>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06BA92D3-6AD4-4E2C-88C8-02C15EE0FF6F}"/>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67C5DD50-2BE3-4981-B708-96E807282DEC}"/>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A188C78F-076C-4665-A994-014112437063}"/>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F4B630D6-D93A-455A-B32A-0E24B3692D79}"/>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9ED9E558-5087-4ED8-88ED-18B063E257AD}"/>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1ABD9ED4-793E-4F1E-9ECA-9D79F38D7DE2}"/>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DB2AC600-8BEB-4546-9CB3-880E0F1348B4}"/>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F2F801A5-0E43-416A-95B3-3B5F3DCA4C85}"/>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DB22B136-B600-4B9E-981B-7C4559ED5280}"/>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3C18F40A-8CF1-4644-94FF-DE8F7C230AFC}"/>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6564FB38-4306-4F70-955C-538A7A982BED}"/>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B157857B-6A5F-4D19-8DA5-75F133F954E9}"/>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A2860986-9AB8-4DC8-BA42-532A9013BF28}"/>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E5CCE80C-81D1-4673-A338-0A8BEF3ACD22}"/>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5165AFA0-CEDA-4254-9112-E468E737CDCA}"/>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40DDD690-5DCA-43B4-BBEA-F59998684C26}"/>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79077166-E472-4FAD-9F02-38ECF1E6FF7C}"/>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A34ABD0-1D5D-4EC9-BD72-9723A995C871}"/>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THE COMPOUNDING MECHANISM</a:t>
            </a:r>
          </a:p>
        </p:txBody>
      </p:sp>
      <p:sp>
        <p:nvSpPr>
          <p:cNvPr id="33" name="">
            <a:extLst xmlns:a="http://schemas.openxmlformats.org/drawingml/2006/main">
              <a:ext uri="{FF2B5EF4-FFF2-40B4-BE49-F238E27FC236}">
                <a16:creationId xmlns:a16="http://schemas.microsoft.com/office/drawing/2014/main" id="{B06F63DD-CF59-49D9-AC85-03324F97A6B7}"/>
              </a:ext>
            </a:extLst>
          </p:cNvPr>
          <p:cNvSpPr>
            <a:spLocks xmlns:a="http://schemas.openxmlformats.org/drawingml/2006/main" noGrp="1"/>
          </p:cNvSpPr>
          <p:nvPr/>
        </p:nvSpPr>
        <p:spPr>
          <a:xfrm xmlns:a="http://schemas.openxmlformats.org/drawingml/2006/main">
            <a:off x="609600" y="781050"/>
            <a:ext cx="9429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7F8F5"/>
                </a:solidFill>
                <a:latin typeface="Avenir Next"/>
                <a:ea typeface="Avenir Next"/>
                <a:cs typeface="Avenir Next"/>
              </a:defRPr>
            </a:pPr>
            <a:r>
              <a:rPr sz="3300" b="1">
                <a:solidFill>
                  <a:srgbClr val="F7F8F5"/>
                </a:solidFill>
                <a:latin typeface="Avenir Next"/>
                <a:ea typeface="Avenir Next"/>
                <a:cs typeface="Avenir Next"/>
              </a:rPr>
              <a:t>Value compounds only when the loop closes.</a:t>
            </a:r>
          </a:p>
        </p:txBody>
      </p:sp>
      <p:sp>
        <p:nvSpPr>
          <p:cNvPr id="34" name="">
            <a:extLst xmlns:a="http://schemas.openxmlformats.org/drawingml/2006/main">
              <a:ext uri="{FF2B5EF4-FFF2-40B4-BE49-F238E27FC236}">
                <a16:creationId xmlns:a16="http://schemas.microsoft.com/office/drawing/2014/main" id="{C0115053-CCD1-4A4A-9BF7-25CDD6FB59D1}"/>
              </a:ext>
            </a:extLst>
          </p:cNvPr>
          <p:cNvSpPr>
            <a:spLocks xmlns:a="http://schemas.openxmlformats.org/drawingml/2006/main" noGrp="1"/>
          </p:cNvSpPr>
          <p:nvPr/>
        </p:nvSpPr>
        <p:spPr>
          <a:xfrm xmlns:a="http://schemas.openxmlformats.org/drawingml/2006/main">
            <a:off x="1352550" y="2781300"/>
            <a:ext cx="1809750" cy="15621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14288">
            <a:solidFill>
              <a:srgbClr val="7AA7FF"/>
            </a:solidFill>
            <a:prstDash val="solid"/>
          </a:ln>
        </p:spPr>
      </p:sp>
      <p:sp>
        <p:nvSpPr>
          <p:cNvPr id="35" name="">
            <a:extLst xmlns:a="http://schemas.openxmlformats.org/drawingml/2006/main">
              <a:ext uri="{FF2B5EF4-FFF2-40B4-BE49-F238E27FC236}">
                <a16:creationId xmlns:a16="http://schemas.microsoft.com/office/drawing/2014/main" id="{B3A7F3B3-71C1-495F-AC72-84234AC93BC7}"/>
              </a:ext>
            </a:extLst>
          </p:cNvPr>
          <p:cNvSpPr>
            <a:spLocks xmlns:a="http://schemas.openxmlformats.org/drawingml/2006/main" noGrp="1"/>
          </p:cNvSpPr>
          <p:nvPr/>
        </p:nvSpPr>
        <p:spPr>
          <a:xfrm xmlns:a="http://schemas.openxmlformats.org/drawingml/2006/main">
            <a:off x="1352550" y="30480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7AA7FF"/>
                </a:solidFill>
                <a:latin typeface="Avenir Next"/>
                <a:ea typeface="Avenir Next"/>
                <a:cs typeface="Avenir Next"/>
              </a:defRPr>
            </a:pPr>
            <a:r>
              <a:rPr sz="825" b="1">
                <a:solidFill>
                  <a:srgbClr val="7AA7FF"/>
                </a:solidFill>
                <a:latin typeface="Avenir Next"/>
                <a:ea typeface="Avenir Next"/>
                <a:cs typeface="Avenir Next"/>
              </a:rPr>
              <a:t>01</a:t>
            </a:r>
          </a:p>
        </p:txBody>
      </p:sp>
      <p:sp>
        <p:nvSpPr>
          <p:cNvPr id="36" name="">
            <a:extLst xmlns:a="http://schemas.openxmlformats.org/drawingml/2006/main">
              <a:ext uri="{FF2B5EF4-FFF2-40B4-BE49-F238E27FC236}">
                <a16:creationId xmlns:a16="http://schemas.microsoft.com/office/drawing/2014/main" id="{EF3DCBA6-483A-48BC-AF5E-08047A81724F}"/>
              </a:ext>
            </a:extLst>
          </p:cNvPr>
          <p:cNvSpPr>
            <a:spLocks xmlns:a="http://schemas.openxmlformats.org/drawingml/2006/main" noGrp="1"/>
          </p:cNvSpPr>
          <p:nvPr/>
        </p:nvSpPr>
        <p:spPr>
          <a:xfrm xmlns:a="http://schemas.openxmlformats.org/drawingml/2006/main">
            <a:off x="1352550" y="33813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7F8F5"/>
                </a:solidFill>
                <a:latin typeface="Avenir Next"/>
                <a:ea typeface="Avenir Next"/>
                <a:cs typeface="Avenir Next"/>
              </a:defRPr>
            </a:pPr>
            <a:r>
              <a:rPr sz="1650" b="1">
                <a:solidFill>
                  <a:srgbClr val="F7F8F5"/>
                </a:solidFill>
                <a:latin typeface="Avenir Next"/>
                <a:ea typeface="Avenir Next"/>
                <a:cs typeface="Avenir Next"/>
              </a:rPr>
              <a:t>SENSE</a:t>
            </a:r>
          </a:p>
        </p:txBody>
      </p:sp>
      <p:sp>
        <p:nvSpPr>
          <p:cNvPr id="37" name="">
            <a:extLst xmlns:a="http://schemas.openxmlformats.org/drawingml/2006/main">
              <a:ext uri="{FF2B5EF4-FFF2-40B4-BE49-F238E27FC236}">
                <a16:creationId xmlns:a16="http://schemas.microsoft.com/office/drawing/2014/main" id="{15963D81-196D-443D-9A41-ECCBD0228ED5}"/>
              </a:ext>
            </a:extLst>
          </p:cNvPr>
          <p:cNvSpPr>
            <a:spLocks xmlns:a="http://schemas.openxmlformats.org/drawingml/2006/main" noGrp="1"/>
          </p:cNvSpPr>
          <p:nvPr/>
        </p:nvSpPr>
        <p:spPr>
          <a:xfrm xmlns:a="http://schemas.openxmlformats.org/drawingml/2006/main">
            <a:off x="1543050" y="3790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9AA8AE"/>
                </a:solidFill>
                <a:latin typeface="Avenir Next"/>
                <a:ea typeface="Avenir Next"/>
                <a:cs typeface="Avenir Next"/>
              </a:defRPr>
            </a:pPr>
            <a:r>
              <a:rPr sz="975" b="0">
                <a:solidFill>
                  <a:srgbClr val="9AA8AE"/>
                </a:solidFill>
                <a:latin typeface="Avenir Next"/>
                <a:ea typeface="Avenir Next"/>
                <a:cs typeface="Avenir Next"/>
              </a:rPr>
              <a:t>signals + state</a:t>
            </a:r>
          </a:p>
        </p:txBody>
      </p:sp>
      <p:sp>
        <p:nvSpPr>
          <p:cNvPr id="38" name="">
            <a:extLst xmlns:a="http://schemas.openxmlformats.org/drawingml/2006/main">
              <a:ext uri="{FF2B5EF4-FFF2-40B4-BE49-F238E27FC236}">
                <a16:creationId xmlns:a16="http://schemas.microsoft.com/office/drawing/2014/main" id="{A56ADFC0-EA86-474E-837B-3CDAFDF67142}"/>
              </a:ext>
            </a:extLst>
          </p:cNvPr>
          <p:cNvSpPr>
            <a:spLocks xmlns:a="http://schemas.openxmlformats.org/drawingml/2006/main" noGrp="1"/>
          </p:cNvSpPr>
          <p:nvPr/>
        </p:nvSpPr>
        <p:spPr>
          <a:xfrm xmlns:a="http://schemas.openxmlformats.org/drawingml/2006/main">
            <a:off x="3295650" y="337185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0">
                <a:solidFill>
                  <a:srgbClr val="9AA8AE"/>
                </a:solidFill>
                <a:latin typeface="Avenir Next"/>
                <a:ea typeface="Avenir Next"/>
                <a:cs typeface="Avenir Next"/>
              </a:defRPr>
            </a:pPr>
            <a:r>
              <a:rPr sz="2250" b="0">
                <a:solidFill>
                  <a:srgbClr val="9AA8AE"/>
                </a:solidFill>
                <a:latin typeface="Avenir Next"/>
                <a:ea typeface="Avenir Next"/>
                <a:cs typeface="Avenir Next"/>
              </a:rPr>
              <a:t>→</a:t>
            </a:r>
          </a:p>
        </p:txBody>
      </p:sp>
      <p:sp>
        <p:nvSpPr>
          <p:cNvPr id="39" name="">
            <a:extLst xmlns:a="http://schemas.openxmlformats.org/drawingml/2006/main">
              <a:ext uri="{FF2B5EF4-FFF2-40B4-BE49-F238E27FC236}">
                <a16:creationId xmlns:a16="http://schemas.microsoft.com/office/drawing/2014/main" id="{68320EB4-9D8C-4DA8-96FE-011DDEEF7CC9}"/>
              </a:ext>
            </a:extLst>
          </p:cNvPr>
          <p:cNvSpPr>
            <a:spLocks xmlns:a="http://schemas.openxmlformats.org/drawingml/2006/main" noGrp="1"/>
          </p:cNvSpPr>
          <p:nvPr/>
        </p:nvSpPr>
        <p:spPr>
          <a:xfrm xmlns:a="http://schemas.openxmlformats.org/drawingml/2006/main">
            <a:off x="3962400" y="2781300"/>
            <a:ext cx="1809750" cy="15621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14288">
            <a:solidFill>
              <a:srgbClr val="51DFE3"/>
            </a:solidFill>
            <a:prstDash val="solid"/>
          </a:ln>
        </p:spPr>
      </p:sp>
      <p:sp>
        <p:nvSpPr>
          <p:cNvPr id="40" name="">
            <a:extLst xmlns:a="http://schemas.openxmlformats.org/drawingml/2006/main">
              <a:ext uri="{FF2B5EF4-FFF2-40B4-BE49-F238E27FC236}">
                <a16:creationId xmlns:a16="http://schemas.microsoft.com/office/drawing/2014/main" id="{198E838A-C958-4374-8048-B6B2E35BD1FF}"/>
              </a:ext>
            </a:extLst>
          </p:cNvPr>
          <p:cNvSpPr>
            <a:spLocks xmlns:a="http://schemas.openxmlformats.org/drawingml/2006/main" noGrp="1"/>
          </p:cNvSpPr>
          <p:nvPr/>
        </p:nvSpPr>
        <p:spPr>
          <a:xfrm xmlns:a="http://schemas.openxmlformats.org/drawingml/2006/main">
            <a:off x="3962400" y="30480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51DFE3"/>
                </a:solidFill>
                <a:latin typeface="Avenir Next"/>
                <a:ea typeface="Avenir Next"/>
                <a:cs typeface="Avenir Next"/>
              </a:defRPr>
            </a:pPr>
            <a:r>
              <a:rPr sz="825" b="1">
                <a:solidFill>
                  <a:srgbClr val="51DFE3"/>
                </a:solidFill>
                <a:latin typeface="Avenir Next"/>
                <a:ea typeface="Avenir Next"/>
                <a:cs typeface="Avenir Next"/>
              </a:rPr>
              <a:t>02</a:t>
            </a:r>
          </a:p>
        </p:txBody>
      </p:sp>
      <p:sp>
        <p:nvSpPr>
          <p:cNvPr id="41" name="">
            <a:extLst xmlns:a="http://schemas.openxmlformats.org/drawingml/2006/main">
              <a:ext uri="{FF2B5EF4-FFF2-40B4-BE49-F238E27FC236}">
                <a16:creationId xmlns:a16="http://schemas.microsoft.com/office/drawing/2014/main" id="{DF58C3EF-914E-40B8-B5D4-113B6254E7D7}"/>
              </a:ext>
            </a:extLst>
          </p:cNvPr>
          <p:cNvSpPr>
            <a:spLocks xmlns:a="http://schemas.openxmlformats.org/drawingml/2006/main" noGrp="1"/>
          </p:cNvSpPr>
          <p:nvPr/>
        </p:nvSpPr>
        <p:spPr>
          <a:xfrm xmlns:a="http://schemas.openxmlformats.org/drawingml/2006/main">
            <a:off x="3962400" y="33813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7F8F5"/>
                </a:solidFill>
                <a:latin typeface="Avenir Next"/>
                <a:ea typeface="Avenir Next"/>
                <a:cs typeface="Avenir Next"/>
              </a:defRPr>
            </a:pPr>
            <a:r>
              <a:rPr sz="1650" b="1">
                <a:solidFill>
                  <a:srgbClr val="F7F8F5"/>
                </a:solidFill>
                <a:latin typeface="Avenir Next"/>
                <a:ea typeface="Avenir Next"/>
                <a:cs typeface="Avenir Next"/>
              </a:rPr>
              <a:t>DECIDE</a:t>
            </a:r>
          </a:p>
        </p:txBody>
      </p:sp>
      <p:sp>
        <p:nvSpPr>
          <p:cNvPr id="42" name="">
            <a:extLst xmlns:a="http://schemas.openxmlformats.org/drawingml/2006/main">
              <a:ext uri="{FF2B5EF4-FFF2-40B4-BE49-F238E27FC236}">
                <a16:creationId xmlns:a16="http://schemas.microsoft.com/office/drawing/2014/main" id="{4718D2D2-C949-4D0D-ACFD-C6A73217632B}"/>
              </a:ext>
            </a:extLst>
          </p:cNvPr>
          <p:cNvSpPr>
            <a:spLocks xmlns:a="http://schemas.openxmlformats.org/drawingml/2006/main" noGrp="1"/>
          </p:cNvSpPr>
          <p:nvPr/>
        </p:nvSpPr>
        <p:spPr>
          <a:xfrm xmlns:a="http://schemas.openxmlformats.org/drawingml/2006/main">
            <a:off x="4152900" y="3790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9AA8AE"/>
                </a:solidFill>
                <a:latin typeface="Avenir Next"/>
                <a:ea typeface="Avenir Next"/>
                <a:cs typeface="Avenir Next"/>
              </a:defRPr>
            </a:pPr>
            <a:r>
              <a:rPr sz="975" b="0">
                <a:solidFill>
                  <a:srgbClr val="9AA8AE"/>
                </a:solidFill>
                <a:latin typeface="Avenir Next"/>
                <a:ea typeface="Avenir Next"/>
                <a:cs typeface="Avenir Next"/>
              </a:rPr>
              <a:t>options + tradeoffs</a:t>
            </a:r>
          </a:p>
        </p:txBody>
      </p:sp>
      <p:sp>
        <p:nvSpPr>
          <p:cNvPr id="43" name="">
            <a:extLst xmlns:a="http://schemas.openxmlformats.org/drawingml/2006/main">
              <a:ext uri="{FF2B5EF4-FFF2-40B4-BE49-F238E27FC236}">
                <a16:creationId xmlns:a16="http://schemas.microsoft.com/office/drawing/2014/main" id="{2DCB0D76-2A5D-45F5-A2A3-12821B7B95FC}"/>
              </a:ext>
            </a:extLst>
          </p:cNvPr>
          <p:cNvSpPr>
            <a:spLocks xmlns:a="http://schemas.openxmlformats.org/drawingml/2006/main" noGrp="1"/>
          </p:cNvSpPr>
          <p:nvPr/>
        </p:nvSpPr>
        <p:spPr>
          <a:xfrm xmlns:a="http://schemas.openxmlformats.org/drawingml/2006/main">
            <a:off x="5905500" y="337185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0">
                <a:solidFill>
                  <a:srgbClr val="9AA8AE"/>
                </a:solidFill>
                <a:latin typeface="Avenir Next"/>
                <a:ea typeface="Avenir Next"/>
                <a:cs typeface="Avenir Next"/>
              </a:defRPr>
            </a:pPr>
            <a:r>
              <a:rPr sz="2250" b="0">
                <a:solidFill>
                  <a:srgbClr val="9AA8AE"/>
                </a:solidFill>
                <a:latin typeface="Avenir Next"/>
                <a:ea typeface="Avenir Next"/>
                <a:cs typeface="Avenir Next"/>
              </a:rPr>
              <a:t>→</a:t>
            </a:r>
          </a:p>
        </p:txBody>
      </p:sp>
      <p:sp>
        <p:nvSpPr>
          <p:cNvPr id="44" name="">
            <a:extLst xmlns:a="http://schemas.openxmlformats.org/drawingml/2006/main">
              <a:ext uri="{FF2B5EF4-FFF2-40B4-BE49-F238E27FC236}">
                <a16:creationId xmlns:a16="http://schemas.microsoft.com/office/drawing/2014/main" id="{3B8907ED-2F38-4FE8-B2DA-58995B87A530}"/>
              </a:ext>
            </a:extLst>
          </p:cNvPr>
          <p:cNvSpPr>
            <a:spLocks xmlns:a="http://schemas.openxmlformats.org/drawingml/2006/main" noGrp="1"/>
          </p:cNvSpPr>
          <p:nvPr/>
        </p:nvSpPr>
        <p:spPr>
          <a:xfrm xmlns:a="http://schemas.openxmlformats.org/drawingml/2006/main">
            <a:off x="6572250" y="2781300"/>
            <a:ext cx="1809750" cy="15621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14288">
            <a:solidFill>
              <a:srgbClr val="F3C668"/>
            </a:solidFill>
            <a:prstDash val="solid"/>
          </a:ln>
        </p:spPr>
      </p:sp>
      <p:sp>
        <p:nvSpPr>
          <p:cNvPr id="45" name="">
            <a:extLst xmlns:a="http://schemas.openxmlformats.org/drawingml/2006/main">
              <a:ext uri="{FF2B5EF4-FFF2-40B4-BE49-F238E27FC236}">
                <a16:creationId xmlns:a16="http://schemas.microsoft.com/office/drawing/2014/main" id="{FAC1EA80-3B1B-466F-A5C4-39036CFEF13F}"/>
              </a:ext>
            </a:extLst>
          </p:cNvPr>
          <p:cNvSpPr>
            <a:spLocks xmlns:a="http://schemas.openxmlformats.org/drawingml/2006/main" noGrp="1"/>
          </p:cNvSpPr>
          <p:nvPr/>
        </p:nvSpPr>
        <p:spPr>
          <a:xfrm xmlns:a="http://schemas.openxmlformats.org/drawingml/2006/main">
            <a:off x="6572250" y="30480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03</a:t>
            </a:r>
          </a:p>
        </p:txBody>
      </p:sp>
      <p:sp>
        <p:nvSpPr>
          <p:cNvPr id="46" name="">
            <a:extLst xmlns:a="http://schemas.openxmlformats.org/drawingml/2006/main">
              <a:ext uri="{FF2B5EF4-FFF2-40B4-BE49-F238E27FC236}">
                <a16:creationId xmlns:a16="http://schemas.microsoft.com/office/drawing/2014/main" id="{9C9E8482-ED4D-457B-9797-F7FF772D7DBB}"/>
              </a:ext>
            </a:extLst>
          </p:cNvPr>
          <p:cNvSpPr>
            <a:spLocks xmlns:a="http://schemas.openxmlformats.org/drawingml/2006/main" noGrp="1"/>
          </p:cNvSpPr>
          <p:nvPr/>
        </p:nvSpPr>
        <p:spPr>
          <a:xfrm xmlns:a="http://schemas.openxmlformats.org/drawingml/2006/main">
            <a:off x="6572250" y="33813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7F8F5"/>
                </a:solidFill>
                <a:latin typeface="Avenir Next"/>
                <a:ea typeface="Avenir Next"/>
                <a:cs typeface="Avenir Next"/>
              </a:defRPr>
            </a:pPr>
            <a:r>
              <a:rPr sz="1650" b="1">
                <a:solidFill>
                  <a:srgbClr val="F7F8F5"/>
                </a:solidFill>
                <a:latin typeface="Avenir Next"/>
                <a:ea typeface="Avenir Next"/>
                <a:cs typeface="Avenir Next"/>
              </a:rPr>
              <a:t>ACT</a:t>
            </a:r>
          </a:p>
        </p:txBody>
      </p:sp>
      <p:sp>
        <p:nvSpPr>
          <p:cNvPr id="47" name="">
            <a:extLst xmlns:a="http://schemas.openxmlformats.org/drawingml/2006/main">
              <a:ext uri="{FF2B5EF4-FFF2-40B4-BE49-F238E27FC236}">
                <a16:creationId xmlns:a16="http://schemas.microsoft.com/office/drawing/2014/main" id="{DD0377F8-F848-466F-9A0D-A78D58875640}"/>
              </a:ext>
            </a:extLst>
          </p:cNvPr>
          <p:cNvSpPr>
            <a:spLocks xmlns:a="http://schemas.openxmlformats.org/drawingml/2006/main" noGrp="1"/>
          </p:cNvSpPr>
          <p:nvPr/>
        </p:nvSpPr>
        <p:spPr>
          <a:xfrm xmlns:a="http://schemas.openxmlformats.org/drawingml/2006/main">
            <a:off x="6762750" y="3790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9AA8AE"/>
                </a:solidFill>
                <a:latin typeface="Avenir Next"/>
                <a:ea typeface="Avenir Next"/>
                <a:cs typeface="Avenir Next"/>
              </a:defRPr>
            </a:pPr>
            <a:r>
              <a:rPr sz="975" b="0">
                <a:solidFill>
                  <a:srgbClr val="9AA8AE"/>
                </a:solidFill>
                <a:latin typeface="Avenir Next"/>
                <a:ea typeface="Avenir Next"/>
                <a:cs typeface="Avenir Next"/>
              </a:rPr>
              <a:t>people + workflow + robot</a:t>
            </a:r>
          </a:p>
        </p:txBody>
      </p:sp>
      <p:sp>
        <p:nvSpPr>
          <p:cNvPr id="48" name="">
            <a:extLst xmlns:a="http://schemas.openxmlformats.org/drawingml/2006/main">
              <a:ext uri="{FF2B5EF4-FFF2-40B4-BE49-F238E27FC236}">
                <a16:creationId xmlns:a16="http://schemas.microsoft.com/office/drawing/2014/main" id="{CF3D5F48-634D-43AB-8994-F56CAB770052}"/>
              </a:ext>
            </a:extLst>
          </p:cNvPr>
          <p:cNvSpPr>
            <a:spLocks xmlns:a="http://schemas.openxmlformats.org/drawingml/2006/main" noGrp="1"/>
          </p:cNvSpPr>
          <p:nvPr/>
        </p:nvSpPr>
        <p:spPr>
          <a:xfrm xmlns:a="http://schemas.openxmlformats.org/drawingml/2006/main">
            <a:off x="8515350" y="337185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0">
                <a:solidFill>
                  <a:srgbClr val="9AA8AE"/>
                </a:solidFill>
                <a:latin typeface="Avenir Next"/>
                <a:ea typeface="Avenir Next"/>
                <a:cs typeface="Avenir Next"/>
              </a:defRPr>
            </a:pPr>
            <a:r>
              <a:rPr sz="2250" b="0">
                <a:solidFill>
                  <a:srgbClr val="9AA8AE"/>
                </a:solidFill>
                <a:latin typeface="Avenir Next"/>
                <a:ea typeface="Avenir Next"/>
                <a:cs typeface="Avenir Next"/>
              </a:rPr>
              <a:t>→</a:t>
            </a:r>
          </a:p>
        </p:txBody>
      </p:sp>
      <p:sp>
        <p:nvSpPr>
          <p:cNvPr id="49" name="">
            <a:extLst xmlns:a="http://schemas.openxmlformats.org/drawingml/2006/main">
              <a:ext uri="{FF2B5EF4-FFF2-40B4-BE49-F238E27FC236}">
                <a16:creationId xmlns:a16="http://schemas.microsoft.com/office/drawing/2014/main" id="{785DCE38-5410-4E58-BF46-8ED2007311E6}"/>
              </a:ext>
            </a:extLst>
          </p:cNvPr>
          <p:cNvSpPr>
            <a:spLocks xmlns:a="http://schemas.openxmlformats.org/drawingml/2006/main" noGrp="1"/>
          </p:cNvSpPr>
          <p:nvPr/>
        </p:nvSpPr>
        <p:spPr>
          <a:xfrm xmlns:a="http://schemas.openxmlformats.org/drawingml/2006/main">
            <a:off x="9182100" y="2781300"/>
            <a:ext cx="1809750" cy="1562100"/>
          </a:xfrm>
          <a:prstGeom xmlns:a="http://schemas.openxmlformats.org/drawingml/2006/main" prst="roundRect">
            <a:avLst>
              <a:gd name="adj" fmla="val 50000"/>
            </a:avLst>
          </a:prstGeom>
          <a:solidFill xmlns:a="http://schemas.openxmlformats.org/drawingml/2006/main">
            <a:srgbClr val="83F3C9"/>
          </a:solidFill>
          <a:ln xmlns:a="http://schemas.openxmlformats.org/drawingml/2006/main" w="14288">
            <a:solidFill>
              <a:srgbClr val="83F3C9"/>
            </a:solidFill>
            <a:prstDash val="solid"/>
          </a:ln>
        </p:spPr>
      </p:sp>
      <p:sp>
        <p:nvSpPr>
          <p:cNvPr id="50" name="">
            <a:extLst xmlns:a="http://schemas.openxmlformats.org/drawingml/2006/main">
              <a:ext uri="{FF2B5EF4-FFF2-40B4-BE49-F238E27FC236}">
                <a16:creationId xmlns:a16="http://schemas.microsoft.com/office/drawing/2014/main" id="{B134AD1A-0C1E-48DD-BEEA-787CB8FEF907}"/>
              </a:ext>
            </a:extLst>
          </p:cNvPr>
          <p:cNvSpPr>
            <a:spLocks xmlns:a="http://schemas.openxmlformats.org/drawingml/2006/main" noGrp="1"/>
          </p:cNvSpPr>
          <p:nvPr/>
        </p:nvSpPr>
        <p:spPr>
          <a:xfrm xmlns:a="http://schemas.openxmlformats.org/drawingml/2006/main">
            <a:off x="9182100" y="304800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04</a:t>
            </a:r>
          </a:p>
        </p:txBody>
      </p:sp>
      <p:sp>
        <p:nvSpPr>
          <p:cNvPr id="51" name="">
            <a:extLst xmlns:a="http://schemas.openxmlformats.org/drawingml/2006/main">
              <a:ext uri="{FF2B5EF4-FFF2-40B4-BE49-F238E27FC236}">
                <a16:creationId xmlns:a16="http://schemas.microsoft.com/office/drawing/2014/main" id="{BE029B49-0F2C-40D8-88CE-C77E8763D3B1}"/>
              </a:ext>
            </a:extLst>
          </p:cNvPr>
          <p:cNvSpPr>
            <a:spLocks xmlns:a="http://schemas.openxmlformats.org/drawingml/2006/main" noGrp="1"/>
          </p:cNvSpPr>
          <p:nvPr/>
        </p:nvSpPr>
        <p:spPr>
          <a:xfrm xmlns:a="http://schemas.openxmlformats.org/drawingml/2006/main">
            <a:off x="9182100" y="33813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B1720"/>
                </a:solidFill>
                <a:latin typeface="Avenir Next"/>
                <a:ea typeface="Avenir Next"/>
                <a:cs typeface="Avenir Next"/>
              </a:defRPr>
            </a:pPr>
            <a:r>
              <a:rPr sz="1650" b="1">
                <a:solidFill>
                  <a:srgbClr val="0B1720"/>
                </a:solidFill>
                <a:latin typeface="Avenir Next"/>
                <a:ea typeface="Avenir Next"/>
                <a:cs typeface="Avenir Next"/>
              </a:rPr>
              <a:t>LEARN</a:t>
            </a:r>
          </a:p>
        </p:txBody>
      </p:sp>
      <p:sp>
        <p:nvSpPr>
          <p:cNvPr id="52" name="">
            <a:extLst xmlns:a="http://schemas.openxmlformats.org/drawingml/2006/main">
              <a:ext uri="{FF2B5EF4-FFF2-40B4-BE49-F238E27FC236}">
                <a16:creationId xmlns:a16="http://schemas.microsoft.com/office/drawing/2014/main" id="{8FEEAAD1-A3F2-45B5-B631-64181C7398AA}"/>
              </a:ext>
            </a:extLst>
          </p:cNvPr>
          <p:cNvSpPr>
            <a:spLocks xmlns:a="http://schemas.openxmlformats.org/drawingml/2006/main" noGrp="1"/>
          </p:cNvSpPr>
          <p:nvPr/>
        </p:nvSpPr>
        <p:spPr>
          <a:xfrm xmlns:a="http://schemas.openxmlformats.org/drawingml/2006/main">
            <a:off x="9372600" y="37909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247B63"/>
                </a:solidFill>
                <a:latin typeface="Avenir Next"/>
                <a:ea typeface="Avenir Next"/>
                <a:cs typeface="Avenir Next"/>
              </a:defRPr>
            </a:pPr>
            <a:r>
              <a:rPr sz="975" b="0">
                <a:solidFill>
                  <a:srgbClr val="247B63"/>
                </a:solidFill>
                <a:latin typeface="Avenir Next"/>
                <a:ea typeface="Avenir Next"/>
                <a:cs typeface="Avenir Next"/>
              </a:rPr>
              <a:t>outcomes + exceptions</a:t>
            </a:r>
          </a:p>
        </p:txBody>
      </p:sp>
      <p:sp>
        <p:nvSpPr>
          <p:cNvPr id="53" name="">
            <a:extLst xmlns:a="http://schemas.openxmlformats.org/drawingml/2006/main">
              <a:ext uri="{FF2B5EF4-FFF2-40B4-BE49-F238E27FC236}">
                <a16:creationId xmlns:a16="http://schemas.microsoft.com/office/drawing/2014/main" id="{81FE1412-14B8-494D-8E9A-4EE4A2DFE9EA}"/>
              </a:ext>
            </a:extLst>
          </p:cNvPr>
          <p:cNvSpPr>
            <a:spLocks xmlns:a="http://schemas.openxmlformats.org/drawingml/2006/main" noGrp="1"/>
          </p:cNvSpPr>
          <p:nvPr/>
        </p:nvSpPr>
        <p:spPr>
          <a:xfrm xmlns:a="http://schemas.openxmlformats.org/drawingml/2006/main">
            <a:off x="5467350" y="4743450"/>
            <a:ext cx="114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0">
                <a:solidFill>
                  <a:srgbClr val="83F3C9"/>
                </a:solidFill>
                <a:latin typeface="Avenir Next"/>
                <a:ea typeface="Avenir Next"/>
                <a:cs typeface="Avenir Next"/>
              </a:defRPr>
            </a:pPr>
            <a:r>
              <a:rPr sz="2850" b="0">
                <a:solidFill>
                  <a:srgbClr val="83F3C9"/>
                </a:solidFill>
                <a:latin typeface="Avenir Next"/>
                <a:ea typeface="Avenir Next"/>
                <a:cs typeface="Avenir Next"/>
              </a:rPr>
              <a:t>←</a:t>
            </a:r>
          </a:p>
        </p:txBody>
      </p:sp>
      <p:sp>
        <p:nvSpPr>
          <p:cNvPr id="54" name="">
            <a:extLst xmlns:a="http://schemas.openxmlformats.org/drawingml/2006/main">
              <a:ext uri="{FF2B5EF4-FFF2-40B4-BE49-F238E27FC236}">
                <a16:creationId xmlns:a16="http://schemas.microsoft.com/office/drawing/2014/main" id="{74BE215E-9C08-42FF-A2CF-A3DAA7BD4BFC}"/>
              </a:ext>
            </a:extLst>
          </p:cNvPr>
          <p:cNvSpPr>
            <a:spLocks xmlns:a="http://schemas.openxmlformats.org/drawingml/2006/main" noGrp="1"/>
          </p:cNvSpPr>
          <p:nvPr/>
        </p:nvSpPr>
        <p:spPr>
          <a:xfrm xmlns:a="http://schemas.openxmlformats.org/drawingml/2006/main">
            <a:off x="3390900" y="52768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83F3C9"/>
                </a:solidFill>
                <a:latin typeface="Avenir Next"/>
                <a:ea typeface="Avenir Next"/>
                <a:cs typeface="Avenir Next"/>
              </a:defRPr>
            </a:pPr>
            <a:r>
              <a:rPr sz="975" b="1">
                <a:solidFill>
                  <a:srgbClr val="83F3C9"/>
                </a:solidFill>
                <a:latin typeface="Avenir Next"/>
                <a:ea typeface="Avenir Next"/>
                <a:cs typeface="Avenir Next"/>
              </a:rPr>
              <a:t>EVERY COMPLETED EPISODE SHOULD IMPROVE THE NEXT DECISION</a:t>
            </a:r>
          </a:p>
        </p:txBody>
      </p:sp>
      <p:sp>
        <p:nvSpPr>
          <p:cNvPr id="55" name="">
            <a:extLst xmlns:a="http://schemas.openxmlformats.org/drawingml/2006/main">
              <a:ext uri="{FF2B5EF4-FFF2-40B4-BE49-F238E27FC236}">
                <a16:creationId xmlns:a16="http://schemas.microsoft.com/office/drawing/2014/main" id="{A858C935-D29C-4B88-8551-1B26581477D9}"/>
              </a:ext>
            </a:extLst>
          </p:cNvPr>
          <p:cNvSpPr>
            <a:spLocks xmlns:a="http://schemas.openxmlformats.org/drawingml/2006/main" noGrp="1"/>
          </p:cNvSpPr>
          <p:nvPr/>
        </p:nvSpPr>
        <p:spPr>
          <a:xfrm xmlns:a="http://schemas.openxmlformats.org/drawingml/2006/main">
            <a:off x="40195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7AA7FF"/>
            </a:solidFill>
            <a:prstDash val="solid"/>
          </a:ln>
        </p:spPr>
      </p:sp>
      <p:sp>
        <p:nvSpPr>
          <p:cNvPr id="56" name="">
            <a:extLst xmlns:a="http://schemas.openxmlformats.org/drawingml/2006/main">
              <a:ext uri="{FF2B5EF4-FFF2-40B4-BE49-F238E27FC236}">
                <a16:creationId xmlns:a16="http://schemas.microsoft.com/office/drawing/2014/main" id="{5BE74151-2464-4897-B9FC-F17D55F4F39B}"/>
              </a:ext>
            </a:extLst>
          </p:cNvPr>
          <p:cNvSpPr>
            <a:spLocks xmlns:a="http://schemas.openxmlformats.org/drawingml/2006/main" noGrp="1"/>
          </p:cNvSpPr>
          <p:nvPr/>
        </p:nvSpPr>
        <p:spPr>
          <a:xfrm xmlns:a="http://schemas.openxmlformats.org/drawingml/2006/main">
            <a:off x="40195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7AA7FF"/>
                </a:solidFill>
                <a:latin typeface="Avenir Next"/>
                <a:ea typeface="Avenir Next"/>
                <a:cs typeface="Avenir Next"/>
              </a:defRPr>
            </a:pPr>
            <a:r>
              <a:rPr sz="750" b="1">
                <a:solidFill>
                  <a:srgbClr val="7AA7FF"/>
                </a:solidFill>
                <a:latin typeface="Avenir Next"/>
                <a:ea typeface="Avenir Next"/>
                <a:cs typeface="Avenir Next"/>
              </a:rPr>
              <a:t>DX</a:t>
            </a:r>
          </a:p>
        </p:txBody>
      </p:sp>
      <p:sp>
        <p:nvSpPr>
          <p:cNvPr id="57" name="">
            <a:extLst xmlns:a="http://schemas.openxmlformats.org/drawingml/2006/main">
              <a:ext uri="{FF2B5EF4-FFF2-40B4-BE49-F238E27FC236}">
                <a16:creationId xmlns:a16="http://schemas.microsoft.com/office/drawing/2014/main" id="{3C1E97CF-C9A6-4149-A131-A64695F26057}"/>
              </a:ext>
            </a:extLst>
          </p:cNvPr>
          <p:cNvSpPr>
            <a:spLocks xmlns:a="http://schemas.openxmlformats.org/drawingml/2006/main" noGrp="1"/>
          </p:cNvSpPr>
          <p:nvPr/>
        </p:nvSpPr>
        <p:spPr>
          <a:xfrm xmlns:a="http://schemas.openxmlformats.org/drawingml/2006/main">
            <a:off x="47434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51DFE3"/>
            </a:solidFill>
            <a:prstDash val="solid"/>
          </a:ln>
        </p:spPr>
      </p:sp>
      <p:sp>
        <p:nvSpPr>
          <p:cNvPr id="58" name="">
            <a:extLst xmlns:a="http://schemas.openxmlformats.org/drawingml/2006/main">
              <a:ext uri="{FF2B5EF4-FFF2-40B4-BE49-F238E27FC236}">
                <a16:creationId xmlns:a16="http://schemas.microsoft.com/office/drawing/2014/main" id="{D58FC29A-C07C-4C7E-BAB4-13E48F1434C3}"/>
              </a:ext>
            </a:extLst>
          </p:cNvPr>
          <p:cNvSpPr>
            <a:spLocks xmlns:a="http://schemas.openxmlformats.org/drawingml/2006/main" noGrp="1"/>
          </p:cNvSpPr>
          <p:nvPr/>
        </p:nvSpPr>
        <p:spPr>
          <a:xfrm xmlns:a="http://schemas.openxmlformats.org/drawingml/2006/main">
            <a:off x="47434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51DFE3"/>
                </a:solidFill>
                <a:latin typeface="Avenir Next"/>
                <a:ea typeface="Avenir Next"/>
                <a:cs typeface="Avenir Next"/>
              </a:defRPr>
            </a:pPr>
            <a:r>
              <a:rPr sz="750" b="1">
                <a:solidFill>
                  <a:srgbClr val="51DFE3"/>
                </a:solidFill>
                <a:latin typeface="Avenir Next"/>
                <a:ea typeface="Avenir Next"/>
                <a:cs typeface="Avenir Next"/>
              </a:rPr>
              <a:t>FD</a:t>
            </a:r>
          </a:p>
        </p:txBody>
      </p:sp>
      <p:sp>
        <p:nvSpPr>
          <p:cNvPr id="59" name="">
            <a:extLst xmlns:a="http://schemas.openxmlformats.org/drawingml/2006/main">
              <a:ext uri="{FF2B5EF4-FFF2-40B4-BE49-F238E27FC236}">
                <a16:creationId xmlns:a16="http://schemas.microsoft.com/office/drawing/2014/main" id="{7630F918-5AF2-47D3-B3F3-7DE467E9DC6B}"/>
              </a:ext>
            </a:extLst>
          </p:cNvPr>
          <p:cNvSpPr>
            <a:spLocks xmlns:a="http://schemas.openxmlformats.org/drawingml/2006/main" noGrp="1"/>
          </p:cNvSpPr>
          <p:nvPr/>
        </p:nvSpPr>
        <p:spPr>
          <a:xfrm xmlns:a="http://schemas.openxmlformats.org/drawingml/2006/main">
            <a:off x="54673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F3C668"/>
            </a:solidFill>
            <a:prstDash val="solid"/>
          </a:ln>
        </p:spPr>
      </p:sp>
      <p:sp>
        <p:nvSpPr>
          <p:cNvPr id="60" name="">
            <a:extLst xmlns:a="http://schemas.openxmlformats.org/drawingml/2006/main">
              <a:ext uri="{FF2B5EF4-FFF2-40B4-BE49-F238E27FC236}">
                <a16:creationId xmlns:a16="http://schemas.microsoft.com/office/drawing/2014/main" id="{D74D4E04-4EED-4217-BB84-BF0647BBC212}"/>
              </a:ext>
            </a:extLst>
          </p:cNvPr>
          <p:cNvSpPr>
            <a:spLocks xmlns:a="http://schemas.openxmlformats.org/drawingml/2006/main" noGrp="1"/>
          </p:cNvSpPr>
          <p:nvPr/>
        </p:nvSpPr>
        <p:spPr>
          <a:xfrm xmlns:a="http://schemas.openxmlformats.org/drawingml/2006/main">
            <a:off x="54673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F3C668"/>
                </a:solidFill>
                <a:latin typeface="Avenir Next"/>
                <a:ea typeface="Avenir Next"/>
                <a:cs typeface="Avenir Next"/>
              </a:defRPr>
            </a:pPr>
            <a:r>
              <a:rPr sz="750" b="1">
                <a:solidFill>
                  <a:srgbClr val="F3C668"/>
                </a:solidFill>
                <a:latin typeface="Avenir Next"/>
                <a:ea typeface="Avenir Next"/>
                <a:cs typeface="Avenir Next"/>
              </a:rPr>
              <a:t>RX</a:t>
            </a:r>
          </a:p>
        </p:txBody>
      </p:sp>
      <p:sp>
        <p:nvSpPr>
          <p:cNvPr id="61" name="">
            <a:extLst xmlns:a="http://schemas.openxmlformats.org/drawingml/2006/main">
              <a:ext uri="{FF2B5EF4-FFF2-40B4-BE49-F238E27FC236}">
                <a16:creationId xmlns:a16="http://schemas.microsoft.com/office/drawing/2014/main" id="{8D5B2062-02C1-4237-AAB0-B83810F517E2}"/>
              </a:ext>
            </a:extLst>
          </p:cNvPr>
          <p:cNvSpPr>
            <a:spLocks xmlns:a="http://schemas.openxmlformats.org/drawingml/2006/main" noGrp="1"/>
          </p:cNvSpPr>
          <p:nvPr/>
        </p:nvSpPr>
        <p:spPr>
          <a:xfrm xmlns:a="http://schemas.openxmlformats.org/drawingml/2006/main">
            <a:off x="61912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60D799"/>
            </a:solidFill>
            <a:prstDash val="solid"/>
          </a:ln>
        </p:spPr>
      </p:sp>
      <p:sp>
        <p:nvSpPr>
          <p:cNvPr id="62" name="">
            <a:extLst xmlns:a="http://schemas.openxmlformats.org/drawingml/2006/main">
              <a:ext uri="{FF2B5EF4-FFF2-40B4-BE49-F238E27FC236}">
                <a16:creationId xmlns:a16="http://schemas.microsoft.com/office/drawing/2014/main" id="{057187BD-FD40-4AD5-907A-5B7167E72AD7}"/>
              </a:ext>
            </a:extLst>
          </p:cNvPr>
          <p:cNvSpPr>
            <a:spLocks xmlns:a="http://schemas.openxmlformats.org/drawingml/2006/main" noGrp="1"/>
          </p:cNvSpPr>
          <p:nvPr/>
        </p:nvSpPr>
        <p:spPr>
          <a:xfrm xmlns:a="http://schemas.openxmlformats.org/drawingml/2006/main">
            <a:off x="61912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60D799"/>
                </a:solidFill>
                <a:latin typeface="Avenir Next"/>
                <a:ea typeface="Avenir Next"/>
                <a:cs typeface="Avenir Next"/>
              </a:defRPr>
            </a:pPr>
            <a:r>
              <a:rPr sz="750" b="1">
                <a:solidFill>
                  <a:srgbClr val="60D799"/>
                </a:solidFill>
                <a:latin typeface="Avenir Next"/>
                <a:ea typeface="Avenir Next"/>
                <a:cs typeface="Avenir Next"/>
              </a:rPr>
              <a:t>LC</a:t>
            </a:r>
          </a:p>
        </p:txBody>
      </p:sp>
      <p:sp>
        <p:nvSpPr>
          <p:cNvPr id="63" name="">
            <a:extLst xmlns:a="http://schemas.openxmlformats.org/drawingml/2006/main">
              <a:ext uri="{FF2B5EF4-FFF2-40B4-BE49-F238E27FC236}">
                <a16:creationId xmlns:a16="http://schemas.microsoft.com/office/drawing/2014/main" id="{C7B2D5D6-678D-46DF-B7F1-C078C0ED23D7}"/>
              </a:ext>
            </a:extLst>
          </p:cNvPr>
          <p:cNvSpPr>
            <a:spLocks xmlns:a="http://schemas.openxmlformats.org/drawingml/2006/main" noGrp="1"/>
          </p:cNvSpPr>
          <p:nvPr/>
        </p:nvSpPr>
        <p:spPr>
          <a:xfrm xmlns:a="http://schemas.openxmlformats.org/drawingml/2006/main">
            <a:off x="69151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AA91FF"/>
            </a:solidFill>
            <a:prstDash val="solid"/>
          </a:ln>
        </p:spPr>
      </p:sp>
      <p:sp>
        <p:nvSpPr>
          <p:cNvPr id="64" name="">
            <a:extLst xmlns:a="http://schemas.openxmlformats.org/drawingml/2006/main">
              <a:ext uri="{FF2B5EF4-FFF2-40B4-BE49-F238E27FC236}">
                <a16:creationId xmlns:a16="http://schemas.microsoft.com/office/drawing/2014/main" id="{493411E1-5C72-4058-9141-33A9CB3ED745}"/>
              </a:ext>
            </a:extLst>
          </p:cNvPr>
          <p:cNvSpPr>
            <a:spLocks xmlns:a="http://schemas.openxmlformats.org/drawingml/2006/main" noGrp="1"/>
          </p:cNvSpPr>
          <p:nvPr/>
        </p:nvSpPr>
        <p:spPr>
          <a:xfrm xmlns:a="http://schemas.openxmlformats.org/drawingml/2006/main">
            <a:off x="69151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AA91FF"/>
                </a:solidFill>
                <a:latin typeface="Avenir Next"/>
                <a:ea typeface="Avenir Next"/>
                <a:cs typeface="Avenir Next"/>
              </a:defRPr>
            </a:pPr>
            <a:r>
              <a:rPr sz="750" b="1">
                <a:solidFill>
                  <a:srgbClr val="AA91FF"/>
                </a:solidFill>
                <a:latin typeface="Avenir Next"/>
                <a:ea typeface="Avenir Next"/>
                <a:cs typeface="Avenir Next"/>
              </a:rPr>
              <a:t>TA</a:t>
            </a:r>
          </a:p>
        </p:txBody>
      </p:sp>
      <p:sp>
        <p:nvSpPr>
          <p:cNvPr id="65" name="">
            <a:extLst xmlns:a="http://schemas.openxmlformats.org/drawingml/2006/main">
              <a:ext uri="{FF2B5EF4-FFF2-40B4-BE49-F238E27FC236}">
                <a16:creationId xmlns:a16="http://schemas.microsoft.com/office/drawing/2014/main" id="{329B20F1-5DB4-41A4-9FE9-8B369D91D41F}"/>
              </a:ext>
            </a:extLst>
          </p:cNvPr>
          <p:cNvSpPr>
            <a:spLocks xmlns:a="http://schemas.openxmlformats.org/drawingml/2006/main" noGrp="1"/>
          </p:cNvSpPr>
          <p:nvPr/>
        </p:nvSpPr>
        <p:spPr>
          <a:xfrm xmlns:a="http://schemas.openxmlformats.org/drawingml/2006/main">
            <a:off x="7639050" y="5867400"/>
            <a:ext cx="552450" cy="266700"/>
          </a:xfrm>
          <a:prstGeom xmlns:a="http://schemas.openxmlformats.org/drawingml/2006/main" prst="roundRect">
            <a:avLst>
              <a:gd name="adj" fmla="val 50000"/>
            </a:avLst>
          </a:prstGeom>
          <a:solidFill xmlns:a="http://schemas.openxmlformats.org/drawingml/2006/main">
            <a:srgbClr val="0E222C"/>
          </a:solidFill>
          <a:ln xmlns:a="http://schemas.openxmlformats.org/drawingml/2006/main" w="9525">
            <a:solidFill>
              <a:srgbClr val="FF7487"/>
            </a:solidFill>
            <a:prstDash val="solid"/>
          </a:ln>
        </p:spPr>
      </p:sp>
      <p:sp>
        <p:nvSpPr>
          <p:cNvPr id="66" name="">
            <a:extLst xmlns:a="http://schemas.openxmlformats.org/drawingml/2006/main">
              <a:ext uri="{FF2B5EF4-FFF2-40B4-BE49-F238E27FC236}">
                <a16:creationId xmlns:a16="http://schemas.microsoft.com/office/drawing/2014/main" id="{3889CF3C-E4AF-496A-AD91-CE63730D55AE}"/>
              </a:ext>
            </a:extLst>
          </p:cNvPr>
          <p:cNvSpPr>
            <a:spLocks xmlns:a="http://schemas.openxmlformats.org/drawingml/2006/main" noGrp="1"/>
          </p:cNvSpPr>
          <p:nvPr/>
        </p:nvSpPr>
        <p:spPr>
          <a:xfrm xmlns:a="http://schemas.openxmlformats.org/drawingml/2006/main">
            <a:off x="7639050" y="58674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FF7487"/>
                </a:solidFill>
                <a:latin typeface="Avenir Next"/>
                <a:ea typeface="Avenir Next"/>
                <a:cs typeface="Avenir Next"/>
              </a:defRPr>
            </a:pPr>
            <a:r>
              <a:rPr sz="750" b="1">
                <a:solidFill>
                  <a:srgbClr val="FF7487"/>
                </a:solidFill>
                <a:latin typeface="Avenir Next"/>
                <a:ea typeface="Avenir Next"/>
                <a:cs typeface="Avenir Next"/>
              </a:rPr>
              <a:t>PM</a:t>
            </a:r>
          </a:p>
        </p:txBody>
      </p:sp>
      <p:sp>
        <p:nvSpPr>
          <p:cNvPr id="67" name="">
            <a:extLst xmlns:a="http://schemas.openxmlformats.org/drawingml/2006/main">
              <a:ext uri="{FF2B5EF4-FFF2-40B4-BE49-F238E27FC236}">
                <a16:creationId xmlns:a16="http://schemas.microsoft.com/office/drawing/2014/main" id="{FA3E8E33-625D-4268-A599-73D2C0C86858}"/>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07</a:t>
            </a:r>
          </a:p>
        </p:txBody>
      </p:sp>
    </p:spTree>
    <p:extLst>
      <p:ext uri="{BB962C8B-B14F-4D97-AF65-F5344CB8AC3E}">
        <p14:creationId xmlns:p14="http://schemas.microsoft.com/office/powerpoint/2010/main" val="1747051872"/>
      </p:ext>
    </p:extLst>
  </p:cSld>
</p:sld>
</file>

<file path=ppt/slides/slide8.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08f84f0625504d0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DEA0ADE-A275-4CAA-9CF8-311A0E5A5A86}"/>
              </a:ext>
            </a:extLst>
          </p:cNvPr>
          <p:cNvSpPr>
            <a:spLocks xmlns:a="http://schemas.openxmlformats.org/drawingml/2006/main" noGrp="1"/>
          </p:cNvSpPr>
          <p:nvPr/>
        </p:nvSpPr>
        <p:spPr>
          <a:xfrm xmlns:a="http://schemas.openxmlformats.org/drawingml/2006/main">
            <a:off x="11258550" y="65151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750" b="1">
                <a:solidFill>
                  <a:srgbClr val="6F858D"/>
                </a:solidFill>
                <a:latin typeface="Avenir Next"/>
                <a:ea typeface="Avenir Next"/>
                <a:cs typeface="Avenir Next"/>
              </a:defRPr>
            </a:pPr>
            <a:r>
              <a:rPr sz="750" b="1">
                <a:solidFill>
                  <a:srgbClr val="6F858D"/>
                </a:solidFill>
                <a:latin typeface="Avenir Next"/>
                <a:ea typeface="Avenir Next"/>
                <a:cs typeface="Avenir Next"/>
              </a:rPr>
              <a:t>08</a:t>
            </a:r>
          </a:p>
        </p:txBody>
      </p:sp>
    </p:spTree>
    <p:extLst>
      <p:ext uri="{BB962C8B-B14F-4D97-AF65-F5344CB8AC3E}">
        <p14:creationId xmlns:p14="http://schemas.microsoft.com/office/powerpoint/2010/main" val="2103473323"/>
      </p:ext>
    </p:extLst>
  </p:cSld>
</p:sld>
</file>

<file path=ppt/slides/slide9.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601162-521F-4598-838D-06EE050018E3}"/>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1DB7996F-3FF3-46EB-848F-B7CA17F40237}"/>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1B4443E9-F765-430B-BFC9-F718F7F4B9E4}"/>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7A434934-039C-4FCC-8070-32423BD00E31}"/>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8791A454-F7CD-4606-ABFD-9ACC2FBC4D9F}"/>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C756391B-39F3-4760-B961-895BA1FC3E67}"/>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3150F248-F7E8-4F14-84FE-5DCD968E00C5}"/>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EA96F01C-B6A9-450F-BC34-D9FDD6E5B062}"/>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962371CA-C756-42EA-938E-A07167EF41EA}"/>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718B9DD8-6636-46C9-9AE1-50B1A903EDE4}"/>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6CF38B8D-8EEF-4E1E-BBB7-5868FECDAF10}"/>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7E12CCC0-004E-4CA5-AEAF-E550D01727FD}"/>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2A4C0F06-4764-4A05-9342-E626C7A0945B}"/>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AA5EEBC5-0AAF-4313-A715-ED5D9D06D18C}"/>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C9C514E6-A7BB-4780-96E1-F3147BCC93F2}"/>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1542C1B2-88AA-49EF-9BA9-04C10AA1BD7C}"/>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72B3F9AD-2D11-408E-AFE3-D12F35A5299B}"/>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466100E0-6AAC-4D42-8E73-15C34D2E1F11}"/>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8C9F3D9B-95AB-41CB-96E8-011389984033}"/>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AADBDD86-B8AA-42A9-8211-BC3E76FA2493}"/>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57FC9A58-862E-407E-831D-0C8472C16FAB}"/>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E0EA4796-483C-4340-930D-31270BE8106F}"/>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43198E15-B02A-4D93-959D-4323F44A1526}"/>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51B7902A-8C15-4D19-8CF3-43DC5077EC13}"/>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2C886F27-6B5D-46CD-A334-74D53EEB4857}"/>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52D8953D-9A5A-425C-BEBA-FD33B72ED4D3}"/>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BA879302-48B3-4246-A698-03C3859149E5}"/>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418FA05E-8AF0-4C11-ACEE-2FF3D3E967D7}"/>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F75A849F-0E55-41CA-9E6E-9A5D8F4E8ED9}"/>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0BDA1B90-8B0D-457A-BD01-42C428A958B9}"/>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C5ED22AE-D1D8-4ED6-9473-8F8EADF0577C}"/>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70F4922-A1B3-4149-B444-00BBE2CA7331}"/>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CASE 7B · ROBOTIC PARTIAL NEPHRECTOMY</a:t>
            </a:r>
          </a:p>
        </p:txBody>
      </p:sp>
      <p:sp>
        <p:nvSpPr>
          <p:cNvPr id="33" name="">
            <a:extLst xmlns:a="http://schemas.openxmlformats.org/drawingml/2006/main">
              <a:ext uri="{FF2B5EF4-FFF2-40B4-BE49-F238E27FC236}">
                <a16:creationId xmlns:a16="http://schemas.microsoft.com/office/drawing/2014/main" id="{4F7A4F8D-88D0-42C1-AA25-513C067B7168}"/>
              </a:ext>
            </a:extLst>
          </p:cNvPr>
          <p:cNvSpPr>
            <a:spLocks xmlns:a="http://schemas.openxmlformats.org/drawingml/2006/main" noGrp="1"/>
          </p:cNvSpPr>
          <p:nvPr/>
        </p:nvSpPr>
        <p:spPr>
          <a:xfrm xmlns:a="http://schemas.openxmlformats.org/drawingml/2006/main">
            <a:off x="609600" y="781050"/>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7F8F5"/>
                </a:solidFill>
                <a:latin typeface="Avenir Next"/>
                <a:ea typeface="Avenir Next"/>
                <a:cs typeface="Avenir Next"/>
              </a:defRPr>
            </a:pPr>
            <a:r>
              <a:rPr sz="3300" b="1">
                <a:solidFill>
                  <a:srgbClr val="F7F8F5"/>
                </a:solidFill>
                <a:latin typeface="Avenir Next"/>
                <a:ea typeface="Avenir Next"/>
                <a:cs typeface="Avenir Next"/>
              </a:rPr>
              <a:t>Four handoffs can still strand one robotic case.</a:t>
            </a:r>
          </a:p>
        </p:txBody>
      </p:sp>
      <p:sp>
        <p:nvSpPr>
          <p:cNvPr id="34" name="">
            <a:extLst xmlns:a="http://schemas.openxmlformats.org/drawingml/2006/main">
              <a:ext uri="{FF2B5EF4-FFF2-40B4-BE49-F238E27FC236}">
                <a16:creationId xmlns:a16="http://schemas.microsoft.com/office/drawing/2014/main" id="{B29C3BF5-C84A-4159-83FB-C2FDFABEB701}"/>
              </a:ext>
            </a:extLst>
          </p:cNvPr>
          <p:cNvSpPr>
            <a:spLocks xmlns:a="http://schemas.openxmlformats.org/drawingml/2006/main" noGrp="1"/>
          </p:cNvSpPr>
          <p:nvPr/>
        </p:nvSpPr>
        <p:spPr>
          <a:xfrm xmlns:a="http://schemas.openxmlformats.org/drawingml/2006/main">
            <a:off x="609600" y="14097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9AA8AE"/>
                </a:solidFill>
                <a:latin typeface="Avenir Next"/>
                <a:ea typeface="Avenir Next"/>
                <a:cs typeface="Avenir Next"/>
              </a:defRPr>
            </a:pPr>
            <a:r>
              <a:rPr sz="1500" b="0">
                <a:solidFill>
                  <a:srgbClr val="9AA8AE"/>
                </a:solidFill>
                <a:latin typeface="Avenir Next"/>
                <a:ea typeface="Avenir Next"/>
                <a:cs typeface="Avenir Next"/>
              </a:rPr>
              <a:t>The robot and surgeon are booked. Ordinary coordination failures still threaten the episode.</a:t>
            </a:r>
          </a:p>
        </p:txBody>
      </p:sp>
      <p:sp>
        <p:nvSpPr>
          <p:cNvPr id="35" name="">
            <a:extLst xmlns:a="http://schemas.openxmlformats.org/drawingml/2006/main">
              <a:ext uri="{FF2B5EF4-FFF2-40B4-BE49-F238E27FC236}">
                <a16:creationId xmlns:a16="http://schemas.microsoft.com/office/drawing/2014/main" id="{E741A989-B4CD-4973-8E8F-5D96AD5945D8}"/>
              </a:ext>
            </a:extLst>
          </p:cNvPr>
          <p:cNvSpPr>
            <a:spLocks xmlns:a="http://schemas.openxmlformats.org/drawingml/2006/main" noGrp="1"/>
          </p:cNvSpPr>
          <p:nvPr/>
        </p:nvSpPr>
        <p:spPr>
          <a:xfrm xmlns:a="http://schemas.openxmlformats.org/drawingml/2006/main">
            <a:off x="609600" y="2266950"/>
            <a:ext cx="10972800" cy="666750"/>
          </a:xfrm>
          <a:prstGeom xmlns:a="http://schemas.openxmlformats.org/drawingml/2006/main" prst="roundRect">
            <a:avLst>
              <a:gd name="adj" fmla="val 20000"/>
            </a:avLst>
          </a:prstGeom>
          <a:solidFill xmlns:a="http://schemas.openxmlformats.org/drawingml/2006/main">
            <a:srgbClr val="0E222C"/>
          </a:solidFill>
          <a:ln xmlns:a="http://schemas.openxmlformats.org/drawingml/2006/main" w="9525">
            <a:solidFill>
              <a:srgbClr val="28404A"/>
            </a:solidFill>
            <a:prstDash val="solid"/>
          </a:ln>
        </p:spPr>
      </p:sp>
      <p:sp>
        <p:nvSpPr>
          <p:cNvPr id="36" name="">
            <a:extLst xmlns:a="http://schemas.openxmlformats.org/drawingml/2006/main">
              <a:ext uri="{FF2B5EF4-FFF2-40B4-BE49-F238E27FC236}">
                <a16:creationId xmlns:a16="http://schemas.microsoft.com/office/drawing/2014/main" id="{7DA94998-3833-40CB-862F-E8961381B299}"/>
              </a:ext>
            </a:extLst>
          </p:cNvPr>
          <p:cNvSpPr>
            <a:spLocks xmlns:a="http://schemas.openxmlformats.org/drawingml/2006/main" noGrp="1"/>
          </p:cNvSpPr>
          <p:nvPr/>
        </p:nvSpPr>
        <p:spPr>
          <a:xfrm xmlns:a="http://schemas.openxmlformats.org/drawingml/2006/main">
            <a:off x="819150" y="2524125"/>
            <a:ext cx="133350" cy="133350"/>
          </a:xfrm>
          <a:prstGeom xmlns:a="http://schemas.openxmlformats.org/drawingml/2006/main" prst="ellipse">
            <a:avLst/>
          </a:prstGeom>
          <a:solidFill xmlns:a="http://schemas.openxmlformats.org/drawingml/2006/main">
            <a:srgbClr val="FF7487"/>
          </a:solidFill>
          <a:ln xmlns:a="http://schemas.openxmlformats.org/drawingml/2006/main" w="28575">
            <a:solidFill>
              <a:srgbClr val="07131C"/>
            </a:solidFill>
            <a:prstDash val="solid"/>
          </a:ln>
        </p:spPr>
      </p:sp>
      <p:sp>
        <p:nvSpPr>
          <p:cNvPr id="37" name="">
            <a:extLst xmlns:a="http://schemas.openxmlformats.org/drawingml/2006/main">
              <a:ext uri="{FF2B5EF4-FFF2-40B4-BE49-F238E27FC236}">
                <a16:creationId xmlns:a16="http://schemas.microsoft.com/office/drawing/2014/main" id="{84C1D88D-FE19-4DD8-A67B-1EA5BC24469A}"/>
              </a:ext>
            </a:extLst>
          </p:cNvPr>
          <p:cNvSpPr>
            <a:spLocks xmlns:a="http://schemas.openxmlformats.org/drawingml/2006/main" noGrp="1"/>
          </p:cNvSpPr>
          <p:nvPr/>
        </p:nvSpPr>
        <p:spPr>
          <a:xfrm xmlns:a="http://schemas.openxmlformats.org/drawingml/2006/main">
            <a:off x="1162050" y="2266950"/>
            <a:ext cx="1295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FF7487"/>
                </a:solidFill>
                <a:latin typeface="Avenir Next"/>
                <a:ea typeface="Avenir Next"/>
                <a:cs typeface="Avenir Next"/>
              </a:defRPr>
            </a:pPr>
            <a:r>
              <a:rPr sz="825" b="1">
                <a:solidFill>
                  <a:srgbClr val="FF7487"/>
                </a:solidFill>
                <a:latin typeface="Avenir Next"/>
                <a:ea typeface="Avenir Next"/>
                <a:cs typeface="Avenir Next"/>
              </a:rPr>
              <a:t>ACCESS</a:t>
            </a:r>
          </a:p>
        </p:txBody>
      </p:sp>
      <p:sp>
        <p:nvSpPr>
          <p:cNvPr id="38" name="">
            <a:extLst xmlns:a="http://schemas.openxmlformats.org/drawingml/2006/main">
              <a:ext uri="{FF2B5EF4-FFF2-40B4-BE49-F238E27FC236}">
                <a16:creationId xmlns:a16="http://schemas.microsoft.com/office/drawing/2014/main" id="{5D920A00-D311-4A66-96FB-5ECA8F24B10D}"/>
              </a:ext>
            </a:extLst>
          </p:cNvPr>
          <p:cNvSpPr>
            <a:spLocks xmlns:a="http://schemas.openxmlformats.org/drawingml/2006/main" noGrp="1"/>
          </p:cNvSpPr>
          <p:nvPr/>
        </p:nvSpPr>
        <p:spPr>
          <a:xfrm xmlns:a="http://schemas.openxmlformats.org/drawingml/2006/main">
            <a:off x="2571750" y="2266950"/>
            <a:ext cx="628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F7F8F5"/>
                </a:solidFill>
                <a:latin typeface="Avenir Next"/>
                <a:ea typeface="Avenir Next"/>
                <a:cs typeface="Avenir Next"/>
              </a:defRPr>
            </a:pPr>
            <a:r>
              <a:rPr sz="1500" b="1">
                <a:solidFill>
                  <a:srgbClr val="F7F8F5"/>
                </a:solidFill>
                <a:latin typeface="Avenir Next"/>
                <a:ea typeface="Avenir Next"/>
                <a:cs typeface="Avenir Next"/>
              </a:rPr>
              <a:t>Authorization evidence requested</a:t>
            </a:r>
          </a:p>
        </p:txBody>
      </p:sp>
      <p:sp>
        <p:nvSpPr>
          <p:cNvPr id="39" name="">
            <a:extLst xmlns:a="http://schemas.openxmlformats.org/drawingml/2006/main">
              <a:ext uri="{FF2B5EF4-FFF2-40B4-BE49-F238E27FC236}">
                <a16:creationId xmlns:a16="http://schemas.microsoft.com/office/drawing/2014/main" id="{A750B903-174E-4023-A373-A75D25A63B92}"/>
              </a:ext>
            </a:extLst>
          </p:cNvPr>
          <p:cNvSpPr>
            <a:spLocks xmlns:a="http://schemas.openxmlformats.org/drawingml/2006/main" noGrp="1"/>
          </p:cNvSpPr>
          <p:nvPr/>
        </p:nvSpPr>
        <p:spPr>
          <a:xfrm xmlns:a="http://schemas.openxmlformats.org/drawingml/2006/main">
            <a:off x="9086850" y="22669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0">
                <a:solidFill>
                  <a:srgbClr val="9AA8AE"/>
                </a:solidFill>
                <a:latin typeface="Avenir Next"/>
                <a:ea typeface="Avenir Next"/>
                <a:cs typeface="Avenir Next"/>
              </a:defRPr>
            </a:pPr>
            <a:r>
              <a:rPr sz="900" b="0">
                <a:solidFill>
                  <a:srgbClr val="9AA8AE"/>
                </a:solidFill>
                <a:latin typeface="Avenir Next"/>
                <a:ea typeface="Avenir Next"/>
                <a:cs typeface="Avenir Next"/>
              </a:rPr>
              <a:t>Payer API · 4 min</a:t>
            </a:r>
          </a:p>
        </p:txBody>
      </p:sp>
      <p:sp>
        <p:nvSpPr>
          <p:cNvPr id="40" name="">
            <a:extLst xmlns:a="http://schemas.openxmlformats.org/drawingml/2006/main">
              <a:ext uri="{FF2B5EF4-FFF2-40B4-BE49-F238E27FC236}">
                <a16:creationId xmlns:a16="http://schemas.microsoft.com/office/drawing/2014/main" id="{2EAAE9A8-4CF4-4FD7-9008-954F832F55C7}"/>
              </a:ext>
            </a:extLst>
          </p:cNvPr>
          <p:cNvSpPr>
            <a:spLocks xmlns:a="http://schemas.openxmlformats.org/drawingml/2006/main" noGrp="1"/>
          </p:cNvSpPr>
          <p:nvPr/>
        </p:nvSpPr>
        <p:spPr>
          <a:xfrm xmlns:a="http://schemas.openxmlformats.org/drawingml/2006/main">
            <a:off x="609600" y="3143250"/>
            <a:ext cx="10972800" cy="666750"/>
          </a:xfrm>
          <a:prstGeom xmlns:a="http://schemas.openxmlformats.org/drawingml/2006/main" prst="roundRect">
            <a:avLst>
              <a:gd name="adj" fmla="val 20000"/>
            </a:avLst>
          </a:prstGeom>
          <a:solidFill xmlns:a="http://schemas.openxmlformats.org/drawingml/2006/main">
            <a:srgbClr val="0E222C"/>
          </a:solidFill>
          <a:ln xmlns:a="http://schemas.openxmlformats.org/drawingml/2006/main" w="9525">
            <a:solidFill>
              <a:srgbClr val="28404A"/>
            </a:solidFill>
            <a:prstDash val="solid"/>
          </a:ln>
        </p:spPr>
      </p:sp>
      <p:sp>
        <p:nvSpPr>
          <p:cNvPr id="41" name="">
            <a:extLst xmlns:a="http://schemas.openxmlformats.org/drawingml/2006/main">
              <a:ext uri="{FF2B5EF4-FFF2-40B4-BE49-F238E27FC236}">
                <a16:creationId xmlns:a16="http://schemas.microsoft.com/office/drawing/2014/main" id="{4E6EA7E6-D932-498A-96CA-01C4FB24075A}"/>
              </a:ext>
            </a:extLst>
          </p:cNvPr>
          <p:cNvSpPr>
            <a:spLocks xmlns:a="http://schemas.openxmlformats.org/drawingml/2006/main" noGrp="1"/>
          </p:cNvSpPr>
          <p:nvPr/>
        </p:nvSpPr>
        <p:spPr>
          <a:xfrm xmlns:a="http://schemas.openxmlformats.org/drawingml/2006/main">
            <a:off x="819150" y="3400425"/>
            <a:ext cx="133350" cy="133350"/>
          </a:xfrm>
          <a:prstGeom xmlns:a="http://schemas.openxmlformats.org/drawingml/2006/main" prst="ellipse">
            <a:avLst/>
          </a:prstGeom>
          <a:solidFill xmlns:a="http://schemas.openxmlformats.org/drawingml/2006/main">
            <a:srgbClr val="F3C668"/>
          </a:solidFill>
          <a:ln xmlns:a="http://schemas.openxmlformats.org/drawingml/2006/main" w="28575">
            <a:solidFill>
              <a:srgbClr val="07131C"/>
            </a:solidFill>
            <a:prstDash val="solid"/>
          </a:ln>
        </p:spPr>
      </p:sp>
      <p:sp>
        <p:nvSpPr>
          <p:cNvPr id="42" name="">
            <a:extLst xmlns:a="http://schemas.openxmlformats.org/drawingml/2006/main">
              <a:ext uri="{FF2B5EF4-FFF2-40B4-BE49-F238E27FC236}">
                <a16:creationId xmlns:a16="http://schemas.microsoft.com/office/drawing/2014/main" id="{A4BF0146-327C-4E20-95FB-684AB50D2040}"/>
              </a:ext>
            </a:extLst>
          </p:cNvPr>
          <p:cNvSpPr>
            <a:spLocks xmlns:a="http://schemas.openxmlformats.org/drawingml/2006/main" noGrp="1"/>
          </p:cNvSpPr>
          <p:nvPr/>
        </p:nvSpPr>
        <p:spPr>
          <a:xfrm xmlns:a="http://schemas.openxmlformats.org/drawingml/2006/main">
            <a:off x="1162050" y="3143250"/>
            <a:ext cx="1295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READINESS</a:t>
            </a:r>
          </a:p>
        </p:txBody>
      </p:sp>
      <p:sp>
        <p:nvSpPr>
          <p:cNvPr id="43" name="">
            <a:extLst xmlns:a="http://schemas.openxmlformats.org/drawingml/2006/main">
              <a:ext uri="{FF2B5EF4-FFF2-40B4-BE49-F238E27FC236}">
                <a16:creationId xmlns:a16="http://schemas.microsoft.com/office/drawing/2014/main" id="{8254ACCB-1155-4877-8A80-13EB277D989F}"/>
              </a:ext>
            </a:extLst>
          </p:cNvPr>
          <p:cNvSpPr>
            <a:spLocks xmlns:a="http://schemas.openxmlformats.org/drawingml/2006/main" noGrp="1"/>
          </p:cNvSpPr>
          <p:nvPr/>
        </p:nvSpPr>
        <p:spPr>
          <a:xfrm xmlns:a="http://schemas.openxmlformats.org/drawingml/2006/main">
            <a:off x="2571750" y="3143250"/>
            <a:ext cx="628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F7F8F5"/>
                </a:solidFill>
                <a:latin typeface="Avenir Next"/>
                <a:ea typeface="Avenir Next"/>
                <a:cs typeface="Avenir Next"/>
              </a:defRPr>
            </a:pPr>
            <a:r>
              <a:rPr sz="1500" b="1">
                <a:solidFill>
                  <a:srgbClr val="F7F8F5"/>
                </a:solidFill>
                <a:latin typeface="Avenir Next"/>
                <a:ea typeface="Avenir Next"/>
                <a:cs typeface="Avenir Next"/>
              </a:rPr>
              <a:t>Pre-op lab still pending</a:t>
            </a:r>
          </a:p>
        </p:txBody>
      </p:sp>
      <p:sp>
        <p:nvSpPr>
          <p:cNvPr id="44" name="">
            <a:extLst xmlns:a="http://schemas.openxmlformats.org/drawingml/2006/main">
              <a:ext uri="{FF2B5EF4-FFF2-40B4-BE49-F238E27FC236}">
                <a16:creationId xmlns:a16="http://schemas.microsoft.com/office/drawing/2014/main" id="{0FA6B8E2-0485-4856-BCB4-0C794CC41C7F}"/>
              </a:ext>
            </a:extLst>
          </p:cNvPr>
          <p:cNvSpPr>
            <a:spLocks xmlns:a="http://schemas.openxmlformats.org/drawingml/2006/main" noGrp="1"/>
          </p:cNvSpPr>
          <p:nvPr/>
        </p:nvSpPr>
        <p:spPr>
          <a:xfrm xmlns:a="http://schemas.openxmlformats.org/drawingml/2006/main">
            <a:off x="9086850" y="31432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0">
                <a:solidFill>
                  <a:srgbClr val="9AA8AE"/>
                </a:solidFill>
                <a:latin typeface="Avenir Next"/>
                <a:ea typeface="Avenir Next"/>
                <a:cs typeface="Avenir Next"/>
              </a:defRPr>
            </a:pPr>
            <a:r>
              <a:rPr sz="900" b="0">
                <a:solidFill>
                  <a:srgbClr val="9AA8AE"/>
                </a:solidFill>
                <a:latin typeface="Avenir Next"/>
                <a:ea typeface="Avenir Next"/>
                <a:cs typeface="Avenir Next"/>
              </a:rPr>
              <a:t>LIS · 21 min</a:t>
            </a:r>
          </a:p>
        </p:txBody>
      </p:sp>
      <p:sp>
        <p:nvSpPr>
          <p:cNvPr id="45" name="">
            <a:extLst xmlns:a="http://schemas.openxmlformats.org/drawingml/2006/main">
              <a:ext uri="{FF2B5EF4-FFF2-40B4-BE49-F238E27FC236}">
                <a16:creationId xmlns:a16="http://schemas.microsoft.com/office/drawing/2014/main" id="{C62C5929-E3B5-4E52-A190-DE5B8450B668}"/>
              </a:ext>
            </a:extLst>
          </p:cNvPr>
          <p:cNvSpPr>
            <a:spLocks xmlns:a="http://schemas.openxmlformats.org/drawingml/2006/main" noGrp="1"/>
          </p:cNvSpPr>
          <p:nvPr/>
        </p:nvSpPr>
        <p:spPr>
          <a:xfrm xmlns:a="http://schemas.openxmlformats.org/drawingml/2006/main">
            <a:off x="609600" y="4019550"/>
            <a:ext cx="10972800" cy="666750"/>
          </a:xfrm>
          <a:prstGeom xmlns:a="http://schemas.openxmlformats.org/drawingml/2006/main" prst="roundRect">
            <a:avLst>
              <a:gd name="adj" fmla="val 20000"/>
            </a:avLst>
          </a:prstGeom>
          <a:solidFill xmlns:a="http://schemas.openxmlformats.org/drawingml/2006/main">
            <a:srgbClr val="0E222C"/>
          </a:solidFill>
          <a:ln xmlns:a="http://schemas.openxmlformats.org/drawingml/2006/main" w="9525">
            <a:solidFill>
              <a:srgbClr val="28404A"/>
            </a:solidFill>
            <a:prstDash val="solid"/>
          </a:ln>
        </p:spPr>
      </p:sp>
      <p:sp>
        <p:nvSpPr>
          <p:cNvPr id="46" name="">
            <a:extLst xmlns:a="http://schemas.openxmlformats.org/drawingml/2006/main">
              <a:ext uri="{FF2B5EF4-FFF2-40B4-BE49-F238E27FC236}">
                <a16:creationId xmlns:a16="http://schemas.microsoft.com/office/drawing/2014/main" id="{D5D93D35-566F-4EB7-8051-B94DFDDF6D42}"/>
              </a:ext>
            </a:extLst>
          </p:cNvPr>
          <p:cNvSpPr>
            <a:spLocks xmlns:a="http://schemas.openxmlformats.org/drawingml/2006/main" noGrp="1"/>
          </p:cNvSpPr>
          <p:nvPr/>
        </p:nvSpPr>
        <p:spPr>
          <a:xfrm xmlns:a="http://schemas.openxmlformats.org/drawingml/2006/main">
            <a:off x="819150" y="4276725"/>
            <a:ext cx="133350" cy="133350"/>
          </a:xfrm>
          <a:prstGeom xmlns:a="http://schemas.openxmlformats.org/drawingml/2006/main" prst="ellipse">
            <a:avLst/>
          </a:prstGeom>
          <a:solidFill xmlns:a="http://schemas.openxmlformats.org/drawingml/2006/main">
            <a:srgbClr val="FF7487"/>
          </a:solidFill>
          <a:ln xmlns:a="http://schemas.openxmlformats.org/drawingml/2006/main" w="28575">
            <a:solidFill>
              <a:srgbClr val="07131C"/>
            </a:solidFill>
            <a:prstDash val="solid"/>
          </a:ln>
        </p:spPr>
      </p:sp>
      <p:sp>
        <p:nvSpPr>
          <p:cNvPr id="47" name="">
            <a:extLst xmlns:a="http://schemas.openxmlformats.org/drawingml/2006/main">
              <a:ext uri="{FF2B5EF4-FFF2-40B4-BE49-F238E27FC236}">
                <a16:creationId xmlns:a16="http://schemas.microsoft.com/office/drawing/2014/main" id="{C826E2AB-33E1-455E-B088-C5D2AA7477DD}"/>
              </a:ext>
            </a:extLst>
          </p:cNvPr>
          <p:cNvSpPr>
            <a:spLocks xmlns:a="http://schemas.openxmlformats.org/drawingml/2006/main" noGrp="1"/>
          </p:cNvSpPr>
          <p:nvPr/>
        </p:nvSpPr>
        <p:spPr>
          <a:xfrm xmlns:a="http://schemas.openxmlformats.org/drawingml/2006/main">
            <a:off x="1162050" y="4019550"/>
            <a:ext cx="1295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FF7487"/>
                </a:solidFill>
                <a:latin typeface="Avenir Next"/>
                <a:ea typeface="Avenir Next"/>
                <a:cs typeface="Avenir Next"/>
              </a:defRPr>
            </a:pPr>
            <a:r>
              <a:rPr sz="825" b="1">
                <a:solidFill>
                  <a:srgbClr val="FF7487"/>
                </a:solidFill>
                <a:latin typeface="Avenir Next"/>
                <a:ea typeface="Avenir Next"/>
                <a:cs typeface="Avenir Next"/>
              </a:rPr>
              <a:t>CAPACITY</a:t>
            </a:r>
          </a:p>
        </p:txBody>
      </p:sp>
      <p:sp>
        <p:nvSpPr>
          <p:cNvPr id="48" name="">
            <a:extLst xmlns:a="http://schemas.openxmlformats.org/drawingml/2006/main">
              <a:ext uri="{FF2B5EF4-FFF2-40B4-BE49-F238E27FC236}">
                <a16:creationId xmlns:a16="http://schemas.microsoft.com/office/drawing/2014/main" id="{F4FF3143-9E92-400A-83C6-124AAFC6B785}"/>
              </a:ext>
            </a:extLst>
          </p:cNvPr>
          <p:cNvSpPr>
            <a:spLocks xmlns:a="http://schemas.openxmlformats.org/drawingml/2006/main" noGrp="1"/>
          </p:cNvSpPr>
          <p:nvPr/>
        </p:nvSpPr>
        <p:spPr>
          <a:xfrm xmlns:a="http://schemas.openxmlformats.org/drawingml/2006/main">
            <a:off x="2571750" y="4019550"/>
            <a:ext cx="628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F7F8F5"/>
                </a:solidFill>
                <a:latin typeface="Avenir Next"/>
                <a:ea typeface="Avenir Next"/>
                <a:cs typeface="Avenir Next"/>
              </a:defRPr>
            </a:pPr>
            <a:r>
              <a:rPr sz="1500" b="1">
                <a:solidFill>
                  <a:srgbClr val="F7F8F5"/>
                </a:solidFill>
                <a:latin typeface="Avenir Next"/>
                <a:ea typeface="Avenir Next"/>
                <a:cs typeface="Avenir Next"/>
              </a:rPr>
              <a:t>Credentialed scrub coverage gap</a:t>
            </a:r>
          </a:p>
        </p:txBody>
      </p:sp>
      <p:sp>
        <p:nvSpPr>
          <p:cNvPr id="49" name="">
            <a:extLst xmlns:a="http://schemas.openxmlformats.org/drawingml/2006/main">
              <a:ext uri="{FF2B5EF4-FFF2-40B4-BE49-F238E27FC236}">
                <a16:creationId xmlns:a16="http://schemas.microsoft.com/office/drawing/2014/main" id="{D495F8FF-9F15-4738-A0C0-D606B053A52D}"/>
              </a:ext>
            </a:extLst>
          </p:cNvPr>
          <p:cNvSpPr>
            <a:spLocks xmlns:a="http://schemas.openxmlformats.org/drawingml/2006/main" noGrp="1"/>
          </p:cNvSpPr>
          <p:nvPr/>
        </p:nvSpPr>
        <p:spPr>
          <a:xfrm xmlns:a="http://schemas.openxmlformats.org/drawingml/2006/main">
            <a:off x="9086850" y="40195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0">
                <a:solidFill>
                  <a:srgbClr val="9AA8AE"/>
                </a:solidFill>
                <a:latin typeface="Avenir Next"/>
                <a:ea typeface="Avenir Next"/>
                <a:cs typeface="Avenir Next"/>
              </a:defRPr>
            </a:pPr>
            <a:r>
              <a:rPr sz="900" b="0">
                <a:solidFill>
                  <a:srgbClr val="9AA8AE"/>
                </a:solidFill>
                <a:latin typeface="Avenir Next"/>
                <a:ea typeface="Avenir Next"/>
                <a:cs typeface="Avenir Next"/>
              </a:rPr>
              <a:t>Workforce · live</a:t>
            </a:r>
          </a:p>
        </p:txBody>
      </p:sp>
      <p:sp>
        <p:nvSpPr>
          <p:cNvPr id="50" name="">
            <a:extLst xmlns:a="http://schemas.openxmlformats.org/drawingml/2006/main">
              <a:ext uri="{FF2B5EF4-FFF2-40B4-BE49-F238E27FC236}">
                <a16:creationId xmlns:a16="http://schemas.microsoft.com/office/drawing/2014/main" id="{8DF16514-DEBE-43ED-9EB0-4E7A733E0AF7}"/>
              </a:ext>
            </a:extLst>
          </p:cNvPr>
          <p:cNvSpPr>
            <a:spLocks xmlns:a="http://schemas.openxmlformats.org/drawingml/2006/main" noGrp="1"/>
          </p:cNvSpPr>
          <p:nvPr/>
        </p:nvSpPr>
        <p:spPr>
          <a:xfrm xmlns:a="http://schemas.openxmlformats.org/drawingml/2006/main">
            <a:off x="609600" y="4895850"/>
            <a:ext cx="10972800" cy="666750"/>
          </a:xfrm>
          <a:prstGeom xmlns:a="http://schemas.openxmlformats.org/drawingml/2006/main" prst="roundRect">
            <a:avLst>
              <a:gd name="adj" fmla="val 20000"/>
            </a:avLst>
          </a:prstGeom>
          <a:solidFill xmlns:a="http://schemas.openxmlformats.org/drawingml/2006/main">
            <a:srgbClr val="0E222C"/>
          </a:solidFill>
          <a:ln xmlns:a="http://schemas.openxmlformats.org/drawingml/2006/main" w="9525">
            <a:solidFill>
              <a:srgbClr val="28404A"/>
            </a:solidFill>
            <a:prstDash val="solid"/>
          </a:ln>
        </p:spPr>
      </p:sp>
      <p:sp>
        <p:nvSpPr>
          <p:cNvPr id="51" name="">
            <a:extLst xmlns:a="http://schemas.openxmlformats.org/drawingml/2006/main">
              <a:ext uri="{FF2B5EF4-FFF2-40B4-BE49-F238E27FC236}">
                <a16:creationId xmlns:a16="http://schemas.microsoft.com/office/drawing/2014/main" id="{53DC40AD-AA1E-4A3A-8168-06D4399D635F}"/>
              </a:ext>
            </a:extLst>
          </p:cNvPr>
          <p:cNvSpPr>
            <a:spLocks xmlns:a="http://schemas.openxmlformats.org/drawingml/2006/main" noGrp="1"/>
          </p:cNvSpPr>
          <p:nvPr/>
        </p:nvSpPr>
        <p:spPr>
          <a:xfrm xmlns:a="http://schemas.openxmlformats.org/drawingml/2006/main">
            <a:off x="819150" y="5153025"/>
            <a:ext cx="133350" cy="133350"/>
          </a:xfrm>
          <a:prstGeom xmlns:a="http://schemas.openxmlformats.org/drawingml/2006/main" prst="ellipse">
            <a:avLst/>
          </a:prstGeom>
          <a:solidFill xmlns:a="http://schemas.openxmlformats.org/drawingml/2006/main">
            <a:srgbClr val="F3C668"/>
          </a:solidFill>
          <a:ln xmlns:a="http://schemas.openxmlformats.org/drawingml/2006/main" w="28575">
            <a:solidFill>
              <a:srgbClr val="07131C"/>
            </a:solidFill>
            <a:prstDash val="solid"/>
          </a:ln>
        </p:spPr>
      </p:sp>
      <p:sp>
        <p:nvSpPr>
          <p:cNvPr id="52" name="">
            <a:extLst xmlns:a="http://schemas.openxmlformats.org/drawingml/2006/main">
              <a:ext uri="{FF2B5EF4-FFF2-40B4-BE49-F238E27FC236}">
                <a16:creationId xmlns:a16="http://schemas.microsoft.com/office/drawing/2014/main" id="{5A32915F-3FE5-4B56-9815-1502D1F43AAB}"/>
              </a:ext>
            </a:extLst>
          </p:cNvPr>
          <p:cNvSpPr>
            <a:spLocks xmlns:a="http://schemas.openxmlformats.org/drawingml/2006/main" noGrp="1"/>
          </p:cNvSpPr>
          <p:nvPr/>
        </p:nvSpPr>
        <p:spPr>
          <a:xfrm xmlns:a="http://schemas.openxmlformats.org/drawingml/2006/main">
            <a:off x="1162050" y="4895850"/>
            <a:ext cx="1295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FLOW</a:t>
            </a:r>
          </a:p>
        </p:txBody>
      </p:sp>
      <p:sp>
        <p:nvSpPr>
          <p:cNvPr id="53" name="">
            <a:extLst xmlns:a="http://schemas.openxmlformats.org/drawingml/2006/main">
              <a:ext uri="{FF2B5EF4-FFF2-40B4-BE49-F238E27FC236}">
                <a16:creationId xmlns:a16="http://schemas.microsoft.com/office/drawing/2014/main" id="{ACA2E197-7F98-461A-B3AA-B59FBAF35406}"/>
              </a:ext>
            </a:extLst>
          </p:cNvPr>
          <p:cNvSpPr>
            <a:spLocks xmlns:a="http://schemas.openxmlformats.org/drawingml/2006/main" noGrp="1"/>
          </p:cNvSpPr>
          <p:nvPr/>
        </p:nvSpPr>
        <p:spPr>
          <a:xfrm xmlns:a="http://schemas.openxmlformats.org/drawingml/2006/main">
            <a:off x="2571750" y="4895850"/>
            <a:ext cx="628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00" b="1">
                <a:solidFill>
                  <a:srgbClr val="F7F8F5"/>
                </a:solidFill>
                <a:latin typeface="Avenir Next"/>
                <a:ea typeface="Avenir Next"/>
                <a:cs typeface="Avenir Next"/>
              </a:defRPr>
            </a:pPr>
            <a:r>
              <a:rPr sz="1500" b="1">
                <a:solidFill>
                  <a:srgbClr val="F7F8F5"/>
                </a:solidFill>
                <a:latin typeface="Avenir Next"/>
                <a:ea typeface="Avenir Next"/>
                <a:cs typeface="Avenir Next"/>
              </a:rPr>
              <a:t>Only one staffed critical-care bed</a:t>
            </a:r>
          </a:p>
        </p:txBody>
      </p:sp>
      <p:sp>
        <p:nvSpPr>
          <p:cNvPr id="54" name="">
            <a:extLst xmlns:a="http://schemas.openxmlformats.org/drawingml/2006/main">
              <a:ext uri="{FF2B5EF4-FFF2-40B4-BE49-F238E27FC236}">
                <a16:creationId xmlns:a16="http://schemas.microsoft.com/office/drawing/2014/main" id="{FDDDC26D-8E89-4B75-9A6C-42A4906BFD8A}"/>
              </a:ext>
            </a:extLst>
          </p:cNvPr>
          <p:cNvSpPr>
            <a:spLocks xmlns:a="http://schemas.openxmlformats.org/drawingml/2006/main" noGrp="1"/>
          </p:cNvSpPr>
          <p:nvPr/>
        </p:nvSpPr>
        <p:spPr>
          <a:xfrm xmlns:a="http://schemas.openxmlformats.org/drawingml/2006/main">
            <a:off x="9086850" y="48958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900" b="0">
                <a:solidFill>
                  <a:srgbClr val="9AA8AE"/>
                </a:solidFill>
                <a:latin typeface="Avenir Next"/>
                <a:ea typeface="Avenir Next"/>
                <a:cs typeface="Avenir Next"/>
              </a:defRPr>
            </a:pPr>
            <a:r>
              <a:rPr sz="900" b="0">
                <a:solidFill>
                  <a:srgbClr val="9AA8AE"/>
                </a:solidFill>
                <a:latin typeface="Avenir Next"/>
                <a:ea typeface="Avenir Next"/>
                <a:cs typeface="Avenir Next"/>
              </a:rPr>
              <a:t>Bed command · live</a:t>
            </a:r>
          </a:p>
        </p:txBody>
      </p:sp>
      <p:sp>
        <p:nvSpPr>
          <p:cNvPr id="55" name="">
            <a:extLst xmlns:a="http://schemas.openxmlformats.org/drawingml/2006/main">
              <a:ext uri="{FF2B5EF4-FFF2-40B4-BE49-F238E27FC236}">
                <a16:creationId xmlns:a16="http://schemas.microsoft.com/office/drawing/2014/main" id="{D878836C-9FA6-4540-8946-5692DF759840}"/>
              </a:ext>
            </a:extLst>
          </p:cNvPr>
          <p:cNvSpPr>
            <a:spLocks xmlns:a="http://schemas.openxmlformats.org/drawingml/2006/main" noGrp="1"/>
          </p:cNvSpPr>
          <p:nvPr/>
        </p:nvSpPr>
        <p:spPr>
          <a:xfrm xmlns:a="http://schemas.openxmlformats.org/drawingml/2006/main">
            <a:off x="609600" y="5962650"/>
            <a:ext cx="1790700" cy="285750"/>
          </a:xfrm>
          <a:prstGeom xmlns:a="http://schemas.openxmlformats.org/drawingml/2006/main" prst="roundRect">
            <a:avLst>
              <a:gd name="adj" fmla="val 50000"/>
            </a:avLst>
          </a:prstGeom>
          <a:solidFill xmlns:a="http://schemas.openxmlformats.org/drawingml/2006/main">
            <a:srgbClr val="15313C"/>
          </a:solidFill>
          <a:ln xmlns:a="http://schemas.openxmlformats.org/drawingml/2006/main" w="9525">
            <a:solidFill>
              <a:srgbClr val="28404A"/>
            </a:solidFill>
            <a:prstDash val="solid"/>
          </a:ln>
        </p:spPr>
      </p:sp>
      <p:sp>
        <p:nvSpPr>
          <p:cNvPr id="56" name="">
            <a:extLst xmlns:a="http://schemas.openxmlformats.org/drawingml/2006/main">
              <a:ext uri="{FF2B5EF4-FFF2-40B4-BE49-F238E27FC236}">
                <a16:creationId xmlns:a16="http://schemas.microsoft.com/office/drawing/2014/main" id="{251BB736-F997-4850-8CB2-EE4CF0FC8134}"/>
              </a:ext>
            </a:extLst>
          </p:cNvPr>
          <p:cNvSpPr>
            <a:spLocks xmlns:a="http://schemas.openxmlformats.org/drawingml/2006/main" noGrp="1"/>
          </p:cNvSpPr>
          <p:nvPr/>
        </p:nvSpPr>
        <p:spPr>
          <a:xfrm xmlns:a="http://schemas.openxmlformats.org/drawingml/2006/main">
            <a:off x="609600" y="59626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83F3C9"/>
                </a:solidFill>
                <a:latin typeface="Avenir Next"/>
                <a:ea typeface="Avenir Next"/>
                <a:cs typeface="Avenir Next"/>
              </a:defRPr>
            </a:pPr>
            <a:r>
              <a:rPr sz="750" b="1">
                <a:solidFill>
                  <a:srgbClr val="83F3C9"/>
                </a:solidFill>
                <a:latin typeface="Avenir Next"/>
                <a:ea typeface="Avenir Next"/>
                <a:cs typeface="Avenir Next"/>
              </a:rPr>
              <a:t>47H 36M TO INCISION</a:t>
            </a:r>
          </a:p>
        </p:txBody>
      </p:sp>
      <p:sp>
        <p:nvSpPr>
          <p:cNvPr id="57" name="">
            <a:extLst xmlns:a="http://schemas.openxmlformats.org/drawingml/2006/main">
              <a:ext uri="{FF2B5EF4-FFF2-40B4-BE49-F238E27FC236}">
                <a16:creationId xmlns:a16="http://schemas.microsoft.com/office/drawing/2014/main" id="{91AAB944-2868-427B-86ED-CF1430DA6899}"/>
              </a:ext>
            </a:extLst>
          </p:cNvPr>
          <p:cNvSpPr>
            <a:spLocks xmlns:a="http://schemas.openxmlformats.org/drawingml/2006/main" noGrp="1"/>
          </p:cNvSpPr>
          <p:nvPr/>
        </p:nvSpPr>
        <p:spPr>
          <a:xfrm xmlns:a="http://schemas.openxmlformats.org/drawingml/2006/main">
            <a:off x="9334500" y="600075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AA8AE"/>
                </a:solidFill>
                <a:latin typeface="Avenir Next"/>
                <a:ea typeface="Avenir Next"/>
                <a:cs typeface="Avenir Next"/>
              </a:defRPr>
            </a:pPr>
            <a:r>
              <a:rPr sz="825" b="0">
                <a:solidFill>
                  <a:srgbClr val="9AA8AE"/>
                </a:solidFill>
                <a:latin typeface="Avenir Next"/>
                <a:ea typeface="Avenir Next"/>
                <a:cs typeface="Avenir Next"/>
              </a:rPr>
              <a:t>Synthetic case · no patient data</a:t>
            </a:r>
          </a:p>
        </p:txBody>
      </p:sp>
      <p:sp>
        <p:nvSpPr>
          <p:cNvPr id="58" name="">
            <a:extLst xmlns:a="http://schemas.openxmlformats.org/drawingml/2006/main">
              <a:ext uri="{FF2B5EF4-FFF2-40B4-BE49-F238E27FC236}">
                <a16:creationId xmlns:a16="http://schemas.microsoft.com/office/drawing/2014/main" id="{46FCF36B-5B16-402B-88F6-D38F4553A9B3}"/>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09</a:t>
            </a:r>
          </a:p>
        </p:txBody>
      </p:sp>
    </p:spTree>
    <p:extLst>
      <p:ext uri="{BB962C8B-B14F-4D97-AF65-F5344CB8AC3E}">
        <p14:creationId xmlns:p14="http://schemas.microsoft.com/office/powerpoint/2010/main" val="1499763095"/>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36EB36-42CC-4BDE-BFAB-0245D39D77E0}"/>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5930A1-9D37-4202-912F-DB80AA20639C}"/>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GOVERNED AGENT LOOP</a:t>
            </a:r>
          </a:p>
        </p:txBody>
      </p:sp>
      <p:sp>
        <p:nvSpPr>
          <p:cNvPr id="3" name="">
            <a:extLst xmlns:a="http://schemas.openxmlformats.org/drawingml/2006/main">
              <a:ext uri="{FF2B5EF4-FFF2-40B4-BE49-F238E27FC236}">
                <a16:creationId xmlns:a16="http://schemas.microsoft.com/office/drawing/2014/main" id="{ED16D731-ED13-4636-A2DE-B73B554CD150}"/>
              </a:ext>
            </a:extLst>
          </p:cNvPr>
          <p:cNvSpPr>
            <a:spLocks xmlns:a="http://schemas.openxmlformats.org/drawingml/2006/main" noGrp="1"/>
          </p:cNvSpPr>
          <p:nvPr/>
        </p:nvSpPr>
        <p:spPr>
          <a:xfrm xmlns:a="http://schemas.openxmlformats.org/drawingml/2006/main">
            <a:off x="609600" y="781050"/>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0B1720"/>
                </a:solidFill>
                <a:latin typeface="Avenir Next"/>
                <a:ea typeface="Avenir Next"/>
                <a:cs typeface="Avenir Next"/>
              </a:defRPr>
            </a:pPr>
            <a:r>
              <a:rPr sz="3300" b="1">
                <a:solidFill>
                  <a:srgbClr val="0B1720"/>
                </a:solidFill>
                <a:latin typeface="Avenir Next"/>
                <a:ea typeface="Avenir Next"/>
                <a:cs typeface="Avenir Next"/>
              </a:rPr>
              <a:t>Not a chat window. A governed decision system.</a:t>
            </a:r>
          </a:p>
        </p:txBody>
      </p:sp>
      <p:sp>
        <p:nvSpPr>
          <p:cNvPr id="4" name="">
            <a:extLst xmlns:a="http://schemas.openxmlformats.org/drawingml/2006/main">
              <a:ext uri="{FF2B5EF4-FFF2-40B4-BE49-F238E27FC236}">
                <a16:creationId xmlns:a16="http://schemas.microsoft.com/office/drawing/2014/main" id="{F5B4BA74-EFE9-4691-B5BF-83DBBC21AB3D}"/>
              </a:ext>
            </a:extLst>
          </p:cNvPr>
          <p:cNvSpPr>
            <a:spLocks xmlns:a="http://schemas.openxmlformats.org/drawingml/2006/main" noGrp="1"/>
          </p:cNvSpPr>
          <p:nvPr/>
        </p:nvSpPr>
        <p:spPr>
          <a:xfrm xmlns:a="http://schemas.openxmlformats.org/drawingml/2006/main">
            <a:off x="609600" y="14097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47B63"/>
                </a:solidFill>
                <a:latin typeface="Avenir Next"/>
                <a:ea typeface="Avenir Next"/>
                <a:cs typeface="Avenir Next"/>
              </a:defRPr>
            </a:pPr>
            <a:r>
              <a:rPr sz="1350" b="1">
                <a:solidFill>
                  <a:srgbClr val="247B63"/>
                </a:solidFill>
                <a:latin typeface="Avenir Next"/>
                <a:ea typeface="Avenir Next"/>
                <a:cs typeface="Avenir Next"/>
              </a:rPr>
              <a:t>Goal + policy + permissions + stop conditions → one constrained plan</a:t>
            </a:r>
          </a:p>
        </p:txBody>
      </p:sp>
      <p:sp>
        <p:nvSpPr>
          <p:cNvPr id="5" name="">
            <a:extLst xmlns:a="http://schemas.openxmlformats.org/drawingml/2006/main">
              <a:ext uri="{FF2B5EF4-FFF2-40B4-BE49-F238E27FC236}">
                <a16:creationId xmlns:a16="http://schemas.microsoft.com/office/drawing/2014/main" id="{2BAC9552-EF93-42C0-BF33-55D21D97441E}"/>
              </a:ext>
            </a:extLst>
          </p:cNvPr>
          <p:cNvSpPr>
            <a:spLocks xmlns:a="http://schemas.openxmlformats.org/drawingml/2006/main" noGrp="1"/>
          </p:cNvSpPr>
          <p:nvPr/>
        </p:nvSpPr>
        <p:spPr>
          <a:xfrm xmlns:a="http://schemas.openxmlformats.org/drawingml/2006/main">
            <a:off x="609600" y="21526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51DFE3"/>
            </a:solidFill>
            <a:prstDash val="solid"/>
          </a:ln>
        </p:spPr>
      </p:sp>
      <p:sp>
        <p:nvSpPr>
          <p:cNvPr id="6" name="">
            <a:extLst xmlns:a="http://schemas.openxmlformats.org/drawingml/2006/main">
              <a:ext uri="{FF2B5EF4-FFF2-40B4-BE49-F238E27FC236}">
                <a16:creationId xmlns:a16="http://schemas.microsoft.com/office/drawing/2014/main" id="{440ADDB4-2EDB-4B3E-AA84-D2DAAF6BC8D2}"/>
              </a:ext>
            </a:extLst>
          </p:cNvPr>
          <p:cNvSpPr>
            <a:spLocks xmlns:a="http://schemas.openxmlformats.org/drawingml/2006/main" noGrp="1"/>
          </p:cNvSpPr>
          <p:nvPr/>
        </p:nvSpPr>
        <p:spPr>
          <a:xfrm xmlns:a="http://schemas.openxmlformats.org/drawingml/2006/main">
            <a:off x="609600" y="21526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51DFE3"/>
                </a:solidFill>
                <a:latin typeface="Avenir Next"/>
                <a:ea typeface="Avenir Next"/>
                <a:cs typeface="Avenir Next"/>
              </a:defRPr>
            </a:pPr>
            <a:r>
              <a:rPr sz="975" b="1">
                <a:solidFill>
                  <a:srgbClr val="51DFE3"/>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0975B479-51EC-426D-84A3-2F98C1275181}"/>
              </a:ext>
            </a:extLst>
          </p:cNvPr>
          <p:cNvSpPr>
            <a:spLocks xmlns:a="http://schemas.openxmlformats.org/drawingml/2006/main" noGrp="1"/>
          </p:cNvSpPr>
          <p:nvPr/>
        </p:nvSpPr>
        <p:spPr>
          <a:xfrm xmlns:a="http://schemas.openxmlformats.org/drawingml/2006/main">
            <a:off x="1200150" y="21526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51DFE3"/>
                </a:solidFill>
                <a:latin typeface="Avenir Next"/>
                <a:ea typeface="Avenir Next"/>
                <a:cs typeface="Avenir Next"/>
              </a:defRPr>
            </a:pPr>
            <a:r>
              <a:rPr sz="825" b="1">
                <a:solidFill>
                  <a:srgbClr val="51DFE3"/>
                </a:solidFill>
                <a:latin typeface="Avenir Next"/>
                <a:ea typeface="Avenir Next"/>
                <a:cs typeface="Avenir Next"/>
              </a:rPr>
              <a:t>ACCESS</a:t>
            </a:r>
          </a:p>
        </p:txBody>
      </p:sp>
      <p:sp>
        <p:nvSpPr>
          <p:cNvPr id="8" name="">
            <a:extLst xmlns:a="http://schemas.openxmlformats.org/drawingml/2006/main">
              <a:ext uri="{FF2B5EF4-FFF2-40B4-BE49-F238E27FC236}">
                <a16:creationId xmlns:a16="http://schemas.microsoft.com/office/drawing/2014/main" id="{F8908177-DFC5-4B52-B157-22E47F72BD57}"/>
              </a:ext>
            </a:extLst>
          </p:cNvPr>
          <p:cNvSpPr>
            <a:spLocks xmlns:a="http://schemas.openxmlformats.org/drawingml/2006/main" noGrp="1"/>
          </p:cNvSpPr>
          <p:nvPr/>
        </p:nvSpPr>
        <p:spPr>
          <a:xfrm xmlns:a="http://schemas.openxmlformats.org/drawingml/2006/main">
            <a:off x="1200150" y="2381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Assemble evidence</a:t>
            </a:r>
          </a:p>
        </p:txBody>
      </p:sp>
      <p:sp>
        <p:nvSpPr>
          <p:cNvPr id="9" name="">
            <a:extLst xmlns:a="http://schemas.openxmlformats.org/drawingml/2006/main">
              <a:ext uri="{FF2B5EF4-FFF2-40B4-BE49-F238E27FC236}">
                <a16:creationId xmlns:a16="http://schemas.microsoft.com/office/drawing/2014/main" id="{EB2B03FF-4473-41D0-80C2-474BE96D3552}"/>
              </a:ext>
            </a:extLst>
          </p:cNvPr>
          <p:cNvSpPr>
            <a:spLocks xmlns:a="http://schemas.openxmlformats.org/drawingml/2006/main" noGrp="1"/>
          </p:cNvSpPr>
          <p:nvPr/>
        </p:nvSpPr>
        <p:spPr>
          <a:xfrm xmlns:a="http://schemas.openxmlformats.org/drawingml/2006/main">
            <a:off x="609600" y="289560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60D799"/>
            </a:solidFill>
            <a:prstDash val="solid"/>
          </a:ln>
        </p:spPr>
      </p:sp>
      <p:sp>
        <p:nvSpPr>
          <p:cNvPr id="10" name="">
            <a:extLst xmlns:a="http://schemas.openxmlformats.org/drawingml/2006/main">
              <a:ext uri="{FF2B5EF4-FFF2-40B4-BE49-F238E27FC236}">
                <a16:creationId xmlns:a16="http://schemas.microsoft.com/office/drawing/2014/main" id="{1A12B4D4-E8C8-47A2-A5D0-D15938AC0F33}"/>
              </a:ext>
            </a:extLst>
          </p:cNvPr>
          <p:cNvSpPr>
            <a:spLocks xmlns:a="http://schemas.openxmlformats.org/drawingml/2006/main" noGrp="1"/>
          </p:cNvSpPr>
          <p:nvPr/>
        </p:nvSpPr>
        <p:spPr>
          <a:xfrm xmlns:a="http://schemas.openxmlformats.org/drawingml/2006/main">
            <a:off x="609600" y="28956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0D799"/>
                </a:solidFill>
                <a:latin typeface="Avenir Next"/>
                <a:ea typeface="Avenir Next"/>
                <a:cs typeface="Avenir Next"/>
              </a:defRPr>
            </a:pPr>
            <a:r>
              <a:rPr sz="975" b="1">
                <a:solidFill>
                  <a:srgbClr val="60D799"/>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1D59948-E3CB-4268-B5B9-9B5E2E5C4DA7}"/>
              </a:ext>
            </a:extLst>
          </p:cNvPr>
          <p:cNvSpPr>
            <a:spLocks xmlns:a="http://schemas.openxmlformats.org/drawingml/2006/main" noGrp="1"/>
          </p:cNvSpPr>
          <p:nvPr/>
        </p:nvSpPr>
        <p:spPr>
          <a:xfrm xmlns:a="http://schemas.openxmlformats.org/drawingml/2006/main">
            <a:off x="1200150" y="28956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0D799"/>
                </a:solidFill>
                <a:latin typeface="Avenir Next"/>
                <a:ea typeface="Avenir Next"/>
                <a:cs typeface="Avenir Next"/>
              </a:defRPr>
            </a:pPr>
            <a:r>
              <a:rPr sz="825" b="1">
                <a:solidFill>
                  <a:srgbClr val="60D799"/>
                </a:solidFill>
                <a:latin typeface="Avenir Next"/>
                <a:ea typeface="Avenir Next"/>
                <a:cs typeface="Avenir Next"/>
              </a:rPr>
              <a:t>READINESS</a:t>
            </a:r>
          </a:p>
        </p:txBody>
      </p:sp>
      <p:sp>
        <p:nvSpPr>
          <p:cNvPr id="12" name="">
            <a:extLst xmlns:a="http://schemas.openxmlformats.org/drawingml/2006/main">
              <a:ext uri="{FF2B5EF4-FFF2-40B4-BE49-F238E27FC236}">
                <a16:creationId xmlns:a16="http://schemas.microsoft.com/office/drawing/2014/main" id="{18BB6444-C5A5-44F6-976B-5AC3125D66E0}"/>
              </a:ext>
            </a:extLst>
          </p:cNvPr>
          <p:cNvSpPr>
            <a:spLocks xmlns:a="http://schemas.openxmlformats.org/drawingml/2006/main" noGrp="1"/>
          </p:cNvSpPr>
          <p:nvPr/>
        </p:nvSpPr>
        <p:spPr>
          <a:xfrm xmlns:a="http://schemas.openxmlformats.org/drawingml/2006/main">
            <a:off x="1200150" y="3124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Secure lab slot</a:t>
            </a:r>
          </a:p>
        </p:txBody>
      </p:sp>
      <p:sp>
        <p:nvSpPr>
          <p:cNvPr id="13" name="">
            <a:extLst xmlns:a="http://schemas.openxmlformats.org/drawingml/2006/main">
              <a:ext uri="{FF2B5EF4-FFF2-40B4-BE49-F238E27FC236}">
                <a16:creationId xmlns:a16="http://schemas.microsoft.com/office/drawing/2014/main" id="{93EA312D-BB40-431D-9CD5-F94CD18CA124}"/>
              </a:ext>
            </a:extLst>
          </p:cNvPr>
          <p:cNvSpPr>
            <a:spLocks xmlns:a="http://schemas.openxmlformats.org/drawingml/2006/main" noGrp="1"/>
          </p:cNvSpPr>
          <p:nvPr/>
        </p:nvSpPr>
        <p:spPr>
          <a:xfrm xmlns:a="http://schemas.openxmlformats.org/drawingml/2006/main">
            <a:off x="609600" y="363855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F3C668"/>
            </a:solidFill>
            <a:prstDash val="solid"/>
          </a:ln>
        </p:spPr>
      </p:sp>
      <p:sp>
        <p:nvSpPr>
          <p:cNvPr id="14" name="">
            <a:extLst xmlns:a="http://schemas.openxmlformats.org/drawingml/2006/main">
              <a:ext uri="{FF2B5EF4-FFF2-40B4-BE49-F238E27FC236}">
                <a16:creationId xmlns:a16="http://schemas.microsoft.com/office/drawing/2014/main" id="{1D3051BC-486D-4558-8D41-A02836829347}"/>
              </a:ext>
            </a:extLst>
          </p:cNvPr>
          <p:cNvSpPr>
            <a:spLocks xmlns:a="http://schemas.openxmlformats.org/drawingml/2006/main" noGrp="1"/>
          </p:cNvSpPr>
          <p:nvPr/>
        </p:nvSpPr>
        <p:spPr>
          <a:xfrm xmlns:a="http://schemas.openxmlformats.org/drawingml/2006/main">
            <a:off x="609600" y="36385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F3C668"/>
                </a:solidFill>
                <a:latin typeface="Avenir Next"/>
                <a:ea typeface="Avenir Next"/>
                <a:cs typeface="Avenir Next"/>
              </a:defRPr>
            </a:pPr>
            <a:r>
              <a:rPr sz="975" b="1">
                <a:solidFill>
                  <a:srgbClr val="F3C66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B71F2579-8360-49F3-B928-423456B098D6}"/>
              </a:ext>
            </a:extLst>
          </p:cNvPr>
          <p:cNvSpPr>
            <a:spLocks xmlns:a="http://schemas.openxmlformats.org/drawingml/2006/main" noGrp="1"/>
          </p:cNvSpPr>
          <p:nvPr/>
        </p:nvSpPr>
        <p:spPr>
          <a:xfrm xmlns:a="http://schemas.openxmlformats.org/drawingml/2006/main">
            <a:off x="1200150" y="3638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CAPACITY</a:t>
            </a:r>
          </a:p>
        </p:txBody>
      </p:sp>
      <p:sp>
        <p:nvSpPr>
          <p:cNvPr id="16" name="">
            <a:extLst xmlns:a="http://schemas.openxmlformats.org/drawingml/2006/main">
              <a:ext uri="{FF2B5EF4-FFF2-40B4-BE49-F238E27FC236}">
                <a16:creationId xmlns:a16="http://schemas.microsoft.com/office/drawing/2014/main" id="{4356D35C-DB21-4F50-9AD0-900302752BB3}"/>
              </a:ext>
            </a:extLst>
          </p:cNvPr>
          <p:cNvSpPr>
            <a:spLocks xmlns:a="http://schemas.openxmlformats.org/drawingml/2006/main" noGrp="1"/>
          </p:cNvSpPr>
          <p:nvPr/>
        </p:nvSpPr>
        <p:spPr>
          <a:xfrm xmlns:a="http://schemas.openxmlformats.org/drawingml/2006/main">
            <a:off x="1200150" y="3867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Model schedule swap</a:t>
            </a:r>
          </a:p>
        </p:txBody>
      </p:sp>
      <p:sp>
        <p:nvSpPr>
          <p:cNvPr id="17" name="">
            <a:extLst xmlns:a="http://schemas.openxmlformats.org/drawingml/2006/main">
              <a:ext uri="{FF2B5EF4-FFF2-40B4-BE49-F238E27FC236}">
                <a16:creationId xmlns:a16="http://schemas.microsoft.com/office/drawing/2014/main" id="{D664DCF2-EB13-4E80-A49E-1F3253E479E2}"/>
              </a:ext>
            </a:extLst>
          </p:cNvPr>
          <p:cNvSpPr>
            <a:spLocks xmlns:a="http://schemas.openxmlformats.org/drawingml/2006/main" noGrp="1"/>
          </p:cNvSpPr>
          <p:nvPr/>
        </p:nvSpPr>
        <p:spPr>
          <a:xfrm xmlns:a="http://schemas.openxmlformats.org/drawingml/2006/main">
            <a:off x="609600" y="4381500"/>
            <a:ext cx="400050" cy="400050"/>
          </a:xfrm>
          <a:prstGeom xmlns:a="http://schemas.openxmlformats.org/drawingml/2006/main" prst="roundRect">
            <a:avLst>
              <a:gd name="adj" fmla="val 28571"/>
            </a:avLst>
          </a:prstGeom>
          <a:solidFill xmlns:a="http://schemas.openxmlformats.org/drawingml/2006/main">
            <a:srgbClr val="F4F3EF"/>
          </a:solidFill>
          <a:ln xmlns:a="http://schemas.openxmlformats.org/drawingml/2006/main" w="14288">
            <a:solidFill>
              <a:srgbClr val="AA91FF"/>
            </a:solidFill>
            <a:prstDash val="solid"/>
          </a:ln>
        </p:spPr>
      </p:sp>
      <p:sp>
        <p:nvSpPr>
          <p:cNvPr id="18" name="">
            <a:extLst xmlns:a="http://schemas.openxmlformats.org/drawingml/2006/main">
              <a:ext uri="{FF2B5EF4-FFF2-40B4-BE49-F238E27FC236}">
                <a16:creationId xmlns:a16="http://schemas.microsoft.com/office/drawing/2014/main" id="{FA098213-AD74-49E0-B1F9-997995D9F50C}"/>
              </a:ext>
            </a:extLst>
          </p:cNvPr>
          <p:cNvSpPr>
            <a:spLocks xmlns:a="http://schemas.openxmlformats.org/drawingml/2006/main" noGrp="1"/>
          </p:cNvSpPr>
          <p:nvPr/>
        </p:nvSpPr>
        <p:spPr>
          <a:xfrm xmlns:a="http://schemas.openxmlformats.org/drawingml/2006/main">
            <a:off x="609600" y="43815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A91FF"/>
                </a:solidFill>
                <a:latin typeface="Avenir Next"/>
                <a:ea typeface="Avenir Next"/>
                <a:cs typeface="Avenir Next"/>
              </a:defRPr>
            </a:pPr>
            <a:r>
              <a:rPr sz="975" b="1">
                <a:solidFill>
                  <a:srgbClr val="AA91FF"/>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8061CC83-E4EA-443F-B138-BC2319030F9A}"/>
              </a:ext>
            </a:extLst>
          </p:cNvPr>
          <p:cNvSpPr>
            <a:spLocks xmlns:a="http://schemas.openxmlformats.org/drawingml/2006/main" noGrp="1"/>
          </p:cNvSpPr>
          <p:nvPr/>
        </p:nvSpPr>
        <p:spPr>
          <a:xfrm xmlns:a="http://schemas.openxmlformats.org/drawingml/2006/main">
            <a:off x="1200150" y="43815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AA91FF"/>
                </a:solidFill>
                <a:latin typeface="Avenir Next"/>
                <a:ea typeface="Avenir Next"/>
                <a:cs typeface="Avenir Next"/>
              </a:defRPr>
            </a:pPr>
            <a:r>
              <a:rPr sz="825" b="1">
                <a:solidFill>
                  <a:srgbClr val="AA91FF"/>
                </a:solidFill>
                <a:latin typeface="Avenir Next"/>
                <a:ea typeface="Avenir Next"/>
                <a:cs typeface="Avenir Next"/>
              </a:rPr>
              <a:t>FLOW</a:t>
            </a:r>
          </a:p>
        </p:txBody>
      </p:sp>
      <p:sp>
        <p:nvSpPr>
          <p:cNvPr id="20" name="">
            <a:extLst xmlns:a="http://schemas.openxmlformats.org/drawingml/2006/main">
              <a:ext uri="{FF2B5EF4-FFF2-40B4-BE49-F238E27FC236}">
                <a16:creationId xmlns:a16="http://schemas.microsoft.com/office/drawing/2014/main" id="{264919C9-1D8A-4933-8573-B0CBDF4B258E}"/>
              </a:ext>
            </a:extLst>
          </p:cNvPr>
          <p:cNvSpPr>
            <a:spLocks xmlns:a="http://schemas.openxmlformats.org/drawingml/2006/main" noGrp="1"/>
          </p:cNvSpPr>
          <p:nvPr/>
        </p:nvSpPr>
        <p:spPr>
          <a:xfrm xmlns:a="http://schemas.openxmlformats.org/drawingml/2006/main">
            <a:off x="1200150" y="46101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Test bed contingency</a:t>
            </a:r>
          </a:p>
        </p:txBody>
      </p:sp>
      <p:sp>
        <p:nvSpPr>
          <p:cNvPr id="21" name="">
            <a:extLst xmlns:a="http://schemas.openxmlformats.org/drawingml/2006/main">
              <a:ext uri="{FF2B5EF4-FFF2-40B4-BE49-F238E27FC236}">
                <a16:creationId xmlns:a16="http://schemas.microsoft.com/office/drawing/2014/main" id="{BF9791A6-8AFD-41B1-845E-21E463046130}"/>
              </a:ext>
            </a:extLst>
          </p:cNvPr>
          <p:cNvSpPr>
            <a:spLocks xmlns:a="http://schemas.openxmlformats.org/drawingml/2006/main" noGrp="1"/>
          </p:cNvSpPr>
          <p:nvPr/>
        </p:nvSpPr>
        <p:spPr>
          <a:xfrm xmlns:a="http://schemas.openxmlformats.org/drawingml/2006/main">
            <a:off x="3771900" y="331470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0">
                <a:solidFill>
                  <a:srgbClr val="5F7078"/>
                </a:solidFill>
                <a:latin typeface="Avenir Next"/>
                <a:ea typeface="Avenir Next"/>
                <a:cs typeface="Avenir Next"/>
              </a:defRPr>
            </a:pPr>
            <a:r>
              <a:rPr sz="3150" b="0">
                <a:solidFill>
                  <a:srgbClr val="5F7078"/>
                </a:solidFill>
                <a:latin typeface="Avenir Next"/>
                <a:ea typeface="Avenir Next"/>
                <a:cs typeface="Avenir Next"/>
              </a:rPr>
              <a:t>→</a:t>
            </a:r>
          </a:p>
        </p:txBody>
      </p:sp>
      <p:sp>
        <p:nvSpPr>
          <p:cNvPr id="22" name="">
            <a:extLst xmlns:a="http://schemas.openxmlformats.org/drawingml/2006/main">
              <a:ext uri="{FF2B5EF4-FFF2-40B4-BE49-F238E27FC236}">
                <a16:creationId xmlns:a16="http://schemas.microsoft.com/office/drawing/2014/main" id="{DEFF955D-792A-41D3-BD24-924037795BEB}"/>
              </a:ext>
            </a:extLst>
          </p:cNvPr>
          <p:cNvSpPr>
            <a:spLocks xmlns:a="http://schemas.openxmlformats.org/drawingml/2006/main" noGrp="1"/>
          </p:cNvSpPr>
          <p:nvPr/>
        </p:nvSpPr>
        <p:spPr>
          <a:xfrm xmlns:a="http://schemas.openxmlformats.org/drawingml/2006/main">
            <a:off x="4514850" y="2266950"/>
            <a:ext cx="2647950" cy="2381250"/>
          </a:xfrm>
          <a:prstGeom xmlns:a="http://schemas.openxmlformats.org/drawingml/2006/main" prst="roundRect">
            <a:avLst>
              <a:gd name="adj" fmla="val 11200"/>
            </a:avLst>
          </a:prstGeom>
          <a:solidFill xmlns:a="http://schemas.openxmlformats.org/drawingml/2006/main">
            <a:srgbClr val="0B1720"/>
          </a:solidFill>
          <a:ln xmlns:a="http://schemas.openxmlformats.org/drawingml/2006/main" w="0">
            <a:solidFill>
              <a:srgbClr val="0B1720"/>
            </a:solidFill>
            <a:prstDash val="solid"/>
          </a:ln>
        </p:spPr>
      </p:sp>
      <p:sp>
        <p:nvSpPr>
          <p:cNvPr id="23" name="">
            <a:extLst xmlns:a="http://schemas.openxmlformats.org/drawingml/2006/main">
              <a:ext uri="{FF2B5EF4-FFF2-40B4-BE49-F238E27FC236}">
                <a16:creationId xmlns:a16="http://schemas.microsoft.com/office/drawing/2014/main" id="{D548FA63-445E-412D-B04C-4A306E22247E}"/>
              </a:ext>
            </a:extLst>
          </p:cNvPr>
          <p:cNvSpPr>
            <a:spLocks xmlns:a="http://schemas.openxmlformats.org/drawingml/2006/main" noGrp="1"/>
          </p:cNvSpPr>
          <p:nvPr/>
        </p:nvSpPr>
        <p:spPr>
          <a:xfrm xmlns:a="http://schemas.openxmlformats.org/drawingml/2006/main">
            <a:off x="4819650" y="25336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ONE PLAN</a:t>
            </a:r>
          </a:p>
        </p:txBody>
      </p:sp>
      <p:sp>
        <p:nvSpPr>
          <p:cNvPr id="24" name="">
            <a:extLst xmlns:a="http://schemas.openxmlformats.org/drawingml/2006/main">
              <a:ext uri="{FF2B5EF4-FFF2-40B4-BE49-F238E27FC236}">
                <a16:creationId xmlns:a16="http://schemas.microsoft.com/office/drawing/2014/main" id="{8123324E-1CF3-4F6E-8764-E9EF56775B9E}"/>
              </a:ext>
            </a:extLst>
          </p:cNvPr>
          <p:cNvSpPr>
            <a:spLocks xmlns:a="http://schemas.openxmlformats.org/drawingml/2006/main" noGrp="1"/>
          </p:cNvSpPr>
          <p:nvPr/>
        </p:nvSpPr>
        <p:spPr>
          <a:xfrm xmlns:a="http://schemas.openxmlformats.org/drawingml/2006/main">
            <a:off x="4819650" y="2971800"/>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7F8F5"/>
                </a:solidFill>
                <a:latin typeface="Avenir Next"/>
                <a:ea typeface="Avenir Next"/>
                <a:cs typeface="Avenir Next"/>
              </a:defRPr>
            </a:pPr>
            <a:r>
              <a:rPr sz="2400" b="1">
                <a:solidFill>
                  <a:srgbClr val="F7F8F5"/>
                </a:solidFill>
                <a:latin typeface="Avenir Next"/>
                <a:ea typeface="Avenir Next"/>
                <a:cs typeface="Avenir Next"/>
              </a:rPr>
              <a:t>Preserve</a:t>
            </a:r>
          </a:p>
          <a:p xmlns:a="http://schemas.openxmlformats.org/drawingml/2006/main">
            <a:pPr algn="ctr">
              <a:defRPr sz="2400" b="1">
                <a:solidFill>
                  <a:srgbClr val="F7F8F5"/>
                </a:solidFill>
                <a:latin typeface="Avenir Next"/>
                <a:ea typeface="Avenir Next"/>
                <a:cs typeface="Avenir Next"/>
              </a:defRPr>
            </a:pPr>
            <a:r>
              <a:rPr sz="2400" b="1">
                <a:solidFill>
                  <a:srgbClr val="F7F8F5"/>
                </a:solidFill>
                <a:latin typeface="Avenir Next"/>
                <a:ea typeface="Avenir Next"/>
                <a:cs typeface="Avenir Next"/>
              </a:rPr>
              <a:t>the case</a:t>
            </a:r>
          </a:p>
        </p:txBody>
      </p:sp>
      <p:sp>
        <p:nvSpPr>
          <p:cNvPr id="25" name="">
            <a:extLst xmlns:a="http://schemas.openxmlformats.org/drawingml/2006/main">
              <a:ext uri="{FF2B5EF4-FFF2-40B4-BE49-F238E27FC236}">
                <a16:creationId xmlns:a16="http://schemas.microsoft.com/office/drawing/2014/main" id="{FDCD6F30-2EFE-460A-A03D-3D32AE2C0C01}"/>
              </a:ext>
            </a:extLst>
          </p:cNvPr>
          <p:cNvSpPr>
            <a:spLocks xmlns:a="http://schemas.openxmlformats.org/drawingml/2006/main" noGrp="1"/>
          </p:cNvSpPr>
          <p:nvPr/>
        </p:nvSpPr>
        <p:spPr>
          <a:xfrm xmlns:a="http://schemas.openxmlformats.org/drawingml/2006/main">
            <a:off x="4819650" y="39624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0">
                <a:solidFill>
                  <a:srgbClr val="9AA8AE"/>
                </a:solidFill>
                <a:latin typeface="Avenir Next"/>
                <a:ea typeface="Avenir Next"/>
                <a:cs typeface="Avenir Next"/>
              </a:defRPr>
            </a:pPr>
            <a:r>
              <a:rPr sz="1050" b="0">
                <a:solidFill>
                  <a:srgbClr val="9AA8AE"/>
                </a:solidFill>
                <a:latin typeface="Avenir Next"/>
                <a:ea typeface="Avenir Next"/>
                <a:cs typeface="Avenir Next"/>
              </a:rPr>
              <a:t>with explicit tradeoffs</a:t>
            </a:r>
          </a:p>
        </p:txBody>
      </p:sp>
      <p:sp>
        <p:nvSpPr>
          <p:cNvPr id="26" name="">
            <a:extLst xmlns:a="http://schemas.openxmlformats.org/drawingml/2006/main">
              <a:ext uri="{FF2B5EF4-FFF2-40B4-BE49-F238E27FC236}">
                <a16:creationId xmlns:a16="http://schemas.microsoft.com/office/drawing/2014/main" id="{B3765E87-13D2-43EB-8AD5-7C6C8406874C}"/>
              </a:ext>
            </a:extLst>
          </p:cNvPr>
          <p:cNvSpPr>
            <a:spLocks xmlns:a="http://schemas.openxmlformats.org/drawingml/2006/main" noGrp="1"/>
          </p:cNvSpPr>
          <p:nvPr/>
        </p:nvSpPr>
        <p:spPr>
          <a:xfrm xmlns:a="http://schemas.openxmlformats.org/drawingml/2006/main">
            <a:off x="7277100" y="3314700"/>
            <a:ext cx="590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0">
                <a:solidFill>
                  <a:srgbClr val="5F7078"/>
                </a:solidFill>
                <a:latin typeface="Avenir Next"/>
                <a:ea typeface="Avenir Next"/>
                <a:cs typeface="Avenir Next"/>
              </a:defRPr>
            </a:pPr>
            <a:r>
              <a:rPr sz="3150" b="0">
                <a:solidFill>
                  <a:srgbClr val="5F7078"/>
                </a:solidFill>
                <a:latin typeface="Avenir Next"/>
                <a:ea typeface="Avenir Next"/>
                <a:cs typeface="Avenir Next"/>
              </a:rPr>
              <a:t>→</a:t>
            </a:r>
          </a:p>
        </p:txBody>
      </p:sp>
      <p:sp>
        <p:nvSpPr>
          <p:cNvPr id="27" name="">
            <a:extLst xmlns:a="http://schemas.openxmlformats.org/drawingml/2006/main">
              <a:ext uri="{FF2B5EF4-FFF2-40B4-BE49-F238E27FC236}">
                <a16:creationId xmlns:a16="http://schemas.microsoft.com/office/drawing/2014/main" id="{C811C4A1-6819-4078-A79C-989960F1BBD9}"/>
              </a:ext>
            </a:extLst>
          </p:cNvPr>
          <p:cNvSpPr>
            <a:spLocks xmlns:a="http://schemas.openxmlformats.org/drawingml/2006/main" noGrp="1"/>
          </p:cNvSpPr>
          <p:nvPr/>
        </p:nvSpPr>
        <p:spPr>
          <a:xfrm xmlns:a="http://schemas.openxmlformats.org/drawingml/2006/main">
            <a:off x="8001000" y="2667000"/>
            <a:ext cx="3581400" cy="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28" name="">
            <a:extLst xmlns:a="http://schemas.openxmlformats.org/drawingml/2006/main">
              <a:ext uri="{FF2B5EF4-FFF2-40B4-BE49-F238E27FC236}">
                <a16:creationId xmlns:a16="http://schemas.microsoft.com/office/drawing/2014/main" id="{A2D6E6E5-9477-44A2-ACC9-37C55738DB2C}"/>
              </a:ext>
            </a:extLst>
          </p:cNvPr>
          <p:cNvSpPr>
            <a:spLocks xmlns:a="http://schemas.openxmlformats.org/drawingml/2006/main" noGrp="1"/>
          </p:cNvSpPr>
          <p:nvPr/>
        </p:nvSpPr>
        <p:spPr>
          <a:xfrm xmlns:a="http://schemas.openxmlformats.org/drawingml/2006/main">
            <a:off x="8001000" y="2114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0D799"/>
                </a:solidFill>
                <a:latin typeface="Avenir Next"/>
                <a:ea typeface="Avenir Next"/>
                <a:cs typeface="Avenir Next"/>
              </a:defRPr>
            </a:pPr>
            <a:r>
              <a:rPr sz="825" b="1">
                <a:solidFill>
                  <a:srgbClr val="60D799"/>
                </a:solidFill>
                <a:latin typeface="Avenir Next"/>
                <a:ea typeface="Avenir Next"/>
                <a:cs typeface="Avenir Next"/>
              </a:rPr>
              <a:t>Executed</a:t>
            </a:r>
          </a:p>
        </p:txBody>
      </p:sp>
      <p:sp>
        <p:nvSpPr>
          <p:cNvPr id="29" name="">
            <a:extLst xmlns:a="http://schemas.openxmlformats.org/drawingml/2006/main">
              <a:ext uri="{FF2B5EF4-FFF2-40B4-BE49-F238E27FC236}">
                <a16:creationId xmlns:a16="http://schemas.microsoft.com/office/drawing/2014/main" id="{AD064A86-5DE3-4115-9E27-F64875A2EE48}"/>
              </a:ext>
            </a:extLst>
          </p:cNvPr>
          <p:cNvSpPr>
            <a:spLocks xmlns:a="http://schemas.openxmlformats.org/drawingml/2006/main" noGrp="1"/>
          </p:cNvSpPr>
          <p:nvPr/>
        </p:nvSpPr>
        <p:spPr>
          <a:xfrm xmlns:a="http://schemas.openxmlformats.org/drawingml/2006/main">
            <a:off x="8001000" y="2352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1720"/>
                </a:solidFill>
                <a:latin typeface="Avenir Next"/>
                <a:ea typeface="Avenir Next"/>
                <a:cs typeface="Avenir Next"/>
              </a:defRPr>
            </a:pPr>
            <a:r>
              <a:rPr sz="1275" b="1">
                <a:solidFill>
                  <a:srgbClr val="0B1720"/>
                </a:solidFill>
                <a:latin typeface="Avenir Next"/>
                <a:ea typeface="Avenir Next"/>
                <a:cs typeface="Avenir Next"/>
              </a:rPr>
              <a:t>Retrieve criteria</a:t>
            </a:r>
          </a:p>
        </p:txBody>
      </p:sp>
      <p:sp>
        <p:nvSpPr>
          <p:cNvPr id="30" name="">
            <a:extLst xmlns:a="http://schemas.openxmlformats.org/drawingml/2006/main">
              <a:ext uri="{FF2B5EF4-FFF2-40B4-BE49-F238E27FC236}">
                <a16:creationId xmlns:a16="http://schemas.microsoft.com/office/drawing/2014/main" id="{9E928413-E5B9-4FC5-A48A-F2D959C1D0C8}"/>
              </a:ext>
            </a:extLst>
          </p:cNvPr>
          <p:cNvSpPr>
            <a:spLocks xmlns:a="http://schemas.openxmlformats.org/drawingml/2006/main" noGrp="1"/>
          </p:cNvSpPr>
          <p:nvPr/>
        </p:nvSpPr>
        <p:spPr>
          <a:xfrm xmlns:a="http://schemas.openxmlformats.org/drawingml/2006/main">
            <a:off x="8001000" y="3429000"/>
            <a:ext cx="3581400" cy="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31" name="">
            <a:extLst xmlns:a="http://schemas.openxmlformats.org/drawingml/2006/main">
              <a:ext uri="{FF2B5EF4-FFF2-40B4-BE49-F238E27FC236}">
                <a16:creationId xmlns:a16="http://schemas.microsoft.com/office/drawing/2014/main" id="{C853284F-75C1-45AE-BB26-F9644BA410C2}"/>
              </a:ext>
            </a:extLst>
          </p:cNvPr>
          <p:cNvSpPr>
            <a:spLocks xmlns:a="http://schemas.openxmlformats.org/drawingml/2006/main" noGrp="1"/>
          </p:cNvSpPr>
          <p:nvPr/>
        </p:nvSpPr>
        <p:spPr>
          <a:xfrm xmlns:a="http://schemas.openxmlformats.org/drawingml/2006/main">
            <a:off x="8001000" y="2876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0D799"/>
                </a:solidFill>
                <a:latin typeface="Avenir Next"/>
                <a:ea typeface="Avenir Next"/>
                <a:cs typeface="Avenir Next"/>
              </a:defRPr>
            </a:pPr>
            <a:r>
              <a:rPr sz="825" b="1">
                <a:solidFill>
                  <a:srgbClr val="60D799"/>
                </a:solidFill>
                <a:latin typeface="Avenir Next"/>
                <a:ea typeface="Avenir Next"/>
                <a:cs typeface="Avenir Next"/>
              </a:rPr>
              <a:t>Executed</a:t>
            </a:r>
          </a:p>
        </p:txBody>
      </p:sp>
      <p:sp>
        <p:nvSpPr>
          <p:cNvPr id="32" name="">
            <a:extLst xmlns:a="http://schemas.openxmlformats.org/drawingml/2006/main">
              <a:ext uri="{FF2B5EF4-FFF2-40B4-BE49-F238E27FC236}">
                <a16:creationId xmlns:a16="http://schemas.microsoft.com/office/drawing/2014/main" id="{DFD5B021-2152-42F4-B61A-3253865DFDCB}"/>
              </a:ext>
            </a:extLst>
          </p:cNvPr>
          <p:cNvSpPr>
            <a:spLocks xmlns:a="http://schemas.openxmlformats.org/drawingml/2006/main" noGrp="1"/>
          </p:cNvSpPr>
          <p:nvPr/>
        </p:nvSpPr>
        <p:spPr>
          <a:xfrm xmlns:a="http://schemas.openxmlformats.org/drawingml/2006/main">
            <a:off x="8001000" y="3114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1720"/>
                </a:solidFill>
                <a:latin typeface="Avenir Next"/>
                <a:ea typeface="Avenir Next"/>
                <a:cs typeface="Avenir Next"/>
              </a:defRPr>
            </a:pPr>
            <a:r>
              <a:rPr sz="1275" b="1">
                <a:solidFill>
                  <a:srgbClr val="0B1720"/>
                </a:solidFill>
                <a:latin typeface="Avenir Next"/>
                <a:ea typeface="Avenir Next"/>
                <a:cs typeface="Avenir Next"/>
              </a:rPr>
              <a:t>Hold lab slot</a:t>
            </a:r>
          </a:p>
        </p:txBody>
      </p:sp>
      <p:sp>
        <p:nvSpPr>
          <p:cNvPr id="33" name="">
            <a:extLst xmlns:a="http://schemas.openxmlformats.org/drawingml/2006/main">
              <a:ext uri="{FF2B5EF4-FFF2-40B4-BE49-F238E27FC236}">
                <a16:creationId xmlns:a16="http://schemas.microsoft.com/office/drawing/2014/main" id="{502F1375-B147-487A-948A-60EFAD71995A}"/>
              </a:ext>
            </a:extLst>
          </p:cNvPr>
          <p:cNvSpPr>
            <a:spLocks xmlns:a="http://schemas.openxmlformats.org/drawingml/2006/main" noGrp="1"/>
          </p:cNvSpPr>
          <p:nvPr/>
        </p:nvSpPr>
        <p:spPr>
          <a:xfrm xmlns:a="http://schemas.openxmlformats.org/drawingml/2006/main">
            <a:off x="8001000" y="4191000"/>
            <a:ext cx="3581400" cy="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34" name="">
            <a:extLst xmlns:a="http://schemas.openxmlformats.org/drawingml/2006/main">
              <a:ext uri="{FF2B5EF4-FFF2-40B4-BE49-F238E27FC236}">
                <a16:creationId xmlns:a16="http://schemas.microsoft.com/office/drawing/2014/main" id="{D3778F7D-B0B2-4BDE-AD5D-CCA952172FE9}"/>
              </a:ext>
            </a:extLst>
          </p:cNvPr>
          <p:cNvSpPr>
            <a:spLocks xmlns:a="http://schemas.openxmlformats.org/drawingml/2006/main" noGrp="1"/>
          </p:cNvSpPr>
          <p:nvPr/>
        </p:nvSpPr>
        <p:spPr>
          <a:xfrm xmlns:a="http://schemas.openxmlformats.org/drawingml/2006/main">
            <a:off x="8001000" y="3638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OR director</a:t>
            </a:r>
          </a:p>
        </p:txBody>
      </p:sp>
      <p:sp>
        <p:nvSpPr>
          <p:cNvPr id="35" name="">
            <a:extLst xmlns:a="http://schemas.openxmlformats.org/drawingml/2006/main">
              <a:ext uri="{FF2B5EF4-FFF2-40B4-BE49-F238E27FC236}">
                <a16:creationId xmlns:a16="http://schemas.microsoft.com/office/drawing/2014/main" id="{36BF3C1A-24BD-4B63-A6D9-91AC3704F89C}"/>
              </a:ext>
            </a:extLst>
          </p:cNvPr>
          <p:cNvSpPr>
            <a:spLocks xmlns:a="http://schemas.openxmlformats.org/drawingml/2006/main" noGrp="1"/>
          </p:cNvSpPr>
          <p:nvPr/>
        </p:nvSpPr>
        <p:spPr>
          <a:xfrm xmlns:a="http://schemas.openxmlformats.org/drawingml/2006/main">
            <a:off x="8001000" y="3876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1720"/>
                </a:solidFill>
                <a:latin typeface="Avenir Next"/>
                <a:ea typeface="Avenir Next"/>
                <a:cs typeface="Avenir Next"/>
              </a:defRPr>
            </a:pPr>
            <a:r>
              <a:rPr sz="1275" b="1">
                <a:solidFill>
                  <a:srgbClr val="0B1720"/>
                </a:solidFill>
                <a:latin typeface="Avenir Next"/>
                <a:ea typeface="Avenir Next"/>
                <a:cs typeface="Avenir Next"/>
              </a:rPr>
              <a:t>Approve schedule swap</a:t>
            </a:r>
          </a:p>
        </p:txBody>
      </p:sp>
      <p:sp>
        <p:nvSpPr>
          <p:cNvPr id="36" name="">
            <a:extLst xmlns:a="http://schemas.openxmlformats.org/drawingml/2006/main">
              <a:ext uri="{FF2B5EF4-FFF2-40B4-BE49-F238E27FC236}">
                <a16:creationId xmlns:a16="http://schemas.microsoft.com/office/drawing/2014/main" id="{2CC1B952-D496-4781-8CC5-47C8E3C8B729}"/>
              </a:ext>
            </a:extLst>
          </p:cNvPr>
          <p:cNvSpPr>
            <a:spLocks xmlns:a="http://schemas.openxmlformats.org/drawingml/2006/main" noGrp="1"/>
          </p:cNvSpPr>
          <p:nvPr/>
        </p:nvSpPr>
        <p:spPr>
          <a:xfrm xmlns:a="http://schemas.openxmlformats.org/drawingml/2006/main">
            <a:off x="8001000" y="4953000"/>
            <a:ext cx="3581400" cy="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37" name="">
            <a:extLst xmlns:a="http://schemas.openxmlformats.org/drawingml/2006/main">
              <a:ext uri="{FF2B5EF4-FFF2-40B4-BE49-F238E27FC236}">
                <a16:creationId xmlns:a16="http://schemas.microsoft.com/office/drawing/2014/main" id="{0396E1CF-D415-401C-8EA5-BA886A7DDED4}"/>
              </a:ext>
            </a:extLst>
          </p:cNvPr>
          <p:cNvSpPr>
            <a:spLocks xmlns:a="http://schemas.openxmlformats.org/drawingml/2006/main" noGrp="1"/>
          </p:cNvSpPr>
          <p:nvPr/>
        </p:nvSpPr>
        <p:spPr>
          <a:xfrm xmlns:a="http://schemas.openxmlformats.org/drawingml/2006/main">
            <a:off x="8001000" y="4400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Access lead</a:t>
            </a:r>
          </a:p>
        </p:txBody>
      </p:sp>
      <p:sp>
        <p:nvSpPr>
          <p:cNvPr id="38" name="">
            <a:extLst xmlns:a="http://schemas.openxmlformats.org/drawingml/2006/main">
              <a:ext uri="{FF2B5EF4-FFF2-40B4-BE49-F238E27FC236}">
                <a16:creationId xmlns:a16="http://schemas.microsoft.com/office/drawing/2014/main" id="{EE6B8CE9-4D29-4557-86D6-78E3A9475BAD}"/>
              </a:ext>
            </a:extLst>
          </p:cNvPr>
          <p:cNvSpPr>
            <a:spLocks xmlns:a="http://schemas.openxmlformats.org/drawingml/2006/main" noGrp="1"/>
          </p:cNvSpPr>
          <p:nvPr/>
        </p:nvSpPr>
        <p:spPr>
          <a:xfrm xmlns:a="http://schemas.openxmlformats.org/drawingml/2006/main">
            <a:off x="8001000" y="46386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1720"/>
                </a:solidFill>
                <a:latin typeface="Avenir Next"/>
                <a:ea typeface="Avenir Next"/>
                <a:cs typeface="Avenir Next"/>
              </a:defRPr>
            </a:pPr>
            <a:r>
              <a:rPr sz="1275" b="1">
                <a:solidFill>
                  <a:srgbClr val="0B1720"/>
                </a:solidFill>
                <a:latin typeface="Avenir Next"/>
                <a:ea typeface="Avenir Next"/>
                <a:cs typeface="Avenir Next"/>
              </a:rPr>
              <a:t>Approve payer submission</a:t>
            </a:r>
          </a:p>
        </p:txBody>
      </p:sp>
      <p:sp>
        <p:nvSpPr>
          <p:cNvPr id="39" name="">
            <a:extLst xmlns:a="http://schemas.openxmlformats.org/drawingml/2006/main">
              <a:ext uri="{FF2B5EF4-FFF2-40B4-BE49-F238E27FC236}">
                <a16:creationId xmlns:a16="http://schemas.microsoft.com/office/drawing/2014/main" id="{B4136A44-1D72-45E6-8565-7415FFB7481F}"/>
              </a:ext>
            </a:extLst>
          </p:cNvPr>
          <p:cNvSpPr>
            <a:spLocks xmlns:a="http://schemas.openxmlformats.org/drawingml/2006/main" noGrp="1"/>
          </p:cNvSpPr>
          <p:nvPr/>
        </p:nvSpPr>
        <p:spPr>
          <a:xfrm xmlns:a="http://schemas.openxmlformats.org/drawingml/2006/main">
            <a:off x="609600" y="5562600"/>
            <a:ext cx="10972800" cy="590550"/>
          </a:xfrm>
          <a:prstGeom xmlns:a="http://schemas.openxmlformats.org/drawingml/2006/main" prst="roundRect">
            <a:avLst>
              <a:gd name="adj" fmla="val 25806"/>
            </a:avLst>
          </a:prstGeom>
          <a:solidFill xmlns:a="http://schemas.openxmlformats.org/drawingml/2006/main">
            <a:srgbClr val="E8EAE5"/>
          </a:solidFill>
          <a:ln xmlns:a="http://schemas.openxmlformats.org/drawingml/2006/main" w="9525">
            <a:solidFill>
              <a:srgbClr val="CDD5D5"/>
            </a:solidFill>
            <a:prstDash val="solid"/>
          </a:ln>
        </p:spPr>
      </p:sp>
      <p:sp>
        <p:nvSpPr>
          <p:cNvPr id="40" name="">
            <a:extLst xmlns:a="http://schemas.openxmlformats.org/drawingml/2006/main">
              <a:ext uri="{FF2B5EF4-FFF2-40B4-BE49-F238E27FC236}">
                <a16:creationId xmlns:a16="http://schemas.microsoft.com/office/drawing/2014/main" id="{35381DFE-D646-4448-BBED-424286433D91}"/>
              </a:ext>
            </a:extLst>
          </p:cNvPr>
          <p:cNvSpPr>
            <a:spLocks xmlns:a="http://schemas.openxmlformats.org/drawingml/2006/main" noGrp="1"/>
          </p:cNvSpPr>
          <p:nvPr/>
        </p:nvSpPr>
        <p:spPr>
          <a:xfrm xmlns:a="http://schemas.openxmlformats.org/drawingml/2006/main">
            <a:off x="857250" y="556260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720"/>
                </a:solidFill>
                <a:latin typeface="Avenir Next"/>
                <a:ea typeface="Avenir Next"/>
                <a:cs typeface="Avenir Next"/>
              </a:defRPr>
            </a:pPr>
            <a:r>
              <a:rPr sz="1425" b="1">
                <a:solidFill>
                  <a:srgbClr val="0B1720"/>
                </a:solidFill>
                <a:latin typeface="Avenir Next"/>
                <a:ea typeface="Avenir Next"/>
                <a:cs typeface="Avenir Next"/>
              </a:rPr>
              <a:t>Reversible work executes automatically. Consequential actions stop at named human approvals.</a:t>
            </a:r>
          </a:p>
        </p:txBody>
      </p:sp>
      <p:sp>
        <p:nvSpPr>
          <p:cNvPr id="41" name="">
            <a:extLst xmlns:a="http://schemas.openxmlformats.org/drawingml/2006/main">
              <a:ext uri="{FF2B5EF4-FFF2-40B4-BE49-F238E27FC236}">
                <a16:creationId xmlns:a16="http://schemas.microsoft.com/office/drawing/2014/main" id="{5F119930-AF82-4DBD-A3CF-36370CB8F958}"/>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10</a:t>
            </a:r>
          </a:p>
        </p:txBody>
      </p:sp>
    </p:spTree>
    <p:extLst>
      <p:ext uri="{BB962C8B-B14F-4D97-AF65-F5344CB8AC3E}">
        <p14:creationId xmlns:p14="http://schemas.microsoft.com/office/powerpoint/2010/main" val="554535689"/>
      </p:ext>
    </p:extLst>
  </p:cSld>
</p:sld>
</file>

<file path=ppt/slides/slide11.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FC0ECA-2C0B-46E9-824A-40847354C4CB}"/>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1C0462-D5A5-4653-A4E3-F72FB0875241}"/>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SCENARIO RESOLVED · MODELED DEMONSTRATION</a:t>
            </a:r>
          </a:p>
        </p:txBody>
      </p:sp>
      <p:sp>
        <p:nvSpPr>
          <p:cNvPr id="3" name="">
            <a:extLst xmlns:a="http://schemas.openxmlformats.org/drawingml/2006/main">
              <a:ext uri="{FF2B5EF4-FFF2-40B4-BE49-F238E27FC236}">
                <a16:creationId xmlns:a16="http://schemas.microsoft.com/office/drawing/2014/main" id="{619BCA67-4D81-4C6C-9E7E-45DCC9A37BC1}"/>
              </a:ext>
            </a:extLst>
          </p:cNvPr>
          <p:cNvSpPr>
            <a:spLocks xmlns:a="http://schemas.openxmlformats.org/drawingml/2006/main" noGrp="1"/>
          </p:cNvSpPr>
          <p:nvPr/>
        </p:nvSpPr>
        <p:spPr>
          <a:xfrm xmlns:a="http://schemas.openxmlformats.org/drawingml/2006/main">
            <a:off x="609600" y="781050"/>
            <a:ext cx="5905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900" b="1">
                <a:solidFill>
                  <a:srgbClr val="F7F8F5"/>
                </a:solidFill>
                <a:latin typeface="Avenir Next"/>
                <a:ea typeface="Avenir Next"/>
                <a:cs typeface="Avenir Next"/>
              </a:defRPr>
            </a:pPr>
            <a:r>
              <a:rPr sz="3900" b="1">
                <a:solidFill>
                  <a:srgbClr val="F7F8F5"/>
                </a:solidFill>
                <a:latin typeface="Avenir Next"/>
                <a:ea typeface="Avenir Next"/>
                <a:cs typeface="Avenir Next"/>
              </a:rPr>
              <a:t>Same robot. More care.</a:t>
            </a:r>
          </a:p>
        </p:txBody>
      </p:sp>
      <p:sp>
        <p:nvSpPr>
          <p:cNvPr id="4" name="">
            <a:extLst xmlns:a="http://schemas.openxmlformats.org/drawingml/2006/main">
              <a:ext uri="{FF2B5EF4-FFF2-40B4-BE49-F238E27FC236}">
                <a16:creationId xmlns:a16="http://schemas.microsoft.com/office/drawing/2014/main" id="{BD5C6601-6CD1-435C-8E44-D325416F0476}"/>
              </a:ext>
            </a:extLst>
          </p:cNvPr>
          <p:cNvSpPr>
            <a:spLocks xmlns:a="http://schemas.openxmlformats.org/drawingml/2006/main" noGrp="1"/>
          </p:cNvSpPr>
          <p:nvPr/>
        </p:nvSpPr>
        <p:spPr>
          <a:xfrm xmlns:a="http://schemas.openxmlformats.org/drawingml/2006/main">
            <a:off x="609600" y="1466850"/>
            <a:ext cx="657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9AA8AE"/>
                </a:solidFill>
                <a:latin typeface="Avenir Next"/>
                <a:ea typeface="Avenir Next"/>
                <a:cs typeface="Avenir Next"/>
              </a:defRPr>
            </a:pPr>
            <a:r>
              <a:rPr sz="1425" b="0">
                <a:solidFill>
                  <a:srgbClr val="9AA8AE"/>
                </a:solidFill>
                <a:latin typeface="Avenir Next"/>
                <a:ea typeface="Avenir Next"/>
                <a:cs typeface="Avenir Next"/>
              </a:rPr>
              <a:t>No clinical judgment was delegated. Coordination latency was compressed around existing assets and staff.</a:t>
            </a:r>
          </a:p>
        </p:txBody>
      </p:sp>
      <p:sp>
        <p:nvSpPr>
          <p:cNvPr id="5" name="">
            <a:extLst xmlns:a="http://schemas.openxmlformats.org/drawingml/2006/main">
              <a:ext uri="{FF2B5EF4-FFF2-40B4-BE49-F238E27FC236}">
                <a16:creationId xmlns:a16="http://schemas.microsoft.com/office/drawing/2014/main" id="{AFEF3011-9855-463A-A656-D69275E54951}"/>
              </a:ext>
            </a:extLst>
          </p:cNvPr>
          <p:cNvSpPr>
            <a:spLocks xmlns:a="http://schemas.openxmlformats.org/drawingml/2006/main" noGrp="1"/>
          </p:cNvSpPr>
          <p:nvPr/>
        </p:nvSpPr>
        <p:spPr>
          <a:xfrm xmlns:a="http://schemas.openxmlformats.org/drawingml/2006/main">
            <a:off x="609600" y="26098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83F3C9"/>
                </a:solidFill>
                <a:latin typeface="Avenir Next"/>
                <a:ea typeface="Avenir Next"/>
                <a:cs typeface="Avenir Next"/>
              </a:defRPr>
            </a:pPr>
            <a:r>
              <a:rPr sz="2400" b="1">
                <a:solidFill>
                  <a:srgbClr val="83F3C9"/>
                </a:solidFill>
                <a:latin typeface="Avenir Next"/>
                <a:ea typeface="Avenir Next"/>
                <a:cs typeface="Avenir Next"/>
              </a:rPr>
              <a:t>23 → 7</a:t>
            </a:r>
          </a:p>
        </p:txBody>
      </p:sp>
      <p:sp>
        <p:nvSpPr>
          <p:cNvPr id="6" name="">
            <a:extLst xmlns:a="http://schemas.openxmlformats.org/drawingml/2006/main">
              <a:ext uri="{FF2B5EF4-FFF2-40B4-BE49-F238E27FC236}">
                <a16:creationId xmlns:a16="http://schemas.microsoft.com/office/drawing/2014/main" id="{BBFF785D-F4DB-4D10-B046-C56823E6504D}"/>
              </a:ext>
            </a:extLst>
          </p:cNvPr>
          <p:cNvSpPr>
            <a:spLocks xmlns:a="http://schemas.openxmlformats.org/drawingml/2006/main" noGrp="1"/>
          </p:cNvSpPr>
          <p:nvPr/>
        </p:nvSpPr>
        <p:spPr>
          <a:xfrm xmlns:a="http://schemas.openxmlformats.org/drawingml/2006/main">
            <a:off x="609600" y="3143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AA8AE"/>
                </a:solidFill>
                <a:latin typeface="Avenir Next"/>
                <a:ea typeface="Avenir Next"/>
                <a:cs typeface="Avenir Next"/>
              </a:defRPr>
            </a:pPr>
            <a:r>
              <a:rPr sz="1125" b="0">
                <a:solidFill>
                  <a:srgbClr val="9AA8AE"/>
                </a:solidFill>
                <a:latin typeface="Avenir Next"/>
                <a:ea typeface="Avenir Next"/>
                <a:cs typeface="Avenir Next"/>
              </a:rPr>
              <a:t>manual touches</a:t>
            </a:r>
          </a:p>
        </p:txBody>
      </p:sp>
      <p:sp>
        <p:nvSpPr>
          <p:cNvPr id="7" name="">
            <a:extLst xmlns:a="http://schemas.openxmlformats.org/drawingml/2006/main">
              <a:ext uri="{FF2B5EF4-FFF2-40B4-BE49-F238E27FC236}">
                <a16:creationId xmlns:a16="http://schemas.microsoft.com/office/drawing/2014/main" id="{ED4D1DBB-552A-4A8E-8226-34DC908CD87A}"/>
              </a:ext>
            </a:extLst>
          </p:cNvPr>
          <p:cNvSpPr>
            <a:spLocks xmlns:a="http://schemas.openxmlformats.org/drawingml/2006/main" noGrp="1"/>
          </p:cNvSpPr>
          <p:nvPr/>
        </p:nvSpPr>
        <p:spPr>
          <a:xfrm xmlns:a="http://schemas.openxmlformats.org/drawingml/2006/main">
            <a:off x="3276600" y="26098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83F3C9"/>
                </a:solidFill>
                <a:latin typeface="Avenir Next"/>
                <a:ea typeface="Avenir Next"/>
                <a:cs typeface="Avenir Next"/>
              </a:defRPr>
            </a:pPr>
            <a:r>
              <a:rPr sz="2400" b="1">
                <a:solidFill>
                  <a:srgbClr val="83F3C9"/>
                </a:solidFill>
                <a:latin typeface="Avenir Next"/>
                <a:ea typeface="Avenir Next"/>
                <a:cs typeface="Avenir Next"/>
              </a:rPr>
              <a:t>0 → 96</a:t>
            </a:r>
          </a:p>
        </p:txBody>
      </p:sp>
      <p:sp>
        <p:nvSpPr>
          <p:cNvPr id="8" name="">
            <a:extLst xmlns:a="http://schemas.openxmlformats.org/drawingml/2006/main">
              <a:ext uri="{FF2B5EF4-FFF2-40B4-BE49-F238E27FC236}">
                <a16:creationId xmlns:a16="http://schemas.microsoft.com/office/drawing/2014/main" id="{BF7BF2D2-2490-4B19-A180-9EF578E09D56}"/>
              </a:ext>
            </a:extLst>
          </p:cNvPr>
          <p:cNvSpPr>
            <a:spLocks xmlns:a="http://schemas.openxmlformats.org/drawingml/2006/main" noGrp="1"/>
          </p:cNvSpPr>
          <p:nvPr/>
        </p:nvSpPr>
        <p:spPr>
          <a:xfrm xmlns:a="http://schemas.openxmlformats.org/drawingml/2006/main">
            <a:off x="3276600" y="31432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AA8AE"/>
                </a:solidFill>
                <a:latin typeface="Avenir Next"/>
                <a:ea typeface="Avenir Next"/>
                <a:cs typeface="Avenir Next"/>
              </a:defRPr>
            </a:pPr>
            <a:r>
              <a:rPr sz="1125" b="0">
                <a:solidFill>
                  <a:srgbClr val="9AA8AE"/>
                </a:solidFill>
                <a:latin typeface="Avenir Next"/>
                <a:ea typeface="Avenir Next"/>
                <a:cs typeface="Avenir Next"/>
              </a:rPr>
              <a:t>OR minutes recovered</a:t>
            </a:r>
          </a:p>
        </p:txBody>
      </p:sp>
      <p:sp>
        <p:nvSpPr>
          <p:cNvPr id="9" name="">
            <a:extLst xmlns:a="http://schemas.openxmlformats.org/drawingml/2006/main">
              <a:ext uri="{FF2B5EF4-FFF2-40B4-BE49-F238E27FC236}">
                <a16:creationId xmlns:a16="http://schemas.microsoft.com/office/drawing/2014/main" id="{7BC15967-F3C3-4319-A7A1-1D156AD58055}"/>
              </a:ext>
            </a:extLst>
          </p:cNvPr>
          <p:cNvSpPr>
            <a:spLocks xmlns:a="http://schemas.openxmlformats.org/drawingml/2006/main" noGrp="1"/>
          </p:cNvSpPr>
          <p:nvPr/>
        </p:nvSpPr>
        <p:spPr>
          <a:xfrm xmlns:a="http://schemas.openxmlformats.org/drawingml/2006/main">
            <a:off x="609600" y="40386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83F3C9"/>
                </a:solidFill>
                <a:latin typeface="Avenir Next"/>
                <a:ea typeface="Avenir Next"/>
                <a:cs typeface="Avenir Next"/>
              </a:defRPr>
            </a:pPr>
            <a:r>
              <a:rPr sz="2400" b="1">
                <a:solidFill>
                  <a:srgbClr val="83F3C9"/>
                </a:solidFill>
                <a:latin typeface="Avenir Next"/>
                <a:ea typeface="Avenir Next"/>
                <a:cs typeface="Avenir Next"/>
              </a:rPr>
              <a:t>6.5h → 1.8h</a:t>
            </a:r>
          </a:p>
        </p:txBody>
      </p:sp>
      <p:sp>
        <p:nvSpPr>
          <p:cNvPr id="10" name="">
            <a:extLst xmlns:a="http://schemas.openxmlformats.org/drawingml/2006/main">
              <a:ext uri="{FF2B5EF4-FFF2-40B4-BE49-F238E27FC236}">
                <a16:creationId xmlns:a16="http://schemas.microsoft.com/office/drawing/2014/main" id="{8D6AFB32-0F14-4F03-866A-8BAD14BA1EF6}"/>
              </a:ext>
            </a:extLst>
          </p:cNvPr>
          <p:cNvSpPr>
            <a:spLocks xmlns:a="http://schemas.openxmlformats.org/drawingml/2006/main" noGrp="1"/>
          </p:cNvSpPr>
          <p:nvPr/>
        </p:nvSpPr>
        <p:spPr>
          <a:xfrm xmlns:a="http://schemas.openxmlformats.org/drawingml/2006/main">
            <a:off x="609600" y="4572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AA8AE"/>
                </a:solidFill>
                <a:latin typeface="Avenir Next"/>
                <a:ea typeface="Avenir Next"/>
                <a:cs typeface="Avenir Next"/>
              </a:defRPr>
            </a:pPr>
            <a:r>
              <a:rPr sz="1125" b="0">
                <a:solidFill>
                  <a:srgbClr val="9AA8AE"/>
                </a:solidFill>
                <a:latin typeface="Avenir Next"/>
                <a:ea typeface="Avenir Next"/>
                <a:cs typeface="Avenir Next"/>
              </a:rPr>
              <a:t>overtime exposure</a:t>
            </a:r>
          </a:p>
        </p:txBody>
      </p:sp>
      <p:sp>
        <p:nvSpPr>
          <p:cNvPr id="11" name="">
            <a:extLst xmlns:a="http://schemas.openxmlformats.org/drawingml/2006/main">
              <a:ext uri="{FF2B5EF4-FFF2-40B4-BE49-F238E27FC236}">
                <a16:creationId xmlns:a16="http://schemas.microsoft.com/office/drawing/2014/main" id="{A4BD535C-4325-47D5-90AF-1350384737D7}"/>
              </a:ext>
            </a:extLst>
          </p:cNvPr>
          <p:cNvSpPr>
            <a:spLocks xmlns:a="http://schemas.openxmlformats.org/drawingml/2006/main" noGrp="1"/>
          </p:cNvSpPr>
          <p:nvPr/>
        </p:nvSpPr>
        <p:spPr>
          <a:xfrm xmlns:a="http://schemas.openxmlformats.org/drawingml/2006/main">
            <a:off x="3276600" y="40386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83F3C9"/>
                </a:solidFill>
                <a:latin typeface="Avenir Next"/>
                <a:ea typeface="Avenir Next"/>
                <a:cs typeface="Avenir Next"/>
              </a:defRPr>
            </a:pPr>
            <a:r>
              <a:rPr sz="2400" b="1">
                <a:solidFill>
                  <a:srgbClr val="83F3C9"/>
                </a:solidFill>
                <a:latin typeface="Avenir Next"/>
                <a:ea typeface="Avenir Next"/>
                <a:cs typeface="Avenir Next"/>
              </a:rPr>
              <a:t>$0 → $41K</a:t>
            </a:r>
          </a:p>
        </p:txBody>
      </p:sp>
      <p:sp>
        <p:nvSpPr>
          <p:cNvPr id="12" name="">
            <a:extLst xmlns:a="http://schemas.openxmlformats.org/drawingml/2006/main">
              <a:ext uri="{FF2B5EF4-FFF2-40B4-BE49-F238E27FC236}">
                <a16:creationId xmlns:a16="http://schemas.microsoft.com/office/drawing/2014/main" id="{EEB9F95D-49A2-4DDE-B55A-32E19A7F65D9}"/>
              </a:ext>
            </a:extLst>
          </p:cNvPr>
          <p:cNvSpPr>
            <a:spLocks xmlns:a="http://schemas.openxmlformats.org/drawingml/2006/main" noGrp="1"/>
          </p:cNvSpPr>
          <p:nvPr/>
        </p:nvSpPr>
        <p:spPr>
          <a:xfrm xmlns:a="http://schemas.openxmlformats.org/drawingml/2006/main">
            <a:off x="3276600" y="4572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9AA8AE"/>
                </a:solidFill>
                <a:latin typeface="Avenir Next"/>
                <a:ea typeface="Avenir Next"/>
                <a:cs typeface="Avenir Next"/>
              </a:defRPr>
            </a:pPr>
            <a:r>
              <a:rPr sz="1125" b="0">
                <a:solidFill>
                  <a:srgbClr val="9AA8AE"/>
                </a:solidFill>
                <a:latin typeface="Avenir Next"/>
                <a:ea typeface="Avenir Next"/>
                <a:cs typeface="Avenir Next"/>
              </a:rPr>
              <a:t>modeled margin protected</a:t>
            </a:r>
          </a:p>
        </p:txBody>
      </p:sp>
      <p:sp>
        <p:nvSpPr>
          <p:cNvPr id="13" name="">
            <a:extLst xmlns:a="http://schemas.openxmlformats.org/drawingml/2006/main">
              <a:ext uri="{FF2B5EF4-FFF2-40B4-BE49-F238E27FC236}">
                <a16:creationId xmlns:a16="http://schemas.microsoft.com/office/drawing/2014/main" id="{0F3850EC-C8FB-48AB-A530-D49B1B03CB6E}"/>
              </a:ext>
            </a:extLst>
          </p:cNvPr>
          <p:cNvSpPr>
            <a:spLocks xmlns:a="http://schemas.openxmlformats.org/drawingml/2006/main" noGrp="1"/>
          </p:cNvSpPr>
          <p:nvPr/>
        </p:nvSpPr>
        <p:spPr>
          <a:xfrm xmlns:a="http://schemas.openxmlformats.org/drawingml/2006/main">
            <a:off x="5962650" y="5619750"/>
            <a:ext cx="5619750" cy="495300"/>
          </a:xfrm>
          <a:prstGeom xmlns:a="http://schemas.openxmlformats.org/drawingml/2006/main" prst="roundRect">
            <a:avLst>
              <a:gd name="adj" fmla="val 26923"/>
            </a:avLst>
          </a:prstGeom>
          <a:solidFill xmlns:a="http://schemas.openxmlformats.org/drawingml/2006/main">
            <a:srgbClr val="0E222C"/>
          </a:solidFill>
          <a:ln xmlns:a="http://schemas.openxmlformats.org/drawingml/2006/main" w="9525">
            <a:solidFill>
              <a:srgbClr val="28404A"/>
            </a:solidFill>
            <a:prstDash val="solid"/>
          </a:ln>
        </p:spPr>
      </p:sp>
      <p:sp>
        <p:nvSpPr>
          <p:cNvPr id="14" name="">
            <a:extLst xmlns:a="http://schemas.openxmlformats.org/drawingml/2006/main">
              <a:ext uri="{FF2B5EF4-FFF2-40B4-BE49-F238E27FC236}">
                <a16:creationId xmlns:a16="http://schemas.microsoft.com/office/drawing/2014/main" id="{620416DB-32DB-47A1-BC9E-8CD758849B23}"/>
              </a:ext>
            </a:extLst>
          </p:cNvPr>
          <p:cNvSpPr>
            <a:spLocks xmlns:a="http://schemas.openxmlformats.org/drawingml/2006/main" noGrp="1"/>
          </p:cNvSpPr>
          <p:nvPr/>
        </p:nvSpPr>
        <p:spPr>
          <a:xfrm xmlns:a="http://schemas.openxmlformats.org/drawingml/2006/main">
            <a:off x="6134100" y="5619750"/>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F3C668"/>
                </a:solidFill>
                <a:latin typeface="Avenir Next"/>
                <a:ea typeface="Avenir Next"/>
                <a:cs typeface="Avenir Next"/>
              </a:defRPr>
            </a:pPr>
            <a:r>
              <a:rPr sz="750" b="1">
                <a:solidFill>
                  <a:srgbClr val="F3C668"/>
                </a:solidFill>
                <a:latin typeface="Avenir Next"/>
                <a:ea typeface="Avenir Next"/>
                <a:cs typeface="Avenir Next"/>
              </a:rPr>
              <a:t>ASSUMPTIONS  ·  one avoided cancellation · 96 OR minutes · local contribution estimate</a:t>
            </a:r>
          </a:p>
        </p:txBody>
      </p:sp>
      <p:sp>
        <p:nvSpPr>
          <p:cNvPr id="15" name="">
            <a:extLst xmlns:a="http://schemas.openxmlformats.org/drawingml/2006/main">
              <a:ext uri="{FF2B5EF4-FFF2-40B4-BE49-F238E27FC236}">
                <a16:creationId xmlns:a16="http://schemas.microsoft.com/office/drawing/2014/main" id="{4420D51E-FB79-4E4B-8689-0B567FBE075B}"/>
              </a:ext>
            </a:extLst>
          </p:cNvPr>
          <p:cNvSpPr>
            <a:spLocks xmlns:a="http://schemas.openxmlformats.org/drawingml/2006/main" noGrp="1"/>
          </p:cNvSpPr>
          <p:nvPr/>
        </p:nvSpPr>
        <p:spPr>
          <a:xfrm xmlns:a="http://schemas.openxmlformats.org/drawingml/2006/main">
            <a:off x="609600"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5F7078"/>
                </a:solidFill>
                <a:latin typeface="Avenir Next"/>
                <a:ea typeface="Avenir Next"/>
                <a:cs typeface="Avenir Next"/>
              </a:defRPr>
            </a:pPr>
            <a:r>
              <a:rPr sz="675" b="0">
                <a:solidFill>
                  <a:srgbClr val="5F7078"/>
                </a:solidFill>
                <a:latin typeface="Avenir Next"/>
                <a:ea typeface="Avenir Next"/>
                <a:cs typeface="Avenir Next"/>
              </a:rPr>
              <a:t>Illustrative outputs only; not a clinical or financial forecast.</a:t>
            </a:r>
          </a:p>
        </p:txBody>
      </p:sp>
      <p:sp>
        <p:nvSpPr>
          <p:cNvPr id="16" name="">
            <a:extLst xmlns:a="http://schemas.openxmlformats.org/drawingml/2006/main">
              <a:ext uri="{FF2B5EF4-FFF2-40B4-BE49-F238E27FC236}">
                <a16:creationId xmlns:a16="http://schemas.microsoft.com/office/drawing/2014/main" id="{8D58FCBE-F2B8-4BB4-8C42-6EFAFAF351DC}"/>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11</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f50221032b24282"/>
          <a:srcRect xmlns:a="http://schemas.openxmlformats.org/drawingml/2006/main" l="19" t="0" r="19" b="0"/>
          <a:stretch xmlns:a="http://schemas.openxmlformats.org/drawingml/2006/main">
            <a:fillRect l="0" t="0" r="0" b="0"/>
          </a:stretch>
        </p:blipFill>
        <p:spPr>
          <a:xfrm xmlns:a="http://schemas.openxmlformats.org/drawingml/2006/main">
            <a:off x="5962650" y="2286000"/>
            <a:ext cx="5619750" cy="3162300"/>
          </a:xfrm>
          <a:prstGeom xmlns:a="http://schemas.openxmlformats.org/drawingml/2006/main" prst="roundRect">
            <a:avLst>
              <a:gd name="adj" fmla="val 6627"/>
            </a:avLst>
          </a:prstGeom>
        </p:spPr>
      </p:pic>
    </p:spTree>
    <p:extLst>
      <p:ext uri="{BB962C8B-B14F-4D97-AF65-F5344CB8AC3E}">
        <p14:creationId xmlns:p14="http://schemas.microsoft.com/office/powerpoint/2010/main" val="788179628"/>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0CCF4B-C810-450E-8FB1-FB17110CEC85}"/>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0A43BE-49C3-4855-B383-8235CEFCD286}"/>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EVIDENCE, NOT INEVITABILITY</a:t>
            </a:r>
          </a:p>
        </p:txBody>
      </p:sp>
      <p:sp>
        <p:nvSpPr>
          <p:cNvPr id="3" name="">
            <a:extLst xmlns:a="http://schemas.openxmlformats.org/drawingml/2006/main">
              <a:ext uri="{FF2B5EF4-FFF2-40B4-BE49-F238E27FC236}">
                <a16:creationId xmlns:a16="http://schemas.microsoft.com/office/drawing/2014/main" id="{D447511C-75AE-42FC-89DD-4FDEE9C88E14}"/>
              </a:ext>
            </a:extLst>
          </p:cNvPr>
          <p:cNvSpPr>
            <a:spLocks xmlns:a="http://schemas.openxmlformats.org/drawingml/2006/main" noGrp="1"/>
          </p:cNvSpPr>
          <p:nvPr/>
        </p:nvSpPr>
        <p:spPr>
          <a:xfrm xmlns:a="http://schemas.openxmlformats.org/drawingml/2006/main">
            <a:off x="609600" y="781050"/>
            <a:ext cx="1047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720"/>
                </a:solidFill>
                <a:latin typeface="Avenir Next"/>
                <a:ea typeface="Avenir Next"/>
                <a:cs typeface="Avenir Next"/>
              </a:defRPr>
            </a:pPr>
            <a:r>
              <a:rPr sz="3150" b="1">
                <a:solidFill>
                  <a:srgbClr val="0B1720"/>
                </a:solidFill>
                <a:latin typeface="Avenir Next"/>
                <a:ea typeface="Avenir Next"/>
                <a:cs typeface="Avenir Next"/>
              </a:rPr>
              <a:t>Embedded AI is already moving operational outcomes.</a:t>
            </a:r>
          </a:p>
        </p:txBody>
      </p:sp>
      <p:sp>
        <p:nvSpPr>
          <p:cNvPr id="4" name="">
            <a:extLst xmlns:a="http://schemas.openxmlformats.org/drawingml/2006/main">
              <a:ext uri="{FF2B5EF4-FFF2-40B4-BE49-F238E27FC236}">
                <a16:creationId xmlns:a16="http://schemas.microsoft.com/office/drawing/2014/main" id="{8C9EDF0E-AA28-4FAD-A0D9-EF5E5B367CC8}"/>
              </a:ext>
            </a:extLst>
          </p:cNvPr>
          <p:cNvSpPr>
            <a:spLocks xmlns:a="http://schemas.openxmlformats.org/drawingml/2006/main" noGrp="1"/>
          </p:cNvSpPr>
          <p:nvPr/>
        </p:nvSpPr>
        <p:spPr>
          <a:xfrm xmlns:a="http://schemas.openxmlformats.org/drawingml/2006/main">
            <a:off x="609600" y="184785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5F7078"/>
                </a:solidFill>
                <a:latin typeface="Avenir Next"/>
                <a:ea typeface="Avenir Next"/>
                <a:cs typeface="Avenir Next"/>
              </a:defRPr>
            </a:pPr>
            <a:r>
              <a:rPr sz="1425" b="0">
                <a:solidFill>
                  <a:srgbClr val="5F7078"/>
                </a:solidFill>
                <a:latin typeface="Avenir Next"/>
                <a:ea typeface="Avenir Next"/>
                <a:cs typeface="Avenir Next"/>
              </a:rPr>
              <a:t>Early implementations show the value of intelligence inside the workflow—not beside it.</a:t>
            </a:r>
          </a:p>
        </p:txBody>
      </p:sp>
      <p:sp>
        <p:nvSpPr>
          <p:cNvPr id="5" name="">
            <a:extLst xmlns:a="http://schemas.openxmlformats.org/drawingml/2006/main">
              <a:ext uri="{FF2B5EF4-FFF2-40B4-BE49-F238E27FC236}">
                <a16:creationId xmlns:a16="http://schemas.microsoft.com/office/drawing/2014/main" id="{504AB18B-8E47-4CDB-8D71-8E3E67A394B8}"/>
              </a:ext>
            </a:extLst>
          </p:cNvPr>
          <p:cNvSpPr>
            <a:spLocks xmlns:a="http://schemas.openxmlformats.org/drawingml/2006/main" noGrp="1"/>
          </p:cNvSpPr>
          <p:nvPr/>
        </p:nvSpPr>
        <p:spPr>
          <a:xfrm xmlns:a="http://schemas.openxmlformats.org/drawingml/2006/main">
            <a:off x="6096000" y="2495550"/>
            <a:ext cx="0" cy="3105150"/>
          </a:xfrm>
          <a:prstGeom xmlns:a="http://schemas.openxmlformats.org/drawingml/2006/main" prst="line">
            <a:avLst/>
          </a:prstGeom>
          <a:noFill xmlns:a="http://schemas.openxmlformats.org/drawingml/2006/main"/>
          <a:ln xmlns:a="http://schemas.openxmlformats.org/drawingml/2006/main" w="9525">
            <a:solidFill>
              <a:srgbClr val="CDD5D5"/>
            </a:solidFill>
            <a:prstDash val="solid"/>
          </a:ln>
        </p:spPr>
      </p:sp>
      <p:sp>
        <p:nvSpPr>
          <p:cNvPr id="6" name="">
            <a:extLst xmlns:a="http://schemas.openxmlformats.org/drawingml/2006/main">
              <a:ext uri="{FF2B5EF4-FFF2-40B4-BE49-F238E27FC236}">
                <a16:creationId xmlns:a16="http://schemas.microsoft.com/office/drawing/2014/main" id="{BF45F78A-93D8-4F40-87DE-C75E9483E3EE}"/>
              </a:ext>
            </a:extLst>
          </p:cNvPr>
          <p:cNvSpPr>
            <a:spLocks xmlns:a="http://schemas.openxmlformats.org/drawingml/2006/main" noGrp="1"/>
          </p:cNvSpPr>
          <p:nvPr/>
        </p:nvSpPr>
        <p:spPr>
          <a:xfrm xmlns:a="http://schemas.openxmlformats.org/drawingml/2006/main">
            <a:off x="609600" y="25717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HARTFORD HEALTHCARE</a:t>
            </a:r>
          </a:p>
        </p:txBody>
      </p:sp>
      <p:sp>
        <p:nvSpPr>
          <p:cNvPr id="7" name="">
            <a:extLst xmlns:a="http://schemas.openxmlformats.org/drawingml/2006/main">
              <a:ext uri="{FF2B5EF4-FFF2-40B4-BE49-F238E27FC236}">
                <a16:creationId xmlns:a16="http://schemas.microsoft.com/office/drawing/2014/main" id="{DE38A647-9ECA-4DD5-90D7-7B781A86F775}"/>
              </a:ext>
            </a:extLst>
          </p:cNvPr>
          <p:cNvSpPr>
            <a:spLocks xmlns:a="http://schemas.openxmlformats.org/drawingml/2006/main" noGrp="1"/>
          </p:cNvSpPr>
          <p:nvPr/>
        </p:nvSpPr>
        <p:spPr>
          <a:xfrm xmlns:a="http://schemas.openxmlformats.org/drawingml/2006/main">
            <a:off x="609600" y="3028950"/>
            <a:ext cx="400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5100" b="1">
                <a:solidFill>
                  <a:srgbClr val="0B1720"/>
                </a:solidFill>
                <a:latin typeface="Avenir Next"/>
                <a:ea typeface="Avenir Next"/>
                <a:cs typeface="Avenir Next"/>
              </a:defRPr>
            </a:pPr>
            <a:r>
              <a:rPr sz="5100" b="1">
                <a:solidFill>
                  <a:srgbClr val="0B1720"/>
                </a:solidFill>
                <a:latin typeface="Avenir Next"/>
                <a:ea typeface="Avenir Next"/>
                <a:cs typeface="Avenir Next"/>
              </a:rPr>
              <a:t>−0.63</a:t>
            </a:r>
          </a:p>
        </p:txBody>
      </p:sp>
      <p:sp>
        <p:nvSpPr>
          <p:cNvPr id="8" name="">
            <a:extLst xmlns:a="http://schemas.openxmlformats.org/drawingml/2006/main">
              <a:ext uri="{FF2B5EF4-FFF2-40B4-BE49-F238E27FC236}">
                <a16:creationId xmlns:a16="http://schemas.microsoft.com/office/drawing/2014/main" id="{3DAAFC86-DC34-4042-AED0-1C4677710B3B}"/>
              </a:ext>
            </a:extLst>
          </p:cNvPr>
          <p:cNvSpPr>
            <a:spLocks xmlns:a="http://schemas.openxmlformats.org/drawingml/2006/main" noGrp="1"/>
          </p:cNvSpPr>
          <p:nvPr/>
        </p:nvSpPr>
        <p:spPr>
          <a:xfrm xmlns:a="http://schemas.openxmlformats.org/drawingml/2006/main">
            <a:off x="609600" y="3905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F7078"/>
                </a:solidFill>
                <a:latin typeface="Avenir Next"/>
                <a:ea typeface="Avenir Next"/>
                <a:cs typeface="Avenir Next"/>
              </a:defRPr>
            </a:pPr>
            <a:r>
              <a:rPr sz="1650" b="0">
                <a:solidFill>
                  <a:srgbClr val="5F7078"/>
                </a:solidFill>
                <a:latin typeface="Avenir Next"/>
                <a:ea typeface="Avenir Next"/>
                <a:cs typeface="Avenir Next"/>
              </a:rPr>
              <a:t>days of length of stay</a:t>
            </a:r>
          </a:p>
        </p:txBody>
      </p:sp>
      <p:sp>
        <p:nvSpPr>
          <p:cNvPr id="9" name="">
            <a:extLst xmlns:a="http://schemas.openxmlformats.org/drawingml/2006/main">
              <a:ext uri="{FF2B5EF4-FFF2-40B4-BE49-F238E27FC236}">
                <a16:creationId xmlns:a16="http://schemas.microsoft.com/office/drawing/2014/main" id="{F7DBB586-43FB-4186-820C-623AF000E2AB}"/>
              </a:ext>
            </a:extLst>
          </p:cNvPr>
          <p:cNvSpPr>
            <a:spLocks xmlns:a="http://schemas.openxmlformats.org/drawingml/2006/main" noGrp="1"/>
          </p:cNvSpPr>
          <p:nvPr/>
        </p:nvSpPr>
        <p:spPr>
          <a:xfrm xmlns:a="http://schemas.openxmlformats.org/drawingml/2006/main">
            <a:off x="609600" y="44958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720"/>
                </a:solidFill>
                <a:latin typeface="Avenir Next"/>
                <a:ea typeface="Avenir Next"/>
                <a:cs typeface="Avenir Next"/>
              </a:defRPr>
            </a:pPr>
            <a:r>
              <a:rPr sz="1500" b="1">
                <a:solidFill>
                  <a:srgbClr val="0B1720"/>
                </a:solidFill>
                <a:latin typeface="Avenir Next"/>
                <a:ea typeface="Avenir Next"/>
                <a:cs typeface="Avenir Next"/>
              </a:rPr>
              <a:t>$52–67M estimated annual benefit</a:t>
            </a:r>
          </a:p>
        </p:txBody>
      </p:sp>
      <p:sp>
        <p:nvSpPr>
          <p:cNvPr id="10" name="">
            <a:extLst xmlns:a="http://schemas.openxmlformats.org/drawingml/2006/main">
              <a:ext uri="{FF2B5EF4-FFF2-40B4-BE49-F238E27FC236}">
                <a16:creationId xmlns:a16="http://schemas.microsoft.com/office/drawing/2014/main" id="{BD5EB331-47E4-4FD7-B02B-6804C450E49D}"/>
              </a:ext>
            </a:extLst>
          </p:cNvPr>
          <p:cNvSpPr>
            <a:spLocks xmlns:a="http://schemas.openxmlformats.org/drawingml/2006/main" noGrp="1"/>
          </p:cNvSpPr>
          <p:nvPr/>
        </p:nvSpPr>
        <p:spPr>
          <a:xfrm xmlns:a="http://schemas.openxmlformats.org/drawingml/2006/main">
            <a:off x="609600" y="5086350"/>
            <a:ext cx="2095500" cy="285750"/>
          </a:xfrm>
          <a:prstGeom xmlns:a="http://schemas.openxmlformats.org/drawingml/2006/main" prst="roundRect">
            <a:avLst>
              <a:gd name="adj" fmla="val 50000"/>
            </a:avLst>
          </a:prstGeom>
          <a:solidFill xmlns:a="http://schemas.openxmlformats.org/drawingml/2006/main">
            <a:srgbClr val="E5E9E5"/>
          </a:solidFill>
          <a:ln xmlns:a="http://schemas.openxmlformats.org/drawingml/2006/main" w="9525">
            <a:solidFill>
              <a:srgbClr val="CDD5D5"/>
            </a:solidFill>
            <a:prstDash val="solid"/>
          </a:ln>
        </p:spPr>
      </p:sp>
      <p:sp>
        <p:nvSpPr>
          <p:cNvPr id="11" name="">
            <a:extLst xmlns:a="http://schemas.openxmlformats.org/drawingml/2006/main">
              <a:ext uri="{FF2B5EF4-FFF2-40B4-BE49-F238E27FC236}">
                <a16:creationId xmlns:a16="http://schemas.microsoft.com/office/drawing/2014/main" id="{B3367250-2204-4EB2-876C-EC96C263EC5D}"/>
              </a:ext>
            </a:extLst>
          </p:cNvPr>
          <p:cNvSpPr>
            <a:spLocks xmlns:a="http://schemas.openxmlformats.org/drawingml/2006/main" noGrp="1"/>
          </p:cNvSpPr>
          <p:nvPr/>
        </p:nvSpPr>
        <p:spPr>
          <a:xfrm xmlns:a="http://schemas.openxmlformats.org/drawingml/2006/main">
            <a:off x="609600" y="50863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5F7078"/>
                </a:solidFill>
                <a:latin typeface="Avenir Next"/>
                <a:ea typeface="Avenir Next"/>
                <a:cs typeface="Avenir Next"/>
              </a:defRPr>
            </a:pPr>
            <a:r>
              <a:rPr sz="750" b="1">
                <a:solidFill>
                  <a:srgbClr val="5F7078"/>
                </a:solidFill>
                <a:latin typeface="Avenir Next"/>
                <a:ea typeface="Avenir Next"/>
                <a:cs typeface="Avenir Next"/>
              </a:rPr>
              <a:t>OBSERVATIONAL IMPLEMENTATION</a:t>
            </a:r>
          </a:p>
        </p:txBody>
      </p:sp>
      <p:sp>
        <p:nvSpPr>
          <p:cNvPr id="12" name="">
            <a:extLst xmlns:a="http://schemas.openxmlformats.org/drawingml/2006/main">
              <a:ext uri="{FF2B5EF4-FFF2-40B4-BE49-F238E27FC236}">
                <a16:creationId xmlns:a16="http://schemas.microsoft.com/office/drawing/2014/main" id="{42F76C91-CF3E-4F03-839B-1E395528EB6F}"/>
              </a:ext>
            </a:extLst>
          </p:cNvPr>
          <p:cNvSpPr>
            <a:spLocks xmlns:a="http://schemas.openxmlformats.org/drawingml/2006/main" noGrp="1"/>
          </p:cNvSpPr>
          <p:nvPr/>
        </p:nvSpPr>
        <p:spPr>
          <a:xfrm xmlns:a="http://schemas.openxmlformats.org/drawingml/2006/main">
            <a:off x="6705600" y="257175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247B63"/>
                </a:solidFill>
                <a:latin typeface="Avenir Next"/>
                <a:ea typeface="Avenir Next"/>
                <a:cs typeface="Avenir Next"/>
              </a:defRPr>
            </a:pPr>
            <a:r>
              <a:rPr sz="825" b="1">
                <a:solidFill>
                  <a:srgbClr val="247B63"/>
                </a:solidFill>
                <a:latin typeface="Avenir Next"/>
                <a:ea typeface="Avenir Next"/>
                <a:cs typeface="Avenir Next"/>
              </a:rPr>
              <a:t>PENN ORACLE</a:t>
            </a:r>
          </a:p>
        </p:txBody>
      </p:sp>
      <p:sp>
        <p:nvSpPr>
          <p:cNvPr id="13" name="">
            <a:extLst xmlns:a="http://schemas.openxmlformats.org/drawingml/2006/main">
              <a:ext uri="{FF2B5EF4-FFF2-40B4-BE49-F238E27FC236}">
                <a16:creationId xmlns:a16="http://schemas.microsoft.com/office/drawing/2014/main" id="{A10A948E-16F5-40B2-BC36-6CD8B745F48D}"/>
              </a:ext>
            </a:extLst>
          </p:cNvPr>
          <p:cNvSpPr>
            <a:spLocks xmlns:a="http://schemas.openxmlformats.org/drawingml/2006/main" noGrp="1"/>
          </p:cNvSpPr>
          <p:nvPr/>
        </p:nvSpPr>
        <p:spPr>
          <a:xfrm xmlns:a="http://schemas.openxmlformats.org/drawingml/2006/main">
            <a:off x="6705600" y="3028950"/>
            <a:ext cx="400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5100" b="1">
                <a:solidFill>
                  <a:srgbClr val="0B1720"/>
                </a:solidFill>
                <a:latin typeface="Avenir Next"/>
                <a:ea typeface="Avenir Next"/>
                <a:cs typeface="Avenir Next"/>
              </a:defRPr>
            </a:pPr>
            <a:r>
              <a:rPr sz="5100" b="1">
                <a:solidFill>
                  <a:srgbClr val="0B1720"/>
                </a:solidFill>
                <a:latin typeface="Avenir Next"/>
                <a:ea typeface="Avenir Next"/>
                <a:cs typeface="Avenir Next"/>
              </a:rPr>
              <a:t>884</a:t>
            </a:r>
          </a:p>
        </p:txBody>
      </p:sp>
      <p:sp>
        <p:nvSpPr>
          <p:cNvPr id="14" name="">
            <a:extLst xmlns:a="http://schemas.openxmlformats.org/drawingml/2006/main">
              <a:ext uri="{FF2B5EF4-FFF2-40B4-BE49-F238E27FC236}">
                <a16:creationId xmlns:a16="http://schemas.microsoft.com/office/drawing/2014/main" id="{CA1BC328-B453-48E1-B49C-FB366BB9D900}"/>
              </a:ext>
            </a:extLst>
          </p:cNvPr>
          <p:cNvSpPr>
            <a:spLocks xmlns:a="http://schemas.openxmlformats.org/drawingml/2006/main" noGrp="1"/>
          </p:cNvSpPr>
          <p:nvPr/>
        </p:nvSpPr>
        <p:spPr>
          <a:xfrm xmlns:a="http://schemas.openxmlformats.org/drawingml/2006/main">
            <a:off x="6705600" y="39052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F7078"/>
                </a:solidFill>
                <a:latin typeface="Avenir Next"/>
                <a:ea typeface="Avenir Next"/>
                <a:cs typeface="Avenir Next"/>
              </a:defRPr>
            </a:pPr>
            <a:r>
              <a:rPr sz="1650" b="0">
                <a:solidFill>
                  <a:srgbClr val="5F7078"/>
                </a:solidFill>
                <a:latin typeface="Avenir Next"/>
                <a:ea typeface="Avenir Next"/>
                <a:cs typeface="Avenir Next"/>
              </a:rPr>
              <a:t>fewer scheduling-error hours / year</a:t>
            </a:r>
          </a:p>
        </p:txBody>
      </p:sp>
      <p:sp>
        <p:nvSpPr>
          <p:cNvPr id="15" name="">
            <a:extLst xmlns:a="http://schemas.openxmlformats.org/drawingml/2006/main">
              <a:ext uri="{FF2B5EF4-FFF2-40B4-BE49-F238E27FC236}">
                <a16:creationId xmlns:a16="http://schemas.microsoft.com/office/drawing/2014/main" id="{EA7EE731-78C7-4061-8211-5E508F4AA8F1}"/>
              </a:ext>
            </a:extLst>
          </p:cNvPr>
          <p:cNvSpPr>
            <a:spLocks xmlns:a="http://schemas.openxmlformats.org/drawingml/2006/main" noGrp="1"/>
          </p:cNvSpPr>
          <p:nvPr/>
        </p:nvSpPr>
        <p:spPr>
          <a:xfrm xmlns:a="http://schemas.openxmlformats.org/drawingml/2006/main">
            <a:off x="6705600" y="44958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720"/>
                </a:solidFill>
                <a:latin typeface="Avenir Next"/>
                <a:ea typeface="Avenir Next"/>
                <a:cs typeface="Avenir Next"/>
              </a:defRPr>
            </a:pPr>
            <a:r>
              <a:rPr sz="1500" b="1">
                <a:solidFill>
                  <a:srgbClr val="0B1720"/>
                </a:solidFill>
                <a:latin typeface="Avenir Next"/>
                <a:ea typeface="Avenir Next"/>
                <a:cs typeface="Avenir Next"/>
              </a:rPr>
              <a:t>5% more accurate OR scheduling</a:t>
            </a:r>
          </a:p>
        </p:txBody>
      </p:sp>
      <p:sp>
        <p:nvSpPr>
          <p:cNvPr id="16" name="">
            <a:extLst xmlns:a="http://schemas.openxmlformats.org/drawingml/2006/main">
              <a:ext uri="{FF2B5EF4-FFF2-40B4-BE49-F238E27FC236}">
                <a16:creationId xmlns:a16="http://schemas.microsoft.com/office/drawing/2014/main" id="{44B7087B-2821-431F-9D76-32C7A05C714D}"/>
              </a:ext>
            </a:extLst>
          </p:cNvPr>
          <p:cNvSpPr>
            <a:spLocks xmlns:a="http://schemas.openxmlformats.org/drawingml/2006/main" noGrp="1"/>
          </p:cNvSpPr>
          <p:nvPr/>
        </p:nvSpPr>
        <p:spPr>
          <a:xfrm xmlns:a="http://schemas.openxmlformats.org/drawingml/2006/main">
            <a:off x="6705600" y="5086350"/>
            <a:ext cx="2095500" cy="285750"/>
          </a:xfrm>
          <a:prstGeom xmlns:a="http://schemas.openxmlformats.org/drawingml/2006/main" prst="roundRect">
            <a:avLst>
              <a:gd name="adj" fmla="val 50000"/>
            </a:avLst>
          </a:prstGeom>
          <a:solidFill xmlns:a="http://schemas.openxmlformats.org/drawingml/2006/main">
            <a:srgbClr val="E5E9E5"/>
          </a:solidFill>
          <a:ln xmlns:a="http://schemas.openxmlformats.org/drawingml/2006/main" w="9525">
            <a:solidFill>
              <a:srgbClr val="CDD5D5"/>
            </a:solidFill>
            <a:prstDash val="solid"/>
          </a:ln>
        </p:spPr>
      </p:sp>
      <p:sp>
        <p:nvSpPr>
          <p:cNvPr id="17" name="">
            <a:extLst xmlns:a="http://schemas.openxmlformats.org/drawingml/2006/main">
              <a:ext uri="{FF2B5EF4-FFF2-40B4-BE49-F238E27FC236}">
                <a16:creationId xmlns:a16="http://schemas.microsoft.com/office/drawing/2014/main" id="{C86F361D-2031-4703-94B9-A589A97ED765}"/>
              </a:ext>
            </a:extLst>
          </p:cNvPr>
          <p:cNvSpPr>
            <a:spLocks xmlns:a="http://schemas.openxmlformats.org/drawingml/2006/main" noGrp="1"/>
          </p:cNvSpPr>
          <p:nvPr/>
        </p:nvSpPr>
        <p:spPr>
          <a:xfrm xmlns:a="http://schemas.openxmlformats.org/drawingml/2006/main">
            <a:off x="6705600" y="50863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1">
                <a:solidFill>
                  <a:srgbClr val="5F7078"/>
                </a:solidFill>
                <a:latin typeface="Avenir Next"/>
                <a:ea typeface="Avenir Next"/>
                <a:cs typeface="Avenir Next"/>
              </a:defRPr>
            </a:pPr>
            <a:r>
              <a:rPr sz="750" b="1">
                <a:solidFill>
                  <a:srgbClr val="5F7078"/>
                </a:solidFill>
                <a:latin typeface="Avenir Next"/>
                <a:ea typeface="Avenir Next"/>
                <a:cs typeface="Avenir Next"/>
              </a:rPr>
              <a:t>HEALTH-SYSTEM IMPLEMENTATION</a:t>
            </a:r>
          </a:p>
        </p:txBody>
      </p:sp>
      <p:sp>
        <p:nvSpPr>
          <p:cNvPr id="18" name="">
            <a:extLst xmlns:a="http://schemas.openxmlformats.org/drawingml/2006/main">
              <a:ext uri="{FF2B5EF4-FFF2-40B4-BE49-F238E27FC236}">
                <a16:creationId xmlns:a16="http://schemas.microsoft.com/office/drawing/2014/main" id="{C3FC108F-3D1A-4053-AD2F-21ACDD99F8F8}"/>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oundRect">
            <a:avLst>
              <a:gd name="adj" fmla="val 33333"/>
            </a:avLst>
          </a:prstGeom>
          <a:solidFill xmlns:a="http://schemas.openxmlformats.org/drawingml/2006/main">
            <a:srgbClr val="0B1720"/>
          </a:solidFill>
          <a:ln xmlns:a="http://schemas.openxmlformats.org/drawingml/2006/main" w="0">
            <a:solidFill>
              <a:srgbClr val="0B1720"/>
            </a:solidFill>
            <a:prstDash val="solid"/>
          </a:ln>
        </p:spPr>
      </p:sp>
      <p:sp>
        <p:nvSpPr>
          <p:cNvPr id="19" name="">
            <a:extLst xmlns:a="http://schemas.openxmlformats.org/drawingml/2006/main">
              <a:ext uri="{FF2B5EF4-FFF2-40B4-BE49-F238E27FC236}">
                <a16:creationId xmlns:a16="http://schemas.microsoft.com/office/drawing/2014/main" id="{AA7A2C34-0B60-4F43-9B48-AF6DAE960C52}"/>
              </a:ext>
            </a:extLst>
          </p:cNvPr>
          <p:cNvSpPr>
            <a:spLocks xmlns:a="http://schemas.openxmlformats.org/drawingml/2006/main" noGrp="1"/>
          </p:cNvSpPr>
          <p:nvPr/>
        </p:nvSpPr>
        <p:spPr>
          <a:xfrm xmlns:a="http://schemas.openxmlformats.org/drawingml/2006/main">
            <a:off x="857250" y="57531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F7F8F5"/>
                </a:solidFill>
                <a:latin typeface="Avenir Next"/>
                <a:ea typeface="Avenir Next"/>
                <a:cs typeface="Avenir Next"/>
              </a:defRPr>
            </a:pPr>
            <a:r>
              <a:rPr sz="1125" b="1">
                <a:solidFill>
                  <a:srgbClr val="F7F8F5"/>
                </a:solidFill>
                <a:latin typeface="Avenir Next"/>
                <a:ea typeface="Avenir Next"/>
                <a:cs typeface="Avenir Next"/>
              </a:rPr>
              <a:t>These results support the mechanism. They do not yet prove a fully agentic hospital.</a:t>
            </a:r>
          </a:p>
        </p:txBody>
      </p:sp>
      <p:sp>
        <p:nvSpPr>
          <p:cNvPr id="20" name="">
            <a:extLst xmlns:a="http://schemas.openxmlformats.org/drawingml/2006/main">
              <a:ext uri="{FF2B5EF4-FFF2-40B4-BE49-F238E27FC236}">
                <a16:creationId xmlns:a16="http://schemas.microsoft.com/office/drawing/2014/main" id="{A696A965-EC78-4874-B325-5861A358F869}"/>
              </a:ext>
            </a:extLst>
          </p:cNvPr>
          <p:cNvSpPr>
            <a:spLocks xmlns:a="http://schemas.openxmlformats.org/drawingml/2006/main" noGrp="1"/>
          </p:cNvSpPr>
          <p:nvPr/>
        </p:nvSpPr>
        <p:spPr>
          <a:xfrm xmlns:a="http://schemas.openxmlformats.org/drawingml/2006/main">
            <a:off x="609600"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5F7078"/>
                </a:solidFill>
                <a:latin typeface="Avenir Next"/>
                <a:ea typeface="Avenir Next"/>
                <a:cs typeface="Avenir Next"/>
              </a:defRPr>
            </a:pPr>
            <a:r>
              <a:rPr sz="675" b="0">
                <a:solidFill>
                  <a:srgbClr val="5F7078"/>
                </a:solidFill>
                <a:latin typeface="Avenir Next"/>
                <a:ea typeface="Avenir Next"/>
                <a:cs typeface="Avenir Next"/>
              </a:rPr>
              <a:t>Sources: INFORMS Analytics (Hartford HealthCare); University of Pennsylvania Center for Health Care Transformation and Innovation (ORACLE).</a:t>
            </a:r>
          </a:p>
        </p:txBody>
      </p:sp>
      <p:sp>
        <p:nvSpPr>
          <p:cNvPr id="21" name="">
            <a:extLst xmlns:a="http://schemas.openxmlformats.org/drawingml/2006/main">
              <a:ext uri="{FF2B5EF4-FFF2-40B4-BE49-F238E27FC236}">
                <a16:creationId xmlns:a16="http://schemas.microsoft.com/office/drawing/2014/main" id="{41EFB6E3-5D90-4BE5-AF5A-DC3CFDD3587A}"/>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12</a:t>
            </a:r>
          </a:p>
        </p:txBody>
      </p:sp>
    </p:spTree>
    <p:extLst>
      <p:ext uri="{BB962C8B-B14F-4D97-AF65-F5344CB8AC3E}">
        <p14:creationId xmlns:p14="http://schemas.microsoft.com/office/powerpoint/2010/main" val="2031908588"/>
      </p:ext>
    </p:extLst>
  </p:cSld>
</p:sld>
</file>

<file path=ppt/slides/slide13.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B3F9CA-DD29-4D8A-8ECE-31AB8C8EF4A1}"/>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96FFA239-01D8-49EA-927A-C6C37D0962F1}"/>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4C842E52-FCC8-4A85-A861-3CD99C3ECED2}"/>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6DB126BE-10C8-471D-95B0-465CBDEA8AA2}"/>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66317EAA-5C16-46F8-82E6-4D98CB58B705}"/>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C5600EF6-BB01-4514-8AA8-905C0BA2AECE}"/>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AEF64C39-04B2-4B69-87FB-A5EEB5F3BF8A}"/>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FF8F9B04-6F0D-4109-AD95-2DA1D5269CBA}"/>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52D7FC4E-F87C-4641-8E61-5A78987899BD}"/>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D3B17E45-84A1-45E4-B840-1E2F716BF00D}"/>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D7C9FE81-4E63-43CC-8CB8-279580135992}"/>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B73D2872-351A-495B-BCB7-6377DF3F9D04}"/>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E07B5834-A58C-444B-B843-AA76E097CCB7}"/>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CC263AF9-150F-446C-8E6B-5D1F81806CDA}"/>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30E78E79-F93B-482D-A1A2-46C5A14DC470}"/>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4135BF78-04E4-4712-901E-D410A23452D3}"/>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E3A2FD32-CCA5-4E0F-A143-A12786BC44B1}"/>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F837BF54-CE2A-4D4C-A482-78AB92B550E8}"/>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A8BBC3EA-1A9C-45A0-B787-AD07D6150A3C}"/>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5F638003-6CEF-40E7-B5C6-433A046DED98}"/>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F2128938-AD58-4AB5-B256-1E8819F73752}"/>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9B69AF75-3A36-4975-B53C-0E43E033F4B4}"/>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89593329-FC4F-454F-8CBC-CBD4BCA9307C}"/>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EA37CC91-920F-4F1D-950B-9E849AE2903A}"/>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0CD2ED90-0BD1-45F6-A3A2-214AAFE69FAF}"/>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7E0DD2BE-C4DD-46D4-9A22-B67E6466B1D6}"/>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0F67C678-B89F-4B62-BA1F-E05BACBDE0E9}"/>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75A3C94D-8346-4716-A5C4-37C1E009E20F}"/>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359C2C69-E104-4BA2-9ED3-C51834C325E3}"/>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EB5E1795-5BA2-48FC-81DE-A53998F6E745}"/>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0EE412BB-882D-4782-B677-513B42514B31}"/>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AA4A2AE-091A-4289-AD08-D7BD06554B86}"/>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THE WARNING</a:t>
            </a:r>
          </a:p>
        </p:txBody>
      </p:sp>
      <p:sp>
        <p:nvSpPr>
          <p:cNvPr id="33" name="">
            <a:extLst xmlns:a="http://schemas.openxmlformats.org/drawingml/2006/main">
              <a:ext uri="{FF2B5EF4-FFF2-40B4-BE49-F238E27FC236}">
                <a16:creationId xmlns:a16="http://schemas.microsoft.com/office/drawing/2014/main" id="{57D2C169-1E8C-4E9D-BDBA-91A618FF4F6C}"/>
              </a:ext>
            </a:extLst>
          </p:cNvPr>
          <p:cNvSpPr>
            <a:spLocks xmlns:a="http://schemas.openxmlformats.org/drawingml/2006/main" noGrp="1"/>
          </p:cNvSpPr>
          <p:nvPr/>
        </p:nvSpPr>
        <p:spPr>
          <a:xfrm xmlns:a="http://schemas.openxmlformats.org/drawingml/2006/main">
            <a:off x="609600" y="781050"/>
            <a:ext cx="9525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7F8F5"/>
                </a:solidFill>
                <a:latin typeface="Avenir Next"/>
                <a:ea typeface="Avenir Next"/>
                <a:cs typeface="Avenir Next"/>
              </a:defRPr>
            </a:pPr>
            <a:r>
              <a:rPr sz="3300" b="1">
                <a:solidFill>
                  <a:srgbClr val="F7F8F5"/>
                </a:solidFill>
                <a:latin typeface="Avenir Next"/>
                <a:ea typeface="Avenir Next"/>
                <a:cs typeface="Avenir Next"/>
              </a:rPr>
              <a:t>Visibility alone does not improve flow.</a:t>
            </a:r>
          </a:p>
        </p:txBody>
      </p:sp>
      <p:sp>
        <p:nvSpPr>
          <p:cNvPr id="34" name="">
            <a:extLst xmlns:a="http://schemas.openxmlformats.org/drawingml/2006/main">
              <a:ext uri="{FF2B5EF4-FFF2-40B4-BE49-F238E27FC236}">
                <a16:creationId xmlns:a16="http://schemas.microsoft.com/office/drawing/2014/main" id="{7B787944-23F8-497E-AC6B-2AFF763E2C83}"/>
              </a:ext>
            </a:extLst>
          </p:cNvPr>
          <p:cNvSpPr>
            <a:spLocks xmlns:a="http://schemas.openxmlformats.org/drawingml/2006/main" noGrp="1"/>
          </p:cNvSpPr>
          <p:nvPr/>
        </p:nvSpPr>
        <p:spPr>
          <a:xfrm xmlns:a="http://schemas.openxmlformats.org/drawingml/2006/main">
            <a:off x="609600" y="142875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9AA8AE"/>
                </a:solidFill>
                <a:latin typeface="Avenir Next"/>
                <a:ea typeface="Avenir Next"/>
                <a:cs typeface="Avenir Next"/>
              </a:defRPr>
            </a:pPr>
            <a:r>
              <a:rPr sz="1500" b="0">
                <a:solidFill>
                  <a:srgbClr val="9AA8AE"/>
                </a:solidFill>
                <a:latin typeface="Avenir Next"/>
                <a:ea typeface="Avenir Next"/>
                <a:cs typeface="Avenir Next"/>
              </a:rPr>
              <a:t>A comparative NHS command-center study found no significant, consistent improvement in patient-flow outcomes.</a:t>
            </a:r>
          </a:p>
        </p:txBody>
      </p:sp>
      <p:sp>
        <p:nvSpPr>
          <p:cNvPr id="35" name="">
            <a:extLst xmlns:a="http://schemas.openxmlformats.org/drawingml/2006/main">
              <a:ext uri="{FF2B5EF4-FFF2-40B4-BE49-F238E27FC236}">
                <a16:creationId xmlns:a16="http://schemas.microsoft.com/office/drawing/2014/main" id="{998BD927-B750-4380-AABE-56444A948757}"/>
              </a:ext>
            </a:extLst>
          </p:cNvPr>
          <p:cNvSpPr>
            <a:spLocks xmlns:a="http://schemas.openxmlformats.org/drawingml/2006/main" noGrp="1"/>
          </p:cNvSpPr>
          <p:nvPr/>
        </p:nvSpPr>
        <p:spPr>
          <a:xfrm xmlns:a="http://schemas.openxmlformats.org/drawingml/2006/main">
            <a:off x="685800" y="24574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36" name="">
            <a:extLst xmlns:a="http://schemas.openxmlformats.org/drawingml/2006/main">
              <a:ext uri="{FF2B5EF4-FFF2-40B4-BE49-F238E27FC236}">
                <a16:creationId xmlns:a16="http://schemas.microsoft.com/office/drawing/2014/main" id="{0204C189-EB44-4CE0-863F-5F307526F982}"/>
              </a:ext>
            </a:extLst>
          </p:cNvPr>
          <p:cNvSpPr>
            <a:spLocks xmlns:a="http://schemas.openxmlformats.org/drawingml/2006/main" noGrp="1"/>
          </p:cNvSpPr>
          <p:nvPr/>
        </p:nvSpPr>
        <p:spPr>
          <a:xfrm xmlns:a="http://schemas.openxmlformats.org/drawingml/2006/main">
            <a:off x="819150" y="28575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37" name="">
            <a:extLst xmlns:a="http://schemas.openxmlformats.org/drawingml/2006/main">
              <a:ext uri="{FF2B5EF4-FFF2-40B4-BE49-F238E27FC236}">
                <a16:creationId xmlns:a16="http://schemas.microsoft.com/office/drawing/2014/main" id="{52D6FBAA-D0BD-4E39-8858-467A5A93738F}"/>
              </a:ext>
            </a:extLst>
          </p:cNvPr>
          <p:cNvSpPr>
            <a:spLocks xmlns:a="http://schemas.openxmlformats.org/drawingml/2006/main" noGrp="1"/>
          </p:cNvSpPr>
          <p:nvPr/>
        </p:nvSpPr>
        <p:spPr>
          <a:xfrm xmlns:a="http://schemas.openxmlformats.org/drawingml/2006/main">
            <a:off x="1981200" y="24574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38" name="">
            <a:extLst xmlns:a="http://schemas.openxmlformats.org/drawingml/2006/main">
              <a:ext uri="{FF2B5EF4-FFF2-40B4-BE49-F238E27FC236}">
                <a16:creationId xmlns:a16="http://schemas.microsoft.com/office/drawing/2014/main" id="{01429BFA-89DF-4A74-A00F-4C52C5AD69A5}"/>
              </a:ext>
            </a:extLst>
          </p:cNvPr>
          <p:cNvSpPr>
            <a:spLocks xmlns:a="http://schemas.openxmlformats.org/drawingml/2006/main" noGrp="1"/>
          </p:cNvSpPr>
          <p:nvPr/>
        </p:nvSpPr>
        <p:spPr>
          <a:xfrm xmlns:a="http://schemas.openxmlformats.org/drawingml/2006/main">
            <a:off x="2114550" y="28575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39" name="">
            <a:extLst xmlns:a="http://schemas.openxmlformats.org/drawingml/2006/main">
              <a:ext uri="{FF2B5EF4-FFF2-40B4-BE49-F238E27FC236}">
                <a16:creationId xmlns:a16="http://schemas.microsoft.com/office/drawing/2014/main" id="{CBA8B2D5-7EDF-4F63-8EF1-062AE4AD35AD}"/>
              </a:ext>
            </a:extLst>
          </p:cNvPr>
          <p:cNvSpPr>
            <a:spLocks xmlns:a="http://schemas.openxmlformats.org/drawingml/2006/main" noGrp="1"/>
          </p:cNvSpPr>
          <p:nvPr/>
        </p:nvSpPr>
        <p:spPr>
          <a:xfrm xmlns:a="http://schemas.openxmlformats.org/drawingml/2006/main">
            <a:off x="3276600" y="24574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40" name="">
            <a:extLst xmlns:a="http://schemas.openxmlformats.org/drawingml/2006/main">
              <a:ext uri="{FF2B5EF4-FFF2-40B4-BE49-F238E27FC236}">
                <a16:creationId xmlns:a16="http://schemas.microsoft.com/office/drawing/2014/main" id="{C5055B96-3598-471E-A95C-F777DD36345A}"/>
              </a:ext>
            </a:extLst>
          </p:cNvPr>
          <p:cNvSpPr>
            <a:spLocks xmlns:a="http://schemas.openxmlformats.org/drawingml/2006/main" noGrp="1"/>
          </p:cNvSpPr>
          <p:nvPr/>
        </p:nvSpPr>
        <p:spPr>
          <a:xfrm xmlns:a="http://schemas.openxmlformats.org/drawingml/2006/main">
            <a:off x="3409950" y="28575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1" name="">
            <a:extLst xmlns:a="http://schemas.openxmlformats.org/drawingml/2006/main">
              <a:ext uri="{FF2B5EF4-FFF2-40B4-BE49-F238E27FC236}">
                <a16:creationId xmlns:a16="http://schemas.microsoft.com/office/drawing/2014/main" id="{E10C2FBA-5066-45F6-835B-5F51544A7C1F}"/>
              </a:ext>
            </a:extLst>
          </p:cNvPr>
          <p:cNvSpPr>
            <a:spLocks xmlns:a="http://schemas.openxmlformats.org/drawingml/2006/main" noGrp="1"/>
          </p:cNvSpPr>
          <p:nvPr/>
        </p:nvSpPr>
        <p:spPr>
          <a:xfrm xmlns:a="http://schemas.openxmlformats.org/drawingml/2006/main">
            <a:off x="685800" y="327660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42" name="">
            <a:extLst xmlns:a="http://schemas.openxmlformats.org/drawingml/2006/main">
              <a:ext uri="{FF2B5EF4-FFF2-40B4-BE49-F238E27FC236}">
                <a16:creationId xmlns:a16="http://schemas.microsoft.com/office/drawing/2014/main" id="{EFD0F16B-C3A8-4B5A-995C-6DDF9D25083D}"/>
              </a:ext>
            </a:extLst>
          </p:cNvPr>
          <p:cNvSpPr>
            <a:spLocks xmlns:a="http://schemas.openxmlformats.org/drawingml/2006/main" noGrp="1"/>
          </p:cNvSpPr>
          <p:nvPr/>
        </p:nvSpPr>
        <p:spPr>
          <a:xfrm xmlns:a="http://schemas.openxmlformats.org/drawingml/2006/main">
            <a:off x="819150" y="367665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3" name="">
            <a:extLst xmlns:a="http://schemas.openxmlformats.org/drawingml/2006/main">
              <a:ext uri="{FF2B5EF4-FFF2-40B4-BE49-F238E27FC236}">
                <a16:creationId xmlns:a16="http://schemas.microsoft.com/office/drawing/2014/main" id="{C66B4102-E45F-4A62-9BFF-AA13FC913682}"/>
              </a:ext>
            </a:extLst>
          </p:cNvPr>
          <p:cNvSpPr>
            <a:spLocks xmlns:a="http://schemas.openxmlformats.org/drawingml/2006/main" noGrp="1"/>
          </p:cNvSpPr>
          <p:nvPr/>
        </p:nvSpPr>
        <p:spPr>
          <a:xfrm xmlns:a="http://schemas.openxmlformats.org/drawingml/2006/main">
            <a:off x="1981200" y="3276600"/>
            <a:ext cx="1104900" cy="628650"/>
          </a:xfrm>
          <a:prstGeom xmlns:a="http://schemas.openxmlformats.org/drawingml/2006/main" prst="roundRect">
            <a:avLst>
              <a:gd name="adj" fmla="val 12121"/>
            </a:avLst>
          </a:prstGeom>
          <a:solidFill xmlns:a="http://schemas.openxmlformats.org/drawingml/2006/main">
            <a:srgbClr val="15313C"/>
          </a:solidFill>
          <a:ln xmlns:a="http://schemas.openxmlformats.org/drawingml/2006/main" w="9525">
            <a:solidFill>
              <a:srgbClr val="28404A"/>
            </a:solidFill>
            <a:prstDash val="solid"/>
          </a:ln>
        </p:spPr>
      </p:sp>
      <p:sp>
        <p:nvSpPr>
          <p:cNvPr id="44" name="">
            <a:extLst xmlns:a="http://schemas.openxmlformats.org/drawingml/2006/main">
              <a:ext uri="{FF2B5EF4-FFF2-40B4-BE49-F238E27FC236}">
                <a16:creationId xmlns:a16="http://schemas.microsoft.com/office/drawing/2014/main" id="{508D1124-26C6-4977-8B19-78C3ACE66555}"/>
              </a:ext>
            </a:extLst>
          </p:cNvPr>
          <p:cNvSpPr>
            <a:spLocks xmlns:a="http://schemas.openxmlformats.org/drawingml/2006/main" noGrp="1"/>
          </p:cNvSpPr>
          <p:nvPr/>
        </p:nvSpPr>
        <p:spPr>
          <a:xfrm xmlns:a="http://schemas.openxmlformats.org/drawingml/2006/main">
            <a:off x="2114550" y="3676650"/>
            <a:ext cx="762000" cy="0"/>
          </a:xfrm>
          <a:prstGeom xmlns:a="http://schemas.openxmlformats.org/drawingml/2006/main" prst="line">
            <a:avLst/>
          </a:prstGeom>
          <a:noFill xmlns:a="http://schemas.openxmlformats.org/drawingml/2006/main"/>
          <a:ln xmlns:a="http://schemas.openxmlformats.org/drawingml/2006/main" w="19050">
            <a:solidFill>
              <a:srgbClr val="83F3C9"/>
            </a:solidFill>
            <a:prstDash val="solid"/>
          </a:ln>
        </p:spPr>
      </p:sp>
      <p:sp>
        <p:nvSpPr>
          <p:cNvPr id="45" name="">
            <a:extLst xmlns:a="http://schemas.openxmlformats.org/drawingml/2006/main">
              <a:ext uri="{FF2B5EF4-FFF2-40B4-BE49-F238E27FC236}">
                <a16:creationId xmlns:a16="http://schemas.microsoft.com/office/drawing/2014/main" id="{B0D75374-3EB8-4298-9A76-EBCD017B8E65}"/>
              </a:ext>
            </a:extLst>
          </p:cNvPr>
          <p:cNvSpPr>
            <a:spLocks xmlns:a="http://schemas.openxmlformats.org/drawingml/2006/main" noGrp="1"/>
          </p:cNvSpPr>
          <p:nvPr/>
        </p:nvSpPr>
        <p:spPr>
          <a:xfrm xmlns:a="http://schemas.openxmlformats.org/drawingml/2006/main">
            <a:off x="3276600" y="327660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46" name="">
            <a:extLst xmlns:a="http://schemas.openxmlformats.org/drawingml/2006/main">
              <a:ext uri="{FF2B5EF4-FFF2-40B4-BE49-F238E27FC236}">
                <a16:creationId xmlns:a16="http://schemas.microsoft.com/office/drawing/2014/main" id="{31848E24-FD4A-4190-8F11-0D2C6D9355A8}"/>
              </a:ext>
            </a:extLst>
          </p:cNvPr>
          <p:cNvSpPr>
            <a:spLocks xmlns:a="http://schemas.openxmlformats.org/drawingml/2006/main" noGrp="1"/>
          </p:cNvSpPr>
          <p:nvPr/>
        </p:nvSpPr>
        <p:spPr>
          <a:xfrm xmlns:a="http://schemas.openxmlformats.org/drawingml/2006/main">
            <a:off x="3409950" y="367665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7" name="">
            <a:extLst xmlns:a="http://schemas.openxmlformats.org/drawingml/2006/main">
              <a:ext uri="{FF2B5EF4-FFF2-40B4-BE49-F238E27FC236}">
                <a16:creationId xmlns:a16="http://schemas.microsoft.com/office/drawing/2014/main" id="{B5544670-E7AD-4F7F-95B5-B0B467F969C7}"/>
              </a:ext>
            </a:extLst>
          </p:cNvPr>
          <p:cNvSpPr>
            <a:spLocks xmlns:a="http://schemas.openxmlformats.org/drawingml/2006/main" noGrp="1"/>
          </p:cNvSpPr>
          <p:nvPr/>
        </p:nvSpPr>
        <p:spPr>
          <a:xfrm xmlns:a="http://schemas.openxmlformats.org/drawingml/2006/main">
            <a:off x="685800" y="40957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48" name="">
            <a:extLst xmlns:a="http://schemas.openxmlformats.org/drawingml/2006/main">
              <a:ext uri="{FF2B5EF4-FFF2-40B4-BE49-F238E27FC236}">
                <a16:creationId xmlns:a16="http://schemas.microsoft.com/office/drawing/2014/main" id="{638C5FB3-12FF-4611-8811-36FDB1A8C4FA}"/>
              </a:ext>
            </a:extLst>
          </p:cNvPr>
          <p:cNvSpPr>
            <a:spLocks xmlns:a="http://schemas.openxmlformats.org/drawingml/2006/main" noGrp="1"/>
          </p:cNvSpPr>
          <p:nvPr/>
        </p:nvSpPr>
        <p:spPr>
          <a:xfrm xmlns:a="http://schemas.openxmlformats.org/drawingml/2006/main">
            <a:off x="819150" y="44958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49" name="">
            <a:extLst xmlns:a="http://schemas.openxmlformats.org/drawingml/2006/main">
              <a:ext uri="{FF2B5EF4-FFF2-40B4-BE49-F238E27FC236}">
                <a16:creationId xmlns:a16="http://schemas.microsoft.com/office/drawing/2014/main" id="{FBFCC66F-ECC3-4A15-BF31-819E5F937DF4}"/>
              </a:ext>
            </a:extLst>
          </p:cNvPr>
          <p:cNvSpPr>
            <a:spLocks xmlns:a="http://schemas.openxmlformats.org/drawingml/2006/main" noGrp="1"/>
          </p:cNvSpPr>
          <p:nvPr/>
        </p:nvSpPr>
        <p:spPr>
          <a:xfrm xmlns:a="http://schemas.openxmlformats.org/drawingml/2006/main">
            <a:off x="1981200" y="40957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50" name="">
            <a:extLst xmlns:a="http://schemas.openxmlformats.org/drawingml/2006/main">
              <a:ext uri="{FF2B5EF4-FFF2-40B4-BE49-F238E27FC236}">
                <a16:creationId xmlns:a16="http://schemas.microsoft.com/office/drawing/2014/main" id="{34D31CE1-0AE2-45E1-950A-D15E5111795F}"/>
              </a:ext>
            </a:extLst>
          </p:cNvPr>
          <p:cNvSpPr>
            <a:spLocks xmlns:a="http://schemas.openxmlformats.org/drawingml/2006/main" noGrp="1"/>
          </p:cNvSpPr>
          <p:nvPr/>
        </p:nvSpPr>
        <p:spPr>
          <a:xfrm xmlns:a="http://schemas.openxmlformats.org/drawingml/2006/main">
            <a:off x="2114550" y="44958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51" name="">
            <a:extLst xmlns:a="http://schemas.openxmlformats.org/drawingml/2006/main">
              <a:ext uri="{FF2B5EF4-FFF2-40B4-BE49-F238E27FC236}">
                <a16:creationId xmlns:a16="http://schemas.microsoft.com/office/drawing/2014/main" id="{29522E4B-8AE2-49B7-97F5-68A871243CD4}"/>
              </a:ext>
            </a:extLst>
          </p:cNvPr>
          <p:cNvSpPr>
            <a:spLocks xmlns:a="http://schemas.openxmlformats.org/drawingml/2006/main" noGrp="1"/>
          </p:cNvSpPr>
          <p:nvPr/>
        </p:nvSpPr>
        <p:spPr>
          <a:xfrm xmlns:a="http://schemas.openxmlformats.org/drawingml/2006/main">
            <a:off x="3276600" y="4095750"/>
            <a:ext cx="1104900" cy="628650"/>
          </a:xfrm>
          <a:prstGeom xmlns:a="http://schemas.openxmlformats.org/drawingml/2006/main" prst="roundRect">
            <a:avLst>
              <a:gd name="adj" fmla="val 12121"/>
            </a:avLst>
          </a:prstGeom>
          <a:solidFill xmlns:a="http://schemas.openxmlformats.org/drawingml/2006/main">
            <a:srgbClr val="0E222C"/>
          </a:solidFill>
          <a:ln xmlns:a="http://schemas.openxmlformats.org/drawingml/2006/main" w="9525">
            <a:solidFill>
              <a:srgbClr val="28404A"/>
            </a:solidFill>
            <a:prstDash val="solid"/>
          </a:ln>
        </p:spPr>
      </p:sp>
      <p:sp>
        <p:nvSpPr>
          <p:cNvPr id="52" name="">
            <a:extLst xmlns:a="http://schemas.openxmlformats.org/drawingml/2006/main">
              <a:ext uri="{FF2B5EF4-FFF2-40B4-BE49-F238E27FC236}">
                <a16:creationId xmlns:a16="http://schemas.microsoft.com/office/drawing/2014/main" id="{5A18C54E-A96E-4781-BED1-2231DA60DD3E}"/>
              </a:ext>
            </a:extLst>
          </p:cNvPr>
          <p:cNvSpPr>
            <a:spLocks xmlns:a="http://schemas.openxmlformats.org/drawingml/2006/main" noGrp="1"/>
          </p:cNvSpPr>
          <p:nvPr/>
        </p:nvSpPr>
        <p:spPr>
          <a:xfrm xmlns:a="http://schemas.openxmlformats.org/drawingml/2006/main">
            <a:off x="3409950" y="4495800"/>
            <a:ext cx="762000" cy="0"/>
          </a:xfrm>
          <a:prstGeom xmlns:a="http://schemas.openxmlformats.org/drawingml/2006/main" prst="line">
            <a:avLst/>
          </a:prstGeom>
          <a:noFill xmlns:a="http://schemas.openxmlformats.org/drawingml/2006/main"/>
          <a:ln xmlns:a="http://schemas.openxmlformats.org/drawingml/2006/main" w="19050">
            <a:solidFill>
              <a:srgbClr val="28404A"/>
            </a:solidFill>
            <a:prstDash val="solid"/>
          </a:ln>
        </p:spPr>
      </p:sp>
      <p:sp>
        <p:nvSpPr>
          <p:cNvPr id="53" name="">
            <a:extLst xmlns:a="http://schemas.openxmlformats.org/drawingml/2006/main">
              <a:ext uri="{FF2B5EF4-FFF2-40B4-BE49-F238E27FC236}">
                <a16:creationId xmlns:a16="http://schemas.microsoft.com/office/drawing/2014/main" id="{427EFA4E-753E-49EF-8D47-575DEF6EE2B7}"/>
              </a:ext>
            </a:extLst>
          </p:cNvPr>
          <p:cNvSpPr>
            <a:spLocks xmlns:a="http://schemas.openxmlformats.org/drawingml/2006/main" noGrp="1"/>
          </p:cNvSpPr>
          <p:nvPr/>
        </p:nvSpPr>
        <p:spPr>
          <a:xfrm xmlns:a="http://schemas.openxmlformats.org/drawingml/2006/main">
            <a:off x="704850" y="5086350"/>
            <a:ext cx="3695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9AA8AE"/>
                </a:solidFill>
                <a:latin typeface="Avenir Next"/>
                <a:ea typeface="Avenir Next"/>
                <a:cs typeface="Avenir Next"/>
              </a:defRPr>
            </a:pPr>
            <a:r>
              <a:rPr sz="825" b="1">
                <a:solidFill>
                  <a:srgbClr val="9AA8AE"/>
                </a:solidFill>
                <a:latin typeface="Avenir Next"/>
                <a:ea typeface="Avenir Next"/>
                <a:cs typeface="Avenir Next"/>
              </a:rPr>
              <a:t>COMMAND CENTER</a:t>
            </a:r>
          </a:p>
        </p:txBody>
      </p:sp>
      <p:sp>
        <p:nvSpPr>
          <p:cNvPr id="54" name="">
            <a:extLst xmlns:a="http://schemas.openxmlformats.org/drawingml/2006/main">
              <a:ext uri="{FF2B5EF4-FFF2-40B4-BE49-F238E27FC236}">
                <a16:creationId xmlns:a16="http://schemas.microsoft.com/office/drawing/2014/main" id="{D5795CC4-A07A-4024-8EF7-0502D35AC7A4}"/>
              </a:ext>
            </a:extLst>
          </p:cNvPr>
          <p:cNvSpPr>
            <a:spLocks xmlns:a="http://schemas.openxmlformats.org/drawingml/2006/main" noGrp="1"/>
          </p:cNvSpPr>
          <p:nvPr/>
        </p:nvSpPr>
        <p:spPr>
          <a:xfrm xmlns:a="http://schemas.openxmlformats.org/drawingml/2006/main">
            <a:off x="4667250" y="34290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0">
                <a:solidFill>
                  <a:srgbClr val="9AA8AE"/>
                </a:solidFill>
                <a:latin typeface="Avenir Next"/>
                <a:ea typeface="Avenir Next"/>
                <a:cs typeface="Avenir Next"/>
              </a:defRPr>
            </a:pPr>
            <a:r>
              <a:rPr sz="3150" b="0">
                <a:solidFill>
                  <a:srgbClr val="9AA8AE"/>
                </a:solidFill>
                <a:latin typeface="Avenir Next"/>
                <a:ea typeface="Avenir Next"/>
                <a:cs typeface="Avenir Next"/>
              </a:rPr>
              <a:t>→</a:t>
            </a:r>
          </a:p>
        </p:txBody>
      </p:sp>
      <p:sp>
        <p:nvSpPr>
          <p:cNvPr id="55" name="">
            <a:extLst xmlns:a="http://schemas.openxmlformats.org/drawingml/2006/main">
              <a:ext uri="{FF2B5EF4-FFF2-40B4-BE49-F238E27FC236}">
                <a16:creationId xmlns:a16="http://schemas.microsoft.com/office/drawing/2014/main" id="{A99657AE-335E-449B-9262-FCDF86023E07}"/>
              </a:ext>
            </a:extLst>
          </p:cNvPr>
          <p:cNvSpPr>
            <a:spLocks xmlns:a="http://schemas.openxmlformats.org/drawingml/2006/main" noGrp="1"/>
          </p:cNvSpPr>
          <p:nvPr/>
        </p:nvSpPr>
        <p:spPr>
          <a:xfrm xmlns:a="http://schemas.openxmlformats.org/drawingml/2006/main">
            <a:off x="5734050" y="2343150"/>
            <a:ext cx="5391150" cy="2857500"/>
          </a:xfrm>
          <a:prstGeom xmlns:a="http://schemas.openxmlformats.org/drawingml/2006/main" prst="roundRect">
            <a:avLst>
              <a:gd name="adj" fmla="val 7333"/>
            </a:avLst>
          </a:prstGeom>
          <a:solidFill xmlns:a="http://schemas.openxmlformats.org/drawingml/2006/main">
            <a:srgbClr val="0E222C"/>
          </a:solidFill>
          <a:ln xmlns:a="http://schemas.openxmlformats.org/drawingml/2006/main" w="9525">
            <a:solidFill>
              <a:srgbClr val="28404A"/>
            </a:solidFill>
            <a:prstDash val="solid"/>
          </a:ln>
        </p:spPr>
      </p:sp>
      <p:sp>
        <p:nvSpPr>
          <p:cNvPr id="56" name="">
            <a:extLst xmlns:a="http://schemas.openxmlformats.org/drawingml/2006/main">
              <a:ext uri="{FF2B5EF4-FFF2-40B4-BE49-F238E27FC236}">
                <a16:creationId xmlns:a16="http://schemas.microsoft.com/office/drawing/2014/main" id="{C3237876-1727-4C0D-903F-FDBC559B0558}"/>
              </a:ext>
            </a:extLst>
          </p:cNvPr>
          <p:cNvSpPr>
            <a:spLocks xmlns:a="http://schemas.openxmlformats.org/drawingml/2006/main" noGrp="1"/>
          </p:cNvSpPr>
          <p:nvPr/>
        </p:nvSpPr>
        <p:spPr>
          <a:xfrm xmlns:a="http://schemas.openxmlformats.org/drawingml/2006/main">
            <a:off x="6038850" y="2609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9AA8AE"/>
                </a:solidFill>
                <a:latin typeface="Avenir Next"/>
                <a:ea typeface="Avenir Next"/>
                <a:cs typeface="Avenir Next"/>
              </a:defRPr>
            </a:pPr>
            <a:r>
              <a:rPr sz="825" b="1">
                <a:solidFill>
                  <a:srgbClr val="9AA8AE"/>
                </a:solidFill>
                <a:latin typeface="Avenir Next"/>
                <a:ea typeface="Avenir Next"/>
                <a:cs typeface="Avenir Next"/>
              </a:rPr>
              <a:t>PATIENT-FLOW OUTCOME</a:t>
            </a:r>
          </a:p>
        </p:txBody>
      </p:sp>
      <p:sp>
        <p:nvSpPr>
          <p:cNvPr id="57" name="">
            <a:extLst xmlns:a="http://schemas.openxmlformats.org/drawingml/2006/main">
              <a:ext uri="{FF2B5EF4-FFF2-40B4-BE49-F238E27FC236}">
                <a16:creationId xmlns:a16="http://schemas.microsoft.com/office/drawing/2014/main" id="{0A001D6C-22A8-4FEA-B71F-4333891D7B9F}"/>
              </a:ext>
            </a:extLst>
          </p:cNvPr>
          <p:cNvSpPr>
            <a:spLocks xmlns:a="http://schemas.openxmlformats.org/drawingml/2006/main" noGrp="1"/>
          </p:cNvSpPr>
          <p:nvPr/>
        </p:nvSpPr>
        <p:spPr>
          <a:xfrm xmlns:a="http://schemas.openxmlformats.org/drawingml/2006/main">
            <a:off x="6115050" y="3810000"/>
            <a:ext cx="4457700" cy="0"/>
          </a:xfrm>
          <a:prstGeom xmlns:a="http://schemas.openxmlformats.org/drawingml/2006/main" prst="line">
            <a:avLst/>
          </a:prstGeom>
          <a:noFill xmlns:a="http://schemas.openxmlformats.org/drawingml/2006/main"/>
          <a:ln xmlns:a="http://schemas.openxmlformats.org/drawingml/2006/main" w="38100">
            <a:solidFill>
              <a:srgbClr val="FF7487"/>
            </a:solidFill>
            <a:prstDash val="solid"/>
          </a:ln>
        </p:spPr>
      </p:sp>
      <p:sp>
        <p:nvSpPr>
          <p:cNvPr id="58" name="">
            <a:extLst xmlns:a="http://schemas.openxmlformats.org/drawingml/2006/main">
              <a:ext uri="{FF2B5EF4-FFF2-40B4-BE49-F238E27FC236}">
                <a16:creationId xmlns:a16="http://schemas.microsoft.com/office/drawing/2014/main" id="{49D4825F-682F-47F4-9940-98CBD256C2B3}"/>
              </a:ext>
            </a:extLst>
          </p:cNvPr>
          <p:cNvSpPr>
            <a:spLocks xmlns:a="http://schemas.openxmlformats.org/drawingml/2006/main" noGrp="1"/>
          </p:cNvSpPr>
          <p:nvPr/>
        </p:nvSpPr>
        <p:spPr>
          <a:xfrm xmlns:a="http://schemas.openxmlformats.org/drawingml/2006/main">
            <a:off x="7124700" y="40386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7487"/>
                </a:solidFill>
                <a:latin typeface="Avenir Next"/>
                <a:ea typeface="Avenir Next"/>
                <a:cs typeface="Avenir Next"/>
              </a:defRPr>
            </a:pPr>
            <a:r>
              <a:rPr sz="975" b="1">
                <a:solidFill>
                  <a:srgbClr val="FF7487"/>
                </a:solidFill>
                <a:latin typeface="Avenir Next"/>
                <a:ea typeface="Avenir Next"/>
                <a:cs typeface="Avenir Next"/>
              </a:rPr>
              <a:t>NO CONSISTENT CHANGE</a:t>
            </a:r>
          </a:p>
        </p:txBody>
      </p:sp>
      <p:sp>
        <p:nvSpPr>
          <p:cNvPr id="59" name="">
            <a:extLst xmlns:a="http://schemas.openxmlformats.org/drawingml/2006/main">
              <a:ext uri="{FF2B5EF4-FFF2-40B4-BE49-F238E27FC236}">
                <a16:creationId xmlns:a16="http://schemas.microsoft.com/office/drawing/2014/main" id="{87B6C961-C943-4808-8DF0-682C8BB3C7FF}"/>
              </a:ext>
            </a:extLst>
          </p:cNvPr>
          <p:cNvSpPr>
            <a:spLocks xmlns:a="http://schemas.openxmlformats.org/drawingml/2006/main" noGrp="1"/>
          </p:cNvSpPr>
          <p:nvPr/>
        </p:nvSpPr>
        <p:spPr>
          <a:xfrm xmlns:a="http://schemas.openxmlformats.org/drawingml/2006/main">
            <a:off x="5734050" y="5505450"/>
            <a:ext cx="539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83F3C9"/>
                </a:solidFill>
                <a:latin typeface="Avenir Next"/>
                <a:ea typeface="Avenir Next"/>
                <a:cs typeface="Avenir Next"/>
              </a:defRPr>
            </a:pPr>
            <a:r>
              <a:rPr sz="1650" b="1">
                <a:solidFill>
                  <a:srgbClr val="83F3C9"/>
                </a:solidFill>
                <a:latin typeface="Avenir Next"/>
                <a:ea typeface="Avenir Next"/>
                <a:cs typeface="Avenir Next"/>
              </a:rPr>
              <a:t>Information without ownership and action rights is only a better view of the bottleneck.</a:t>
            </a:r>
          </a:p>
        </p:txBody>
      </p:sp>
      <p:sp>
        <p:nvSpPr>
          <p:cNvPr id="60" name="">
            <a:extLst xmlns:a="http://schemas.openxmlformats.org/drawingml/2006/main">
              <a:ext uri="{FF2B5EF4-FFF2-40B4-BE49-F238E27FC236}">
                <a16:creationId xmlns:a16="http://schemas.microsoft.com/office/drawing/2014/main" id="{6771FA01-F859-414F-AB36-DD56FB2BF2E6}"/>
              </a:ext>
            </a:extLst>
          </p:cNvPr>
          <p:cNvSpPr>
            <a:spLocks xmlns:a="http://schemas.openxmlformats.org/drawingml/2006/main" noGrp="1"/>
          </p:cNvSpPr>
          <p:nvPr/>
        </p:nvSpPr>
        <p:spPr>
          <a:xfrm xmlns:a="http://schemas.openxmlformats.org/drawingml/2006/main">
            <a:off x="609600" y="64579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675" b="0">
                <a:solidFill>
                  <a:srgbClr val="5F7078"/>
                </a:solidFill>
                <a:latin typeface="Avenir Next"/>
                <a:ea typeface="Avenir Next"/>
                <a:cs typeface="Avenir Next"/>
              </a:defRPr>
            </a:pPr>
            <a:r>
              <a:rPr sz="675" b="0">
                <a:solidFill>
                  <a:srgbClr val="5F7078"/>
                </a:solidFill>
                <a:latin typeface="Avenir Next"/>
                <a:ea typeface="Avenir Next"/>
                <a:cs typeface="Avenir Next"/>
              </a:rPr>
              <a:t>Source: peer-reviewed comparative study of the Bradford NHS command centre, BMJ Health &amp; Care Informatics / PMC10566538.</a:t>
            </a:r>
          </a:p>
        </p:txBody>
      </p:sp>
      <p:sp>
        <p:nvSpPr>
          <p:cNvPr id="61" name="">
            <a:extLst xmlns:a="http://schemas.openxmlformats.org/drawingml/2006/main">
              <a:ext uri="{FF2B5EF4-FFF2-40B4-BE49-F238E27FC236}">
                <a16:creationId xmlns:a16="http://schemas.microsoft.com/office/drawing/2014/main" id="{06564D49-7D36-448E-B486-FA9B72641A1D}"/>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13</a:t>
            </a:r>
          </a:p>
        </p:txBody>
      </p:sp>
    </p:spTree>
    <p:extLst>
      <p:ext uri="{BB962C8B-B14F-4D97-AF65-F5344CB8AC3E}">
        <p14:creationId xmlns:p14="http://schemas.microsoft.com/office/powerpoint/2010/main" val="180612794"/>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AE1AB0-77DB-4099-9CC8-856A30ADDFF3}"/>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247B6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7A0352-9856-4771-B7D4-9D578A97A394}"/>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THE CONTROL ARCHITECTURE</a:t>
            </a:r>
          </a:p>
        </p:txBody>
      </p:sp>
      <p:sp>
        <p:nvSpPr>
          <p:cNvPr id="3" name="">
            <a:extLst xmlns:a="http://schemas.openxmlformats.org/drawingml/2006/main">
              <a:ext uri="{FF2B5EF4-FFF2-40B4-BE49-F238E27FC236}">
                <a16:creationId xmlns:a16="http://schemas.microsoft.com/office/drawing/2014/main" id="{5EF3913C-4CA7-4A7D-BD1D-113D6C3CED20}"/>
              </a:ext>
            </a:extLst>
          </p:cNvPr>
          <p:cNvSpPr>
            <a:spLocks xmlns:a="http://schemas.openxmlformats.org/drawingml/2006/main" noGrp="1"/>
          </p:cNvSpPr>
          <p:nvPr/>
        </p:nvSpPr>
        <p:spPr>
          <a:xfrm xmlns:a="http://schemas.openxmlformats.org/drawingml/2006/main">
            <a:off x="609600" y="781050"/>
            <a:ext cx="9906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0B1720"/>
                </a:solidFill>
                <a:latin typeface="Avenir Next"/>
                <a:ea typeface="Avenir Next"/>
                <a:cs typeface="Avenir Next"/>
              </a:defRPr>
            </a:pPr>
            <a:r>
              <a:rPr sz="3300" b="1">
                <a:solidFill>
                  <a:srgbClr val="0B1720"/>
                </a:solidFill>
                <a:latin typeface="Avenir Next"/>
                <a:ea typeface="Avenir Next"/>
                <a:cs typeface="Avenir Next"/>
              </a:rPr>
              <a:t>Autonomy is a risk budget—not a feature.</a:t>
            </a:r>
          </a:p>
        </p:txBody>
      </p:sp>
      <p:sp>
        <p:nvSpPr>
          <p:cNvPr id="4" name="">
            <a:extLst xmlns:a="http://schemas.openxmlformats.org/drawingml/2006/main">
              <a:ext uri="{FF2B5EF4-FFF2-40B4-BE49-F238E27FC236}">
                <a16:creationId xmlns:a16="http://schemas.microsoft.com/office/drawing/2014/main" id="{C2ABF5A4-25F7-4C4F-ADBE-CB6A1920ECC6}"/>
              </a:ext>
            </a:extLst>
          </p:cNvPr>
          <p:cNvSpPr>
            <a:spLocks xmlns:a="http://schemas.openxmlformats.org/drawingml/2006/main" noGrp="1"/>
          </p:cNvSpPr>
          <p:nvPr/>
        </p:nvSpPr>
        <p:spPr>
          <a:xfrm xmlns:a="http://schemas.openxmlformats.org/drawingml/2006/main">
            <a:off x="609600" y="1428750"/>
            <a:ext cx="800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5F7078"/>
                </a:solidFill>
                <a:latin typeface="Avenir Next"/>
                <a:ea typeface="Avenir Next"/>
                <a:cs typeface="Avenir Next"/>
              </a:defRPr>
            </a:pPr>
            <a:r>
              <a:rPr sz="1575" b="0">
                <a:solidFill>
                  <a:srgbClr val="5F7078"/>
                </a:solidFill>
                <a:latin typeface="Avenir Next"/>
                <a:ea typeface="Avenir Next"/>
                <a:cs typeface="Avenir Next"/>
              </a:rPr>
              <a:t>Authority should narrow as consequence rises.</a:t>
            </a:r>
          </a:p>
        </p:txBody>
      </p:sp>
      <p:sp>
        <p:nvSpPr>
          <p:cNvPr id="5" name="">
            <a:extLst xmlns:a="http://schemas.openxmlformats.org/drawingml/2006/main">
              <a:ext uri="{FF2B5EF4-FFF2-40B4-BE49-F238E27FC236}">
                <a16:creationId xmlns:a16="http://schemas.microsoft.com/office/drawing/2014/main" id="{1A58A940-3F31-4CC5-9371-DFA93AE8AE05}"/>
              </a:ext>
            </a:extLst>
          </p:cNvPr>
          <p:cNvSpPr>
            <a:spLocks xmlns:a="http://schemas.openxmlformats.org/drawingml/2006/main" noGrp="1"/>
          </p:cNvSpPr>
          <p:nvPr/>
        </p:nvSpPr>
        <p:spPr>
          <a:xfrm xmlns:a="http://schemas.openxmlformats.org/drawingml/2006/main">
            <a:off x="8382000" y="1466850"/>
            <a:ext cx="320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FF7487"/>
                </a:solidFill>
                <a:latin typeface="Avenir Next"/>
                <a:ea typeface="Avenir Next"/>
                <a:cs typeface="Avenir Next"/>
              </a:defRPr>
            </a:pPr>
            <a:r>
              <a:rPr sz="825" b="1">
                <a:solidFill>
                  <a:srgbClr val="FF7487"/>
                </a:solidFill>
                <a:latin typeface="Avenir Next"/>
                <a:ea typeface="Avenir Next"/>
                <a:cs typeface="Avenir Next"/>
              </a:rPr>
              <a:t>CONSEQUENCE RISES  →</a:t>
            </a:r>
          </a:p>
        </p:txBody>
      </p:sp>
      <p:sp>
        <p:nvSpPr>
          <p:cNvPr id="6" name="">
            <a:extLst xmlns:a="http://schemas.openxmlformats.org/drawingml/2006/main">
              <a:ext uri="{FF2B5EF4-FFF2-40B4-BE49-F238E27FC236}">
                <a16:creationId xmlns:a16="http://schemas.microsoft.com/office/drawing/2014/main" id="{A5FCB9DF-9E0E-4C00-80A7-127C1A532372}"/>
              </a:ext>
            </a:extLst>
          </p:cNvPr>
          <p:cNvSpPr>
            <a:spLocks xmlns:a="http://schemas.openxmlformats.org/drawingml/2006/main" noGrp="1"/>
          </p:cNvSpPr>
          <p:nvPr/>
        </p:nvSpPr>
        <p:spPr>
          <a:xfrm xmlns:a="http://schemas.openxmlformats.org/drawingml/2006/main">
            <a:off x="609600" y="2686050"/>
            <a:ext cx="1828800" cy="2171700"/>
          </a:xfrm>
          <a:prstGeom xmlns:a="http://schemas.openxmlformats.org/drawingml/2006/main" prst="roundRect">
            <a:avLst>
              <a:gd name="adj" fmla="val 9375"/>
            </a:avLst>
          </a:prstGeom>
          <a:solidFill xmlns:a="http://schemas.openxmlformats.org/drawingml/2006/main">
            <a:srgbClr val="E7EBE8"/>
          </a:solidFill>
          <a:ln xmlns:a="http://schemas.openxmlformats.org/drawingml/2006/main" w="19050">
            <a:solidFill>
              <a:srgbClr val="7AA7FF"/>
            </a:solidFill>
            <a:prstDash val="solid"/>
          </a:ln>
        </p:spPr>
      </p:sp>
      <p:sp>
        <p:nvSpPr>
          <p:cNvPr id="7" name="">
            <a:extLst xmlns:a="http://schemas.openxmlformats.org/drawingml/2006/main">
              <a:ext uri="{FF2B5EF4-FFF2-40B4-BE49-F238E27FC236}">
                <a16:creationId xmlns:a16="http://schemas.microsoft.com/office/drawing/2014/main" id="{C8232F15-69AE-498D-B8D2-FE6EDD8EB4E2}"/>
              </a:ext>
            </a:extLst>
          </p:cNvPr>
          <p:cNvSpPr>
            <a:spLocks xmlns:a="http://schemas.openxmlformats.org/drawingml/2006/main" noGrp="1"/>
          </p:cNvSpPr>
          <p:nvPr/>
        </p:nvSpPr>
        <p:spPr>
          <a:xfrm xmlns:a="http://schemas.openxmlformats.org/drawingml/2006/main">
            <a:off x="781050" y="28575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AA7FF"/>
                </a:solidFill>
                <a:latin typeface="Avenir Next"/>
                <a:ea typeface="Avenir Next"/>
                <a:cs typeface="Avenir Next"/>
              </a:defRPr>
            </a:pPr>
            <a:r>
              <a:rPr sz="825" b="1">
                <a:solidFill>
                  <a:srgbClr val="7AA7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626A341B-4D65-4FFD-9E7B-C68CC2C4311C}"/>
              </a:ext>
            </a:extLst>
          </p:cNvPr>
          <p:cNvSpPr>
            <a:spLocks xmlns:a="http://schemas.openxmlformats.org/drawingml/2006/main" noGrp="1"/>
          </p:cNvSpPr>
          <p:nvPr/>
        </p:nvSpPr>
        <p:spPr>
          <a:xfrm xmlns:a="http://schemas.openxmlformats.org/drawingml/2006/main">
            <a:off x="781050" y="32194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OBSERVE</a:t>
            </a:r>
          </a:p>
        </p:txBody>
      </p:sp>
      <p:sp>
        <p:nvSpPr>
          <p:cNvPr id="9" name="">
            <a:extLst xmlns:a="http://schemas.openxmlformats.org/drawingml/2006/main">
              <a:ext uri="{FF2B5EF4-FFF2-40B4-BE49-F238E27FC236}">
                <a16:creationId xmlns:a16="http://schemas.microsoft.com/office/drawing/2014/main" id="{E39D3828-A909-4CE2-B4B1-4A8E56E70617}"/>
              </a:ext>
            </a:extLst>
          </p:cNvPr>
          <p:cNvSpPr>
            <a:spLocks xmlns:a="http://schemas.openxmlformats.org/drawingml/2006/main" noGrp="1"/>
          </p:cNvSpPr>
          <p:nvPr/>
        </p:nvSpPr>
        <p:spPr>
          <a:xfrm xmlns:a="http://schemas.openxmlformats.org/drawingml/2006/main">
            <a:off x="781050" y="4362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7078"/>
                </a:solidFill>
                <a:latin typeface="Avenir Next"/>
                <a:ea typeface="Avenir Next"/>
                <a:cs typeface="Avenir Next"/>
              </a:defRPr>
            </a:pPr>
            <a:r>
              <a:rPr sz="900" b="0">
                <a:solidFill>
                  <a:srgbClr val="5F7078"/>
                </a:solidFill>
                <a:latin typeface="Avenir Next"/>
                <a:ea typeface="Avenir Next"/>
                <a:cs typeface="Avenir Next"/>
              </a:rPr>
              <a:t>detect + explain</a:t>
            </a:r>
          </a:p>
        </p:txBody>
      </p:sp>
      <p:sp>
        <p:nvSpPr>
          <p:cNvPr id="10" name="">
            <a:extLst xmlns:a="http://schemas.openxmlformats.org/drawingml/2006/main">
              <a:ext uri="{FF2B5EF4-FFF2-40B4-BE49-F238E27FC236}">
                <a16:creationId xmlns:a16="http://schemas.microsoft.com/office/drawing/2014/main" id="{FFD26A8C-4612-4AC1-801B-8A07E7E7981B}"/>
              </a:ext>
            </a:extLst>
          </p:cNvPr>
          <p:cNvSpPr>
            <a:spLocks xmlns:a="http://schemas.openxmlformats.org/drawingml/2006/main" noGrp="1"/>
          </p:cNvSpPr>
          <p:nvPr/>
        </p:nvSpPr>
        <p:spPr>
          <a:xfrm xmlns:a="http://schemas.openxmlformats.org/drawingml/2006/main">
            <a:off x="2800350" y="2857500"/>
            <a:ext cx="1828800" cy="2000250"/>
          </a:xfrm>
          <a:prstGeom xmlns:a="http://schemas.openxmlformats.org/drawingml/2006/main" prst="roundRect">
            <a:avLst>
              <a:gd name="adj" fmla="val 9375"/>
            </a:avLst>
          </a:prstGeom>
          <a:solidFill xmlns:a="http://schemas.openxmlformats.org/drawingml/2006/main">
            <a:srgbClr val="E7EBE8"/>
          </a:solidFill>
          <a:ln xmlns:a="http://schemas.openxmlformats.org/drawingml/2006/main" w="19050">
            <a:solidFill>
              <a:srgbClr val="51DFE3"/>
            </a:solidFill>
            <a:prstDash val="solid"/>
          </a:ln>
        </p:spPr>
      </p:sp>
      <p:sp>
        <p:nvSpPr>
          <p:cNvPr id="11" name="">
            <a:extLst xmlns:a="http://schemas.openxmlformats.org/drawingml/2006/main">
              <a:ext uri="{FF2B5EF4-FFF2-40B4-BE49-F238E27FC236}">
                <a16:creationId xmlns:a16="http://schemas.microsoft.com/office/drawing/2014/main" id="{5313523A-73F9-4147-ACD4-8C457CCBC77C}"/>
              </a:ext>
            </a:extLst>
          </p:cNvPr>
          <p:cNvSpPr>
            <a:spLocks xmlns:a="http://schemas.openxmlformats.org/drawingml/2006/main" noGrp="1"/>
          </p:cNvSpPr>
          <p:nvPr/>
        </p:nvSpPr>
        <p:spPr>
          <a:xfrm xmlns:a="http://schemas.openxmlformats.org/drawingml/2006/main">
            <a:off x="2971800" y="30289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51DFE3"/>
                </a:solidFill>
                <a:latin typeface="Avenir Next"/>
                <a:ea typeface="Avenir Next"/>
                <a:cs typeface="Avenir Next"/>
              </a:defRPr>
            </a:pPr>
            <a:r>
              <a:rPr sz="825" b="1">
                <a:solidFill>
                  <a:srgbClr val="51DFE3"/>
                </a:solidFill>
                <a:latin typeface="Avenir Next"/>
                <a:ea typeface="Avenir Next"/>
                <a:cs typeface="Avenir Next"/>
              </a:rPr>
              <a:t>02</a:t>
            </a:r>
          </a:p>
        </p:txBody>
      </p:sp>
      <p:sp>
        <p:nvSpPr>
          <p:cNvPr id="12" name="">
            <a:extLst xmlns:a="http://schemas.openxmlformats.org/drawingml/2006/main">
              <a:ext uri="{FF2B5EF4-FFF2-40B4-BE49-F238E27FC236}">
                <a16:creationId xmlns:a16="http://schemas.microsoft.com/office/drawing/2014/main" id="{1366B76E-D7F1-4F8C-A05F-6114DD546F22}"/>
              </a:ext>
            </a:extLst>
          </p:cNvPr>
          <p:cNvSpPr>
            <a:spLocks xmlns:a="http://schemas.openxmlformats.org/drawingml/2006/main" noGrp="1"/>
          </p:cNvSpPr>
          <p:nvPr/>
        </p:nvSpPr>
        <p:spPr>
          <a:xfrm xmlns:a="http://schemas.openxmlformats.org/drawingml/2006/main">
            <a:off x="2971800" y="33909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RECOMMEND</a:t>
            </a:r>
          </a:p>
        </p:txBody>
      </p:sp>
      <p:sp>
        <p:nvSpPr>
          <p:cNvPr id="13" name="">
            <a:extLst xmlns:a="http://schemas.openxmlformats.org/drawingml/2006/main">
              <a:ext uri="{FF2B5EF4-FFF2-40B4-BE49-F238E27FC236}">
                <a16:creationId xmlns:a16="http://schemas.microsoft.com/office/drawing/2014/main" id="{D54CDAF6-4F90-4102-AE31-A563C9C483D0}"/>
              </a:ext>
            </a:extLst>
          </p:cNvPr>
          <p:cNvSpPr>
            <a:spLocks xmlns:a="http://schemas.openxmlformats.org/drawingml/2006/main" noGrp="1"/>
          </p:cNvSpPr>
          <p:nvPr/>
        </p:nvSpPr>
        <p:spPr>
          <a:xfrm xmlns:a="http://schemas.openxmlformats.org/drawingml/2006/main">
            <a:off x="2971800" y="4362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7078"/>
                </a:solidFill>
                <a:latin typeface="Avenir Next"/>
                <a:ea typeface="Avenir Next"/>
                <a:cs typeface="Avenir Next"/>
              </a:defRPr>
            </a:pPr>
            <a:r>
              <a:rPr sz="900" b="0">
                <a:solidFill>
                  <a:srgbClr val="5F7078"/>
                </a:solidFill>
                <a:latin typeface="Avenir Next"/>
                <a:ea typeface="Avenir Next"/>
                <a:cs typeface="Avenir Next"/>
              </a:rPr>
              <a:t>options + tradeoffs</a:t>
            </a:r>
          </a:p>
        </p:txBody>
      </p:sp>
      <p:sp>
        <p:nvSpPr>
          <p:cNvPr id="14" name="">
            <a:extLst xmlns:a="http://schemas.openxmlformats.org/drawingml/2006/main">
              <a:ext uri="{FF2B5EF4-FFF2-40B4-BE49-F238E27FC236}">
                <a16:creationId xmlns:a16="http://schemas.microsoft.com/office/drawing/2014/main" id="{8B13757D-6154-4EEA-B110-90D72B3E23D2}"/>
              </a:ext>
            </a:extLst>
          </p:cNvPr>
          <p:cNvSpPr>
            <a:spLocks xmlns:a="http://schemas.openxmlformats.org/drawingml/2006/main" noGrp="1"/>
          </p:cNvSpPr>
          <p:nvPr/>
        </p:nvSpPr>
        <p:spPr>
          <a:xfrm xmlns:a="http://schemas.openxmlformats.org/drawingml/2006/main">
            <a:off x="4991100" y="3048000"/>
            <a:ext cx="1828800" cy="1809750"/>
          </a:xfrm>
          <a:prstGeom xmlns:a="http://schemas.openxmlformats.org/drawingml/2006/main" prst="roundRect">
            <a:avLst>
              <a:gd name="adj" fmla="val 9474"/>
            </a:avLst>
          </a:prstGeom>
          <a:solidFill xmlns:a="http://schemas.openxmlformats.org/drawingml/2006/main">
            <a:srgbClr val="E7EBE8"/>
          </a:solidFill>
          <a:ln xmlns:a="http://schemas.openxmlformats.org/drawingml/2006/main" w="19050">
            <a:solidFill>
              <a:srgbClr val="60D799"/>
            </a:solidFill>
            <a:prstDash val="solid"/>
          </a:ln>
        </p:spPr>
      </p:sp>
      <p:sp>
        <p:nvSpPr>
          <p:cNvPr id="15" name="">
            <a:extLst xmlns:a="http://schemas.openxmlformats.org/drawingml/2006/main">
              <a:ext uri="{FF2B5EF4-FFF2-40B4-BE49-F238E27FC236}">
                <a16:creationId xmlns:a16="http://schemas.microsoft.com/office/drawing/2014/main" id="{AC0E07FF-3517-48C9-903C-9F0F0E7BC154}"/>
              </a:ext>
            </a:extLst>
          </p:cNvPr>
          <p:cNvSpPr>
            <a:spLocks xmlns:a="http://schemas.openxmlformats.org/drawingml/2006/main" noGrp="1"/>
          </p:cNvSpPr>
          <p:nvPr/>
        </p:nvSpPr>
        <p:spPr>
          <a:xfrm xmlns:a="http://schemas.openxmlformats.org/drawingml/2006/main">
            <a:off x="5162550" y="32194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0D799"/>
                </a:solidFill>
                <a:latin typeface="Avenir Next"/>
                <a:ea typeface="Avenir Next"/>
                <a:cs typeface="Avenir Next"/>
              </a:defRPr>
            </a:pPr>
            <a:r>
              <a:rPr sz="825" b="1">
                <a:solidFill>
                  <a:srgbClr val="60D799"/>
                </a:solidFill>
                <a:latin typeface="Avenir Next"/>
                <a:ea typeface="Avenir Next"/>
                <a:cs typeface="Avenir Next"/>
              </a:rPr>
              <a:t>03</a:t>
            </a:r>
          </a:p>
        </p:txBody>
      </p:sp>
      <p:sp>
        <p:nvSpPr>
          <p:cNvPr id="16" name="">
            <a:extLst xmlns:a="http://schemas.openxmlformats.org/drawingml/2006/main">
              <a:ext uri="{FF2B5EF4-FFF2-40B4-BE49-F238E27FC236}">
                <a16:creationId xmlns:a16="http://schemas.microsoft.com/office/drawing/2014/main" id="{5F36CC07-5A85-40CE-B380-718984707DF7}"/>
              </a:ext>
            </a:extLst>
          </p:cNvPr>
          <p:cNvSpPr>
            <a:spLocks xmlns:a="http://schemas.openxmlformats.org/drawingml/2006/main" noGrp="1"/>
          </p:cNvSpPr>
          <p:nvPr/>
        </p:nvSpPr>
        <p:spPr>
          <a:xfrm xmlns:a="http://schemas.openxmlformats.org/drawingml/2006/main">
            <a:off x="5162550" y="35814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EXECUTE</a:t>
            </a:r>
          </a:p>
        </p:txBody>
      </p:sp>
      <p:sp>
        <p:nvSpPr>
          <p:cNvPr id="17" name="">
            <a:extLst xmlns:a="http://schemas.openxmlformats.org/drawingml/2006/main">
              <a:ext uri="{FF2B5EF4-FFF2-40B4-BE49-F238E27FC236}">
                <a16:creationId xmlns:a16="http://schemas.microsoft.com/office/drawing/2014/main" id="{4453530B-F41D-4D64-AAB2-D93C8A5BB54C}"/>
              </a:ext>
            </a:extLst>
          </p:cNvPr>
          <p:cNvSpPr>
            <a:spLocks xmlns:a="http://schemas.openxmlformats.org/drawingml/2006/main" noGrp="1"/>
          </p:cNvSpPr>
          <p:nvPr/>
        </p:nvSpPr>
        <p:spPr>
          <a:xfrm xmlns:a="http://schemas.openxmlformats.org/drawingml/2006/main">
            <a:off x="5162550" y="4362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7078"/>
                </a:solidFill>
                <a:latin typeface="Avenir Next"/>
                <a:ea typeface="Avenir Next"/>
                <a:cs typeface="Avenir Next"/>
              </a:defRPr>
            </a:pPr>
            <a:r>
              <a:rPr sz="900" b="0">
                <a:solidFill>
                  <a:srgbClr val="5F7078"/>
                </a:solidFill>
                <a:latin typeface="Avenir Next"/>
                <a:ea typeface="Avenir Next"/>
                <a:cs typeface="Avenir Next"/>
              </a:rPr>
              <a:t>reversible work</a:t>
            </a:r>
          </a:p>
        </p:txBody>
      </p:sp>
      <p:sp>
        <p:nvSpPr>
          <p:cNvPr id="18" name="">
            <a:extLst xmlns:a="http://schemas.openxmlformats.org/drawingml/2006/main">
              <a:ext uri="{FF2B5EF4-FFF2-40B4-BE49-F238E27FC236}">
                <a16:creationId xmlns:a16="http://schemas.microsoft.com/office/drawing/2014/main" id="{03F09800-B30F-42D7-9656-E85608F3442B}"/>
              </a:ext>
            </a:extLst>
          </p:cNvPr>
          <p:cNvSpPr>
            <a:spLocks xmlns:a="http://schemas.openxmlformats.org/drawingml/2006/main" noGrp="1"/>
          </p:cNvSpPr>
          <p:nvPr/>
        </p:nvSpPr>
        <p:spPr>
          <a:xfrm xmlns:a="http://schemas.openxmlformats.org/drawingml/2006/main">
            <a:off x="7181850" y="3238500"/>
            <a:ext cx="1828800" cy="1619250"/>
          </a:xfrm>
          <a:prstGeom xmlns:a="http://schemas.openxmlformats.org/drawingml/2006/main" prst="roundRect">
            <a:avLst>
              <a:gd name="adj" fmla="val 10588"/>
            </a:avLst>
          </a:prstGeom>
          <a:solidFill xmlns:a="http://schemas.openxmlformats.org/drawingml/2006/main">
            <a:srgbClr val="E7EBE8"/>
          </a:solidFill>
          <a:ln xmlns:a="http://schemas.openxmlformats.org/drawingml/2006/main" w="19050">
            <a:solidFill>
              <a:srgbClr val="F3C668"/>
            </a:solidFill>
            <a:prstDash val="solid"/>
          </a:ln>
        </p:spPr>
      </p:sp>
      <p:sp>
        <p:nvSpPr>
          <p:cNvPr id="19" name="">
            <a:extLst xmlns:a="http://schemas.openxmlformats.org/drawingml/2006/main">
              <a:ext uri="{FF2B5EF4-FFF2-40B4-BE49-F238E27FC236}">
                <a16:creationId xmlns:a16="http://schemas.microsoft.com/office/drawing/2014/main" id="{4480D280-0086-40AE-9A12-413A768920D0}"/>
              </a:ext>
            </a:extLst>
          </p:cNvPr>
          <p:cNvSpPr>
            <a:spLocks xmlns:a="http://schemas.openxmlformats.org/drawingml/2006/main" noGrp="1"/>
          </p:cNvSpPr>
          <p:nvPr/>
        </p:nvSpPr>
        <p:spPr>
          <a:xfrm xmlns:a="http://schemas.openxmlformats.org/drawingml/2006/main">
            <a:off x="7353300" y="34099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3C668"/>
                </a:solidFill>
                <a:latin typeface="Avenir Next"/>
                <a:ea typeface="Avenir Next"/>
                <a:cs typeface="Avenir Next"/>
              </a:defRPr>
            </a:pPr>
            <a:r>
              <a:rPr sz="825" b="1">
                <a:solidFill>
                  <a:srgbClr val="F3C668"/>
                </a:solidFill>
                <a:latin typeface="Avenir Next"/>
                <a:ea typeface="Avenir Next"/>
                <a:cs typeface="Avenir Next"/>
              </a:rPr>
              <a:t>04</a:t>
            </a:r>
          </a:p>
        </p:txBody>
      </p:sp>
      <p:sp>
        <p:nvSpPr>
          <p:cNvPr id="20" name="">
            <a:extLst xmlns:a="http://schemas.openxmlformats.org/drawingml/2006/main">
              <a:ext uri="{FF2B5EF4-FFF2-40B4-BE49-F238E27FC236}">
                <a16:creationId xmlns:a16="http://schemas.microsoft.com/office/drawing/2014/main" id="{4D73FB04-4D25-4AD5-9F60-5732ACC575CB}"/>
              </a:ext>
            </a:extLst>
          </p:cNvPr>
          <p:cNvSpPr>
            <a:spLocks xmlns:a="http://schemas.openxmlformats.org/drawingml/2006/main" noGrp="1"/>
          </p:cNvSpPr>
          <p:nvPr/>
        </p:nvSpPr>
        <p:spPr>
          <a:xfrm xmlns:a="http://schemas.openxmlformats.org/drawingml/2006/main">
            <a:off x="7353300" y="377190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720"/>
                </a:solidFill>
                <a:latin typeface="Avenir Next"/>
                <a:ea typeface="Avenir Next"/>
                <a:cs typeface="Avenir Next"/>
              </a:defRPr>
            </a:pPr>
            <a:r>
              <a:rPr sz="1350" b="1">
                <a:solidFill>
                  <a:srgbClr val="0B1720"/>
                </a:solidFill>
                <a:latin typeface="Avenir Next"/>
                <a:ea typeface="Avenir Next"/>
                <a:cs typeface="Avenir Next"/>
              </a:rPr>
              <a:t>ORCHESTRATE</a:t>
            </a:r>
          </a:p>
        </p:txBody>
      </p:sp>
      <p:sp>
        <p:nvSpPr>
          <p:cNvPr id="21" name="">
            <a:extLst xmlns:a="http://schemas.openxmlformats.org/drawingml/2006/main">
              <a:ext uri="{FF2B5EF4-FFF2-40B4-BE49-F238E27FC236}">
                <a16:creationId xmlns:a16="http://schemas.microsoft.com/office/drawing/2014/main" id="{56892DDC-DD88-4A96-AE4D-526195979CE4}"/>
              </a:ext>
            </a:extLst>
          </p:cNvPr>
          <p:cNvSpPr>
            <a:spLocks xmlns:a="http://schemas.openxmlformats.org/drawingml/2006/main" noGrp="1"/>
          </p:cNvSpPr>
          <p:nvPr/>
        </p:nvSpPr>
        <p:spPr>
          <a:xfrm xmlns:a="http://schemas.openxmlformats.org/drawingml/2006/main">
            <a:off x="7353300" y="4362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7078"/>
                </a:solidFill>
                <a:latin typeface="Avenir Next"/>
                <a:ea typeface="Avenir Next"/>
                <a:cs typeface="Avenir Next"/>
              </a:defRPr>
            </a:pPr>
            <a:r>
              <a:rPr sz="900" b="0">
                <a:solidFill>
                  <a:srgbClr val="5F7078"/>
                </a:solidFill>
                <a:latin typeface="Avenir Next"/>
                <a:ea typeface="Avenir Next"/>
                <a:cs typeface="Avenir Next"/>
              </a:rPr>
              <a:t>named approval</a:t>
            </a:r>
          </a:p>
        </p:txBody>
      </p:sp>
      <p:sp>
        <p:nvSpPr>
          <p:cNvPr id="22" name="">
            <a:extLst xmlns:a="http://schemas.openxmlformats.org/drawingml/2006/main">
              <a:ext uri="{FF2B5EF4-FFF2-40B4-BE49-F238E27FC236}">
                <a16:creationId xmlns:a16="http://schemas.microsoft.com/office/drawing/2014/main" id="{1DB72812-E927-42DC-8F15-0C89F68395CB}"/>
              </a:ext>
            </a:extLst>
          </p:cNvPr>
          <p:cNvSpPr>
            <a:spLocks xmlns:a="http://schemas.openxmlformats.org/drawingml/2006/main" noGrp="1"/>
          </p:cNvSpPr>
          <p:nvPr/>
        </p:nvSpPr>
        <p:spPr>
          <a:xfrm xmlns:a="http://schemas.openxmlformats.org/drawingml/2006/main">
            <a:off x="9372600" y="3429000"/>
            <a:ext cx="1828800" cy="1428750"/>
          </a:xfrm>
          <a:prstGeom xmlns:a="http://schemas.openxmlformats.org/drawingml/2006/main" prst="roundRect">
            <a:avLst>
              <a:gd name="adj" fmla="val 12000"/>
            </a:avLst>
          </a:prstGeom>
          <a:solidFill xmlns:a="http://schemas.openxmlformats.org/drawingml/2006/main">
            <a:srgbClr val="F7E4E5"/>
          </a:solidFill>
          <a:ln xmlns:a="http://schemas.openxmlformats.org/drawingml/2006/main" w="19050">
            <a:solidFill>
              <a:srgbClr val="FF7487"/>
            </a:solidFill>
            <a:prstDash val="solid"/>
          </a:ln>
        </p:spPr>
      </p:sp>
      <p:sp>
        <p:nvSpPr>
          <p:cNvPr id="23" name="">
            <a:extLst xmlns:a="http://schemas.openxmlformats.org/drawingml/2006/main">
              <a:ext uri="{FF2B5EF4-FFF2-40B4-BE49-F238E27FC236}">
                <a16:creationId xmlns:a16="http://schemas.microsoft.com/office/drawing/2014/main" id="{48856818-37E7-4E33-AE78-C4E84F7E5D77}"/>
              </a:ext>
            </a:extLst>
          </p:cNvPr>
          <p:cNvSpPr>
            <a:spLocks xmlns:a="http://schemas.openxmlformats.org/drawingml/2006/main" noGrp="1"/>
          </p:cNvSpPr>
          <p:nvPr/>
        </p:nvSpPr>
        <p:spPr>
          <a:xfrm xmlns:a="http://schemas.openxmlformats.org/drawingml/2006/main">
            <a:off x="9544050" y="36004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7487"/>
                </a:solidFill>
                <a:latin typeface="Avenir Next"/>
                <a:ea typeface="Avenir Next"/>
                <a:cs typeface="Avenir Next"/>
              </a:defRPr>
            </a:pPr>
            <a:r>
              <a:rPr sz="825" b="1">
                <a:solidFill>
                  <a:srgbClr val="FF7487"/>
                </a:solidFill>
                <a:latin typeface="Avenir Next"/>
                <a:ea typeface="Avenir Next"/>
                <a:cs typeface="Avenir Next"/>
              </a:rPr>
              <a:t>05</a:t>
            </a:r>
          </a:p>
        </p:txBody>
      </p:sp>
      <p:sp>
        <p:nvSpPr>
          <p:cNvPr id="24" name="">
            <a:extLst xmlns:a="http://schemas.openxmlformats.org/drawingml/2006/main">
              <a:ext uri="{FF2B5EF4-FFF2-40B4-BE49-F238E27FC236}">
                <a16:creationId xmlns:a16="http://schemas.microsoft.com/office/drawing/2014/main" id="{11C16388-9E09-4EF8-8980-D2AF2FD19836}"/>
              </a:ext>
            </a:extLst>
          </p:cNvPr>
          <p:cNvSpPr>
            <a:spLocks xmlns:a="http://schemas.openxmlformats.org/drawingml/2006/main" noGrp="1"/>
          </p:cNvSpPr>
          <p:nvPr/>
        </p:nvSpPr>
        <p:spPr>
          <a:xfrm xmlns:a="http://schemas.openxmlformats.org/drawingml/2006/main">
            <a:off x="9544050" y="396240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B1720"/>
                </a:solidFill>
                <a:latin typeface="Avenir Next"/>
                <a:ea typeface="Avenir Next"/>
                <a:cs typeface="Avenir Next"/>
              </a:defRPr>
            </a:pPr>
            <a:r>
              <a:rPr sz="1200" b="1">
                <a:solidFill>
                  <a:srgbClr val="0B1720"/>
                </a:solidFill>
                <a:latin typeface="Avenir Next"/>
                <a:ea typeface="Avenir Next"/>
                <a:cs typeface="Avenir Next"/>
              </a:rPr>
              <a:t>CLINICAL / IRREVERSIBLE</a:t>
            </a:r>
          </a:p>
        </p:txBody>
      </p:sp>
      <p:sp>
        <p:nvSpPr>
          <p:cNvPr id="25" name="">
            <a:extLst xmlns:a="http://schemas.openxmlformats.org/drawingml/2006/main">
              <a:ext uri="{FF2B5EF4-FFF2-40B4-BE49-F238E27FC236}">
                <a16:creationId xmlns:a16="http://schemas.microsoft.com/office/drawing/2014/main" id="{B4063D51-4683-4D6D-9D1F-1E890220F9D3}"/>
              </a:ext>
            </a:extLst>
          </p:cNvPr>
          <p:cNvSpPr>
            <a:spLocks xmlns:a="http://schemas.openxmlformats.org/drawingml/2006/main" noGrp="1"/>
          </p:cNvSpPr>
          <p:nvPr/>
        </p:nvSpPr>
        <p:spPr>
          <a:xfrm xmlns:a="http://schemas.openxmlformats.org/drawingml/2006/main">
            <a:off x="9544050" y="4362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F7078"/>
                </a:solidFill>
                <a:latin typeface="Avenir Next"/>
                <a:ea typeface="Avenir Next"/>
                <a:cs typeface="Avenir Next"/>
              </a:defRPr>
            </a:pPr>
            <a:r>
              <a:rPr sz="900" b="0">
                <a:solidFill>
                  <a:srgbClr val="5F7078"/>
                </a:solidFill>
                <a:latin typeface="Avenir Next"/>
                <a:ea typeface="Avenir Next"/>
                <a:cs typeface="Avenir Next"/>
              </a:rPr>
              <a:t>human accountability</a:t>
            </a:r>
          </a:p>
        </p:txBody>
      </p:sp>
      <p:sp>
        <p:nvSpPr>
          <p:cNvPr id="26" name="">
            <a:extLst xmlns:a="http://schemas.openxmlformats.org/drawingml/2006/main">
              <a:ext uri="{FF2B5EF4-FFF2-40B4-BE49-F238E27FC236}">
                <a16:creationId xmlns:a16="http://schemas.microsoft.com/office/drawing/2014/main" id="{2A902AFC-D0DF-4038-89B2-B85FFB685B71}"/>
              </a:ext>
            </a:extLst>
          </p:cNvPr>
          <p:cNvSpPr>
            <a:spLocks xmlns:a="http://schemas.openxmlformats.org/drawingml/2006/main" noGrp="1"/>
          </p:cNvSpPr>
          <p:nvPr/>
        </p:nvSpPr>
        <p:spPr>
          <a:xfrm xmlns:a="http://schemas.openxmlformats.org/drawingml/2006/main">
            <a:off x="609600" y="5238750"/>
            <a:ext cx="10972800" cy="0"/>
          </a:xfrm>
          <a:prstGeom xmlns:a="http://schemas.openxmlformats.org/drawingml/2006/main" prst="line">
            <a:avLst/>
          </a:prstGeom>
          <a:noFill xmlns:a="http://schemas.openxmlformats.org/drawingml/2006/main"/>
          <a:ln xmlns:a="http://schemas.openxmlformats.org/drawingml/2006/main" w="28575">
            <a:solidFill>
              <a:srgbClr val="0B1720"/>
            </a:solidFill>
            <a:prstDash val="solid"/>
          </a:ln>
        </p:spPr>
      </p:sp>
      <p:sp>
        <p:nvSpPr>
          <p:cNvPr id="27" name="">
            <a:extLst xmlns:a="http://schemas.openxmlformats.org/drawingml/2006/main">
              <a:ext uri="{FF2B5EF4-FFF2-40B4-BE49-F238E27FC236}">
                <a16:creationId xmlns:a16="http://schemas.microsoft.com/office/drawing/2014/main" id="{E05C1ED7-5461-43A6-AE8D-3203E0E9F368}"/>
              </a:ext>
            </a:extLst>
          </p:cNvPr>
          <p:cNvSpPr>
            <a:spLocks xmlns:a="http://schemas.openxmlformats.org/drawingml/2006/main" noGrp="1"/>
          </p:cNvSpPr>
          <p:nvPr/>
        </p:nvSpPr>
        <p:spPr>
          <a:xfrm xmlns:a="http://schemas.openxmlformats.org/drawingml/2006/main">
            <a:off x="609600" y="54102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247B63"/>
                </a:solidFill>
                <a:latin typeface="Avenir Next"/>
                <a:ea typeface="Avenir Next"/>
                <a:cs typeface="Avenir Next"/>
              </a:defRPr>
            </a:pPr>
            <a:r>
              <a:rPr sz="900" b="1">
                <a:solidFill>
                  <a:srgbClr val="247B63"/>
                </a:solidFill>
                <a:latin typeface="Avenir Next"/>
                <a:ea typeface="Avenir Next"/>
                <a:cs typeface="Avenir Next"/>
              </a:rPr>
              <a:t>AUTOMATIC AUTHORITY NARROWS  →</a:t>
            </a:r>
          </a:p>
        </p:txBody>
      </p:sp>
      <p:sp>
        <p:nvSpPr>
          <p:cNvPr id="28" name="">
            <a:extLst xmlns:a="http://schemas.openxmlformats.org/drawingml/2006/main">
              <a:ext uri="{FF2B5EF4-FFF2-40B4-BE49-F238E27FC236}">
                <a16:creationId xmlns:a16="http://schemas.microsoft.com/office/drawing/2014/main" id="{A47845E5-34ED-450A-BA60-B1C47C33BDB6}"/>
              </a:ext>
            </a:extLst>
          </p:cNvPr>
          <p:cNvSpPr>
            <a:spLocks xmlns:a="http://schemas.openxmlformats.org/drawingml/2006/main" noGrp="1"/>
          </p:cNvSpPr>
          <p:nvPr/>
        </p:nvSpPr>
        <p:spPr>
          <a:xfrm xmlns:a="http://schemas.openxmlformats.org/drawingml/2006/main">
            <a:off x="609600" y="5848350"/>
            <a:ext cx="10972800" cy="342900"/>
          </a:xfrm>
          <a:prstGeom xmlns:a="http://schemas.openxmlformats.org/drawingml/2006/main" prst="roundRect">
            <a:avLst>
              <a:gd name="adj" fmla="val 33333"/>
            </a:avLst>
          </a:prstGeom>
          <a:solidFill xmlns:a="http://schemas.openxmlformats.org/drawingml/2006/main">
            <a:srgbClr val="0B1720"/>
          </a:solidFill>
          <a:ln xmlns:a="http://schemas.openxmlformats.org/drawingml/2006/main" w="0">
            <a:solidFill>
              <a:srgbClr val="0B1720"/>
            </a:solidFill>
            <a:prstDash val="solid"/>
          </a:ln>
        </p:spPr>
      </p:sp>
      <p:sp>
        <p:nvSpPr>
          <p:cNvPr id="29" name="">
            <a:extLst xmlns:a="http://schemas.openxmlformats.org/drawingml/2006/main">
              <a:ext uri="{FF2B5EF4-FFF2-40B4-BE49-F238E27FC236}">
                <a16:creationId xmlns:a16="http://schemas.microsoft.com/office/drawing/2014/main" id="{1AE80A52-80C1-423F-B4F0-A62B3EE89FC7}"/>
              </a:ext>
            </a:extLst>
          </p:cNvPr>
          <p:cNvSpPr>
            <a:spLocks xmlns:a="http://schemas.openxmlformats.org/drawingml/2006/main" noGrp="1"/>
          </p:cNvSpPr>
          <p:nvPr/>
        </p:nvSpPr>
        <p:spPr>
          <a:xfrm xmlns:a="http://schemas.openxmlformats.org/drawingml/2006/main">
            <a:off x="609600" y="584835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AUDIT · ROLLBACK · APPROVAL · STOP CONDITIONS · HUMAN ACCOUNTABILITY</a:t>
            </a:r>
          </a:p>
        </p:txBody>
      </p:sp>
      <p:sp>
        <p:nvSpPr>
          <p:cNvPr id="30" name="">
            <a:extLst xmlns:a="http://schemas.openxmlformats.org/drawingml/2006/main">
              <a:ext uri="{FF2B5EF4-FFF2-40B4-BE49-F238E27FC236}">
                <a16:creationId xmlns:a16="http://schemas.microsoft.com/office/drawing/2014/main" id="{56267F1D-3C05-4DC9-A5C5-522EFF420224}"/>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14</a:t>
            </a:r>
          </a:p>
        </p:txBody>
      </p:sp>
    </p:spTree>
    <p:extLst>
      <p:ext uri="{BB962C8B-B14F-4D97-AF65-F5344CB8AC3E}">
        <p14:creationId xmlns:p14="http://schemas.microsoft.com/office/powerpoint/2010/main" val="1278688127"/>
      </p:ext>
    </p:extLst>
  </p:cSld>
</p:sld>
</file>

<file path=ppt/slides/slide15.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A6D7D1-40D4-4E6D-9BB8-3E95BAD05360}"/>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C5C7AEC1-922F-46C8-992B-DCA47B41292F}"/>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7D1D4CA7-1278-42B4-9AB4-FF6A1A8D3C15}"/>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B79CBB1D-8621-48FA-B9F5-C5BA7A453D19}"/>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A3D645C0-A325-434F-AB88-D8EA3488FEE1}"/>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4765A84E-7352-4DE9-A5A7-D1ABA0A4CA95}"/>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ACEE2549-6F86-4D9A-85C9-A791EA201964}"/>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3F5F4B52-0690-4681-89F5-C4FE90E8436E}"/>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B1C1C5FC-BBE9-480D-9102-AAB7DA282C90}"/>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3A675C76-06D3-4A95-90C2-14ABA6E9E156}"/>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91F808C7-789D-4C09-B364-ADA6D3C71D27}"/>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0E8B289D-4CC6-4CD4-B2A1-F16AE4BC0100}"/>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BEC4D33B-611C-436A-89D0-D3BF5B50F26F}"/>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9302889B-24CE-42F3-A883-42B58E4FDA9E}"/>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9848B941-1810-4D63-9005-D669B9EDF0F7}"/>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048419F0-3BEA-465C-A1EF-F815CC2470CE}"/>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5E841193-0006-42A7-B788-528A7C539FB7}"/>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FF687954-085F-4F08-878B-C7B2CBD86CA1}"/>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F786FF11-45DD-4D1F-9501-98C40BFD61F1}"/>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924E4FA4-0815-4542-98AB-692C864575B5}"/>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0107417A-5D71-4DF9-8586-F4E354074ABA}"/>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F7BAAB13-7362-49DF-B3FD-8B28B8932F12}"/>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28E1F8BF-E1FF-40DB-B472-54DDBDD678B4}"/>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0B9594F5-635D-46D0-AD2B-792965233C9E}"/>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6ED550B3-A239-4C55-8627-43CB62CAA63D}"/>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B83CBAD9-8FB6-424F-9CA8-C5D042692D94}"/>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B3FF4687-E77B-43DF-A928-F90122EC07E7}"/>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EAAE9E47-5F7B-423A-8227-2193C4B7A8C5}"/>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F1FB7631-0E12-4309-92F3-825F2D391921}"/>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7F9B2DAC-01A7-4ED5-AFA1-7C7A64359833}"/>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00C2B268-D37D-47B9-9046-FA97F8FD5675}"/>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97B8ED0-96F8-41DE-A488-17CCF81EFF6F}"/>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THE EXECUTIVE DECISION</a:t>
            </a:r>
          </a:p>
        </p:txBody>
      </p:sp>
      <p:sp>
        <p:nvSpPr>
          <p:cNvPr id="33" name="">
            <a:extLst xmlns:a="http://schemas.openxmlformats.org/drawingml/2006/main">
              <a:ext uri="{FF2B5EF4-FFF2-40B4-BE49-F238E27FC236}">
                <a16:creationId xmlns:a16="http://schemas.microsoft.com/office/drawing/2014/main" id="{6A42E83D-F63C-4D4B-B29E-A0C9AC6BDB16}"/>
              </a:ext>
            </a:extLst>
          </p:cNvPr>
          <p:cNvSpPr>
            <a:spLocks xmlns:a="http://schemas.openxmlformats.org/drawingml/2006/main" noGrp="1"/>
          </p:cNvSpPr>
          <p:nvPr/>
        </p:nvSpPr>
        <p:spPr>
          <a:xfrm xmlns:a="http://schemas.openxmlformats.org/drawingml/2006/main">
            <a:off x="609600" y="781050"/>
            <a:ext cx="8572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F7F8F5"/>
                </a:solidFill>
                <a:latin typeface="Avenir Next"/>
                <a:ea typeface="Avenir Next"/>
                <a:cs typeface="Avenir Next"/>
              </a:defRPr>
            </a:pPr>
            <a:r>
              <a:rPr sz="3750" b="1">
                <a:solidFill>
                  <a:srgbClr val="F7F8F5"/>
                </a:solidFill>
                <a:latin typeface="Avenir Next"/>
                <a:ea typeface="Avenir Next"/>
                <a:cs typeface="Avenir Next"/>
              </a:rPr>
              <a:t>Prove one flow in 90 days.</a:t>
            </a:r>
          </a:p>
        </p:txBody>
      </p:sp>
      <p:sp>
        <p:nvSpPr>
          <p:cNvPr id="34" name="">
            <a:extLst xmlns:a="http://schemas.openxmlformats.org/drawingml/2006/main">
              <a:ext uri="{FF2B5EF4-FFF2-40B4-BE49-F238E27FC236}">
                <a16:creationId xmlns:a16="http://schemas.microsoft.com/office/drawing/2014/main" id="{16444364-5B14-4ABB-82CD-127D6A7D8E82}"/>
              </a:ext>
            </a:extLst>
          </p:cNvPr>
          <p:cNvSpPr>
            <a:spLocks xmlns:a="http://schemas.openxmlformats.org/drawingml/2006/main" noGrp="1"/>
          </p:cNvSpPr>
          <p:nvPr/>
        </p:nvSpPr>
        <p:spPr>
          <a:xfrm xmlns:a="http://schemas.openxmlformats.org/drawingml/2006/main">
            <a:off x="609600" y="14668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83F3C9"/>
                </a:solidFill>
                <a:latin typeface="Avenir Next"/>
                <a:ea typeface="Avenir Next"/>
                <a:cs typeface="Avenir Next"/>
              </a:defRPr>
            </a:pPr>
            <a:r>
              <a:rPr sz="1575" b="0">
                <a:solidFill>
                  <a:srgbClr val="83F3C9"/>
                </a:solidFill>
                <a:latin typeface="Avenir Next"/>
                <a:ea typeface="Avenir Next"/>
                <a:cs typeface="Avenir Next"/>
              </a:rPr>
              <a:t>Buy fewer pilots. Create one closed-loop operating proof.</a:t>
            </a:r>
          </a:p>
        </p:txBody>
      </p:sp>
      <p:sp>
        <p:nvSpPr>
          <p:cNvPr id="35" name="">
            <a:extLst xmlns:a="http://schemas.openxmlformats.org/drawingml/2006/main">
              <a:ext uri="{FF2B5EF4-FFF2-40B4-BE49-F238E27FC236}">
                <a16:creationId xmlns:a16="http://schemas.microsoft.com/office/drawing/2014/main" id="{90639C35-EF4F-4FAD-937B-60A322695EB6}"/>
              </a:ext>
            </a:extLst>
          </p:cNvPr>
          <p:cNvSpPr>
            <a:spLocks xmlns:a="http://schemas.openxmlformats.org/drawingml/2006/main" noGrp="1"/>
          </p:cNvSpPr>
          <p:nvPr/>
        </p:nvSpPr>
        <p:spPr>
          <a:xfrm xmlns:a="http://schemas.openxmlformats.org/drawingml/2006/main">
            <a:off x="609600" y="234315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7AA7FF"/>
                </a:solidFill>
                <a:latin typeface="Avenir Next"/>
                <a:ea typeface="Avenir Next"/>
                <a:cs typeface="Avenir Next"/>
              </a:defRPr>
            </a:pPr>
            <a:r>
              <a:rPr sz="825" b="1">
                <a:solidFill>
                  <a:srgbClr val="7AA7FF"/>
                </a:solidFill>
                <a:latin typeface="Avenir Next"/>
                <a:ea typeface="Avenir Next"/>
                <a:cs typeface="Avenir Next"/>
              </a:rPr>
              <a:t>DAY 00–30</a:t>
            </a:r>
          </a:p>
        </p:txBody>
      </p:sp>
      <p:sp>
        <p:nvSpPr>
          <p:cNvPr id="36" name="">
            <a:extLst xmlns:a="http://schemas.openxmlformats.org/drawingml/2006/main">
              <a:ext uri="{FF2B5EF4-FFF2-40B4-BE49-F238E27FC236}">
                <a16:creationId xmlns:a16="http://schemas.microsoft.com/office/drawing/2014/main" id="{2E3D45F1-1143-4E53-8489-0BE6BAE9C833}"/>
              </a:ext>
            </a:extLst>
          </p:cNvPr>
          <p:cNvSpPr>
            <a:spLocks xmlns:a="http://schemas.openxmlformats.org/drawingml/2006/main" noGrp="1"/>
          </p:cNvSpPr>
          <p:nvPr/>
        </p:nvSpPr>
        <p:spPr>
          <a:xfrm xmlns:a="http://schemas.openxmlformats.org/drawingml/2006/main">
            <a:off x="609600" y="2724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8F5"/>
                </a:solidFill>
                <a:latin typeface="Avenir Next"/>
                <a:ea typeface="Avenir Next"/>
                <a:cs typeface="Avenir Next"/>
              </a:defRPr>
            </a:pPr>
            <a:r>
              <a:rPr sz="2550" b="1">
                <a:solidFill>
                  <a:srgbClr val="F7F8F5"/>
                </a:solidFill>
                <a:latin typeface="Avenir Next"/>
                <a:ea typeface="Avenir Next"/>
                <a:cs typeface="Avenir Next"/>
              </a:rPr>
              <a:t>FRAME</a:t>
            </a:r>
          </a:p>
        </p:txBody>
      </p:sp>
      <p:sp>
        <p:nvSpPr>
          <p:cNvPr id="37" name="">
            <a:extLst xmlns:a="http://schemas.openxmlformats.org/drawingml/2006/main">
              <a:ext uri="{FF2B5EF4-FFF2-40B4-BE49-F238E27FC236}">
                <a16:creationId xmlns:a16="http://schemas.microsoft.com/office/drawing/2014/main" id="{545F40AF-2CE5-45E4-803D-87C589543040}"/>
              </a:ext>
            </a:extLst>
          </p:cNvPr>
          <p:cNvSpPr>
            <a:spLocks xmlns:a="http://schemas.openxmlformats.org/drawingml/2006/main" noGrp="1"/>
          </p:cNvSpPr>
          <p:nvPr/>
        </p:nvSpPr>
        <p:spPr>
          <a:xfrm xmlns:a="http://schemas.openxmlformats.org/drawingml/2006/main">
            <a:off x="609600" y="3352800"/>
            <a:ext cx="3048000" cy="0"/>
          </a:xfrm>
          <a:prstGeom xmlns:a="http://schemas.openxmlformats.org/drawingml/2006/main" prst="line">
            <a:avLst/>
          </a:prstGeom>
          <a:noFill xmlns:a="http://schemas.openxmlformats.org/drawingml/2006/main"/>
          <a:ln xmlns:a="http://schemas.openxmlformats.org/drawingml/2006/main" w="38100">
            <a:solidFill>
              <a:srgbClr val="7AA7FF"/>
            </a:solidFill>
            <a:prstDash val="solid"/>
          </a:ln>
        </p:spPr>
      </p:sp>
      <p:sp>
        <p:nvSpPr>
          <p:cNvPr id="38" name="">
            <a:extLst xmlns:a="http://schemas.openxmlformats.org/drawingml/2006/main">
              <a:ext uri="{FF2B5EF4-FFF2-40B4-BE49-F238E27FC236}">
                <a16:creationId xmlns:a16="http://schemas.microsoft.com/office/drawing/2014/main" id="{186058DA-6978-4BD3-BD36-C6C9594CE9A4}"/>
              </a:ext>
            </a:extLst>
          </p:cNvPr>
          <p:cNvSpPr>
            <a:spLocks xmlns:a="http://schemas.openxmlformats.org/drawingml/2006/main" noGrp="1"/>
          </p:cNvSpPr>
          <p:nvPr/>
        </p:nvSpPr>
        <p:spPr>
          <a:xfrm xmlns:a="http://schemas.openxmlformats.org/drawingml/2006/main">
            <a:off x="609600" y="3619500"/>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One outcome</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One owner</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One baseline</a:t>
            </a:r>
          </a:p>
        </p:txBody>
      </p:sp>
      <p:sp>
        <p:nvSpPr>
          <p:cNvPr id="39" name="">
            <a:extLst xmlns:a="http://schemas.openxmlformats.org/drawingml/2006/main">
              <a:ext uri="{FF2B5EF4-FFF2-40B4-BE49-F238E27FC236}">
                <a16:creationId xmlns:a16="http://schemas.microsoft.com/office/drawing/2014/main" id="{A0F092F2-F73A-4F3A-9A78-3985A2D60692}"/>
              </a:ext>
            </a:extLst>
          </p:cNvPr>
          <p:cNvSpPr>
            <a:spLocks xmlns:a="http://schemas.openxmlformats.org/drawingml/2006/main" noGrp="1"/>
          </p:cNvSpPr>
          <p:nvPr/>
        </p:nvSpPr>
        <p:spPr>
          <a:xfrm xmlns:a="http://schemas.openxmlformats.org/drawingml/2006/main">
            <a:off x="3714750" y="31623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0">
                <a:solidFill>
                  <a:srgbClr val="9AA8AE"/>
                </a:solidFill>
                <a:latin typeface="Avenir Next"/>
                <a:ea typeface="Avenir Next"/>
                <a:cs typeface="Avenir Next"/>
              </a:defRPr>
            </a:pPr>
            <a:r>
              <a:rPr sz="2100" b="0">
                <a:solidFill>
                  <a:srgbClr val="9AA8AE"/>
                </a:solidFill>
                <a:latin typeface="Avenir Next"/>
                <a:ea typeface="Avenir Next"/>
                <a:cs typeface="Avenir Next"/>
              </a:rPr>
              <a:t>→</a:t>
            </a:r>
          </a:p>
        </p:txBody>
      </p:sp>
      <p:sp>
        <p:nvSpPr>
          <p:cNvPr id="40" name="">
            <a:extLst xmlns:a="http://schemas.openxmlformats.org/drawingml/2006/main">
              <a:ext uri="{FF2B5EF4-FFF2-40B4-BE49-F238E27FC236}">
                <a16:creationId xmlns:a16="http://schemas.microsoft.com/office/drawing/2014/main" id="{DB1A9CBA-19C0-4F12-8F79-0C9C308A4143}"/>
              </a:ext>
            </a:extLst>
          </p:cNvPr>
          <p:cNvSpPr>
            <a:spLocks xmlns:a="http://schemas.openxmlformats.org/drawingml/2006/main" noGrp="1"/>
          </p:cNvSpPr>
          <p:nvPr/>
        </p:nvSpPr>
        <p:spPr>
          <a:xfrm xmlns:a="http://schemas.openxmlformats.org/drawingml/2006/main">
            <a:off x="4324350" y="234315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51DFE3"/>
                </a:solidFill>
                <a:latin typeface="Avenir Next"/>
                <a:ea typeface="Avenir Next"/>
                <a:cs typeface="Avenir Next"/>
              </a:defRPr>
            </a:pPr>
            <a:r>
              <a:rPr sz="825" b="1">
                <a:solidFill>
                  <a:srgbClr val="51DFE3"/>
                </a:solidFill>
                <a:latin typeface="Avenir Next"/>
                <a:ea typeface="Avenir Next"/>
                <a:cs typeface="Avenir Next"/>
              </a:rPr>
              <a:t>DAY 31–60</a:t>
            </a:r>
          </a:p>
        </p:txBody>
      </p:sp>
      <p:sp>
        <p:nvSpPr>
          <p:cNvPr id="41" name="">
            <a:extLst xmlns:a="http://schemas.openxmlformats.org/drawingml/2006/main">
              <a:ext uri="{FF2B5EF4-FFF2-40B4-BE49-F238E27FC236}">
                <a16:creationId xmlns:a16="http://schemas.microsoft.com/office/drawing/2014/main" id="{05238D39-71F8-415A-B300-3AF761CAA7BC}"/>
              </a:ext>
            </a:extLst>
          </p:cNvPr>
          <p:cNvSpPr>
            <a:spLocks xmlns:a="http://schemas.openxmlformats.org/drawingml/2006/main" noGrp="1"/>
          </p:cNvSpPr>
          <p:nvPr/>
        </p:nvSpPr>
        <p:spPr>
          <a:xfrm xmlns:a="http://schemas.openxmlformats.org/drawingml/2006/main">
            <a:off x="4324350" y="2724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8F5"/>
                </a:solidFill>
                <a:latin typeface="Avenir Next"/>
                <a:ea typeface="Avenir Next"/>
                <a:cs typeface="Avenir Next"/>
              </a:defRPr>
            </a:pPr>
            <a:r>
              <a:rPr sz="2550" b="1">
                <a:solidFill>
                  <a:srgbClr val="F7F8F5"/>
                </a:solidFill>
                <a:latin typeface="Avenir Next"/>
                <a:ea typeface="Avenir Next"/>
                <a:cs typeface="Avenir Next"/>
              </a:rPr>
              <a:t>SHADOW</a:t>
            </a:r>
          </a:p>
        </p:txBody>
      </p:sp>
      <p:sp>
        <p:nvSpPr>
          <p:cNvPr id="42" name="">
            <a:extLst xmlns:a="http://schemas.openxmlformats.org/drawingml/2006/main">
              <a:ext uri="{FF2B5EF4-FFF2-40B4-BE49-F238E27FC236}">
                <a16:creationId xmlns:a16="http://schemas.microsoft.com/office/drawing/2014/main" id="{4DA4702F-EED8-4935-81EB-CAD9DBD31081}"/>
              </a:ext>
            </a:extLst>
          </p:cNvPr>
          <p:cNvSpPr>
            <a:spLocks xmlns:a="http://schemas.openxmlformats.org/drawingml/2006/main" noGrp="1"/>
          </p:cNvSpPr>
          <p:nvPr/>
        </p:nvSpPr>
        <p:spPr>
          <a:xfrm xmlns:a="http://schemas.openxmlformats.org/drawingml/2006/main">
            <a:off x="4324350" y="3352800"/>
            <a:ext cx="3048000" cy="0"/>
          </a:xfrm>
          <a:prstGeom xmlns:a="http://schemas.openxmlformats.org/drawingml/2006/main" prst="line">
            <a:avLst/>
          </a:prstGeom>
          <a:noFill xmlns:a="http://schemas.openxmlformats.org/drawingml/2006/main"/>
          <a:ln xmlns:a="http://schemas.openxmlformats.org/drawingml/2006/main" w="38100">
            <a:solidFill>
              <a:srgbClr val="51DFE3"/>
            </a:solidFill>
            <a:prstDash val="solid"/>
          </a:ln>
        </p:spPr>
      </p:sp>
      <p:sp>
        <p:nvSpPr>
          <p:cNvPr id="43" name="">
            <a:extLst xmlns:a="http://schemas.openxmlformats.org/drawingml/2006/main">
              <a:ext uri="{FF2B5EF4-FFF2-40B4-BE49-F238E27FC236}">
                <a16:creationId xmlns:a16="http://schemas.microsoft.com/office/drawing/2014/main" id="{08444FE1-F0FA-4AF8-ABCA-C458F7088338}"/>
              </a:ext>
            </a:extLst>
          </p:cNvPr>
          <p:cNvSpPr>
            <a:spLocks xmlns:a="http://schemas.openxmlformats.org/drawingml/2006/main" noGrp="1"/>
          </p:cNvSpPr>
          <p:nvPr/>
        </p:nvSpPr>
        <p:spPr>
          <a:xfrm xmlns:a="http://schemas.openxmlformats.org/drawingml/2006/main">
            <a:off x="4324350" y="3619500"/>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Connect + replay</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Test gates</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Refine policy</a:t>
            </a:r>
          </a:p>
        </p:txBody>
      </p:sp>
      <p:sp>
        <p:nvSpPr>
          <p:cNvPr id="44" name="">
            <a:extLst xmlns:a="http://schemas.openxmlformats.org/drawingml/2006/main">
              <a:ext uri="{FF2B5EF4-FFF2-40B4-BE49-F238E27FC236}">
                <a16:creationId xmlns:a16="http://schemas.microsoft.com/office/drawing/2014/main" id="{B763FA26-E1BF-49DD-AB89-F733B94ECCA8}"/>
              </a:ext>
            </a:extLst>
          </p:cNvPr>
          <p:cNvSpPr>
            <a:spLocks xmlns:a="http://schemas.openxmlformats.org/drawingml/2006/main" noGrp="1"/>
          </p:cNvSpPr>
          <p:nvPr/>
        </p:nvSpPr>
        <p:spPr>
          <a:xfrm xmlns:a="http://schemas.openxmlformats.org/drawingml/2006/main">
            <a:off x="7429500" y="31623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0">
                <a:solidFill>
                  <a:srgbClr val="9AA8AE"/>
                </a:solidFill>
                <a:latin typeface="Avenir Next"/>
                <a:ea typeface="Avenir Next"/>
                <a:cs typeface="Avenir Next"/>
              </a:defRPr>
            </a:pPr>
            <a:r>
              <a:rPr sz="2100" b="0">
                <a:solidFill>
                  <a:srgbClr val="9AA8AE"/>
                </a:solidFill>
                <a:latin typeface="Avenir Next"/>
                <a:ea typeface="Avenir Next"/>
                <a:cs typeface="Avenir Next"/>
              </a:rPr>
              <a:t>→</a:t>
            </a:r>
          </a:p>
        </p:txBody>
      </p:sp>
      <p:sp>
        <p:nvSpPr>
          <p:cNvPr id="45" name="">
            <a:extLst xmlns:a="http://schemas.openxmlformats.org/drawingml/2006/main">
              <a:ext uri="{FF2B5EF4-FFF2-40B4-BE49-F238E27FC236}">
                <a16:creationId xmlns:a16="http://schemas.microsoft.com/office/drawing/2014/main" id="{932C88E6-0D74-481C-84ED-3BD93EC25B5E}"/>
              </a:ext>
            </a:extLst>
          </p:cNvPr>
          <p:cNvSpPr>
            <a:spLocks xmlns:a="http://schemas.openxmlformats.org/drawingml/2006/main" noGrp="1"/>
          </p:cNvSpPr>
          <p:nvPr/>
        </p:nvSpPr>
        <p:spPr>
          <a:xfrm xmlns:a="http://schemas.openxmlformats.org/drawingml/2006/main">
            <a:off x="8039100" y="2343150"/>
            <a:ext cx="312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DAY 61–90</a:t>
            </a:r>
          </a:p>
        </p:txBody>
      </p:sp>
      <p:sp>
        <p:nvSpPr>
          <p:cNvPr id="46" name="">
            <a:extLst xmlns:a="http://schemas.openxmlformats.org/drawingml/2006/main">
              <a:ext uri="{FF2B5EF4-FFF2-40B4-BE49-F238E27FC236}">
                <a16:creationId xmlns:a16="http://schemas.microsoft.com/office/drawing/2014/main" id="{3A4544E8-0E7C-4F42-827B-D84C38C439EF}"/>
              </a:ext>
            </a:extLst>
          </p:cNvPr>
          <p:cNvSpPr>
            <a:spLocks xmlns:a="http://schemas.openxmlformats.org/drawingml/2006/main" noGrp="1"/>
          </p:cNvSpPr>
          <p:nvPr/>
        </p:nvSpPr>
        <p:spPr>
          <a:xfrm xmlns:a="http://schemas.openxmlformats.org/drawingml/2006/main">
            <a:off x="8039100" y="2724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7F8F5"/>
                </a:solidFill>
                <a:latin typeface="Avenir Next"/>
                <a:ea typeface="Avenir Next"/>
                <a:cs typeface="Avenir Next"/>
              </a:defRPr>
            </a:pPr>
            <a:r>
              <a:rPr sz="2550" b="1">
                <a:solidFill>
                  <a:srgbClr val="F7F8F5"/>
                </a:solidFill>
                <a:latin typeface="Avenir Next"/>
                <a:ea typeface="Avenir Next"/>
                <a:cs typeface="Avenir Next"/>
              </a:rPr>
              <a:t>TRANSACT</a:t>
            </a:r>
          </a:p>
        </p:txBody>
      </p:sp>
      <p:sp>
        <p:nvSpPr>
          <p:cNvPr id="47" name="">
            <a:extLst xmlns:a="http://schemas.openxmlformats.org/drawingml/2006/main">
              <a:ext uri="{FF2B5EF4-FFF2-40B4-BE49-F238E27FC236}">
                <a16:creationId xmlns:a16="http://schemas.microsoft.com/office/drawing/2014/main" id="{4B7B0B96-8C80-4372-9231-A4BB755783D1}"/>
              </a:ext>
            </a:extLst>
          </p:cNvPr>
          <p:cNvSpPr>
            <a:spLocks xmlns:a="http://schemas.openxmlformats.org/drawingml/2006/main" noGrp="1"/>
          </p:cNvSpPr>
          <p:nvPr/>
        </p:nvSpPr>
        <p:spPr>
          <a:xfrm xmlns:a="http://schemas.openxmlformats.org/drawingml/2006/main">
            <a:off x="8039100" y="3352800"/>
            <a:ext cx="3048000" cy="0"/>
          </a:xfrm>
          <a:prstGeom xmlns:a="http://schemas.openxmlformats.org/drawingml/2006/main" prst="line">
            <a:avLst/>
          </a:prstGeom>
          <a:noFill xmlns:a="http://schemas.openxmlformats.org/drawingml/2006/main"/>
          <a:ln xmlns:a="http://schemas.openxmlformats.org/drawingml/2006/main" w="38100">
            <a:solidFill>
              <a:srgbClr val="83F3C9"/>
            </a:solidFill>
            <a:prstDash val="solid"/>
          </a:ln>
        </p:spPr>
      </p:sp>
      <p:sp>
        <p:nvSpPr>
          <p:cNvPr id="48" name="">
            <a:extLst xmlns:a="http://schemas.openxmlformats.org/drawingml/2006/main">
              <a:ext uri="{FF2B5EF4-FFF2-40B4-BE49-F238E27FC236}">
                <a16:creationId xmlns:a16="http://schemas.microsoft.com/office/drawing/2014/main" id="{368A7746-878B-4C08-BF57-AB259200823E}"/>
              </a:ext>
            </a:extLst>
          </p:cNvPr>
          <p:cNvSpPr>
            <a:spLocks xmlns:a="http://schemas.openxmlformats.org/drawingml/2006/main" noGrp="1"/>
          </p:cNvSpPr>
          <p:nvPr/>
        </p:nvSpPr>
        <p:spPr>
          <a:xfrm xmlns:a="http://schemas.openxmlformats.org/drawingml/2006/main">
            <a:off x="8039100" y="3619500"/>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Reversible actions</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Named approvals</a:t>
            </a:r>
          </a:p>
          <a:p xmlns:a="http://schemas.openxmlformats.org/drawingml/2006/main">
            <a:pPr algn="l">
              <a:defRPr sz="1500" b="0">
                <a:solidFill>
                  <a:srgbClr val="C4D0D3"/>
                </a:solidFill>
                <a:latin typeface="Avenir Next"/>
                <a:ea typeface="Avenir Next"/>
                <a:cs typeface="Avenir Next"/>
              </a:defRPr>
            </a:pPr>
            <a:r>
              <a:rPr sz="1500" b="0">
                <a:solidFill>
                  <a:srgbClr val="C4D0D3"/>
                </a:solidFill>
                <a:latin typeface="Avenir Next"/>
                <a:ea typeface="Avenir Next"/>
                <a:cs typeface="Avenir Next"/>
              </a:rPr>
              <a:t>Causal evaluation</a:t>
            </a:r>
          </a:p>
        </p:txBody>
      </p:sp>
      <p:sp>
        <p:nvSpPr>
          <p:cNvPr id="49" name="">
            <a:extLst xmlns:a="http://schemas.openxmlformats.org/drawingml/2006/main">
              <a:ext uri="{FF2B5EF4-FFF2-40B4-BE49-F238E27FC236}">
                <a16:creationId xmlns:a16="http://schemas.microsoft.com/office/drawing/2014/main" id="{DA59A06E-6696-409A-B3BB-D92A4EE309B2}"/>
              </a:ext>
            </a:extLst>
          </p:cNvPr>
          <p:cNvSpPr>
            <a:spLocks xmlns:a="http://schemas.openxmlformats.org/drawingml/2006/main" noGrp="1"/>
          </p:cNvSpPr>
          <p:nvPr/>
        </p:nvSpPr>
        <p:spPr>
          <a:xfrm xmlns:a="http://schemas.openxmlformats.org/drawingml/2006/main">
            <a:off x="609600" y="5181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ONE CAUSAL SCORECARD</a:t>
            </a:r>
          </a:p>
        </p:txBody>
      </p:sp>
      <p:sp>
        <p:nvSpPr>
          <p:cNvPr id="50" name="">
            <a:extLst xmlns:a="http://schemas.openxmlformats.org/drawingml/2006/main">
              <a:ext uri="{FF2B5EF4-FFF2-40B4-BE49-F238E27FC236}">
                <a16:creationId xmlns:a16="http://schemas.microsoft.com/office/drawing/2014/main" id="{73BED83E-5E7C-4218-9704-A922659E08E7}"/>
              </a:ext>
            </a:extLst>
          </p:cNvPr>
          <p:cNvSpPr>
            <a:spLocks xmlns:a="http://schemas.openxmlformats.org/drawingml/2006/main" noGrp="1"/>
          </p:cNvSpPr>
          <p:nvPr/>
        </p:nvSpPr>
        <p:spPr>
          <a:xfrm xmlns:a="http://schemas.openxmlformats.org/drawingml/2006/main">
            <a:off x="2914650" y="5086350"/>
            <a:ext cx="1466850" cy="361950"/>
          </a:xfrm>
          <a:prstGeom xmlns:a="http://schemas.openxmlformats.org/drawingml/2006/main" prst="roundRect">
            <a:avLst>
              <a:gd name="adj" fmla="val 39474"/>
            </a:avLst>
          </a:prstGeom>
          <a:solidFill xmlns:a="http://schemas.openxmlformats.org/drawingml/2006/main">
            <a:srgbClr val="0E222C"/>
          </a:solidFill>
          <a:ln xmlns:a="http://schemas.openxmlformats.org/drawingml/2006/main" w="9525">
            <a:solidFill>
              <a:srgbClr val="28404A"/>
            </a:solidFill>
            <a:prstDash val="solid"/>
          </a:ln>
        </p:spPr>
      </p:sp>
      <p:sp>
        <p:nvSpPr>
          <p:cNvPr id="51" name="">
            <a:extLst xmlns:a="http://schemas.openxmlformats.org/drawingml/2006/main">
              <a:ext uri="{FF2B5EF4-FFF2-40B4-BE49-F238E27FC236}">
                <a16:creationId xmlns:a16="http://schemas.microsoft.com/office/drawing/2014/main" id="{7FACE791-69FE-4588-A5B1-793536BC8B5F}"/>
              </a:ext>
            </a:extLst>
          </p:cNvPr>
          <p:cNvSpPr>
            <a:spLocks xmlns:a="http://schemas.openxmlformats.org/drawingml/2006/main" noGrp="1"/>
          </p:cNvSpPr>
          <p:nvPr/>
        </p:nvSpPr>
        <p:spPr>
          <a:xfrm xmlns:a="http://schemas.openxmlformats.org/drawingml/2006/main">
            <a:off x="2914650" y="5086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7F8F5"/>
                </a:solidFill>
                <a:latin typeface="Avenir Next"/>
                <a:ea typeface="Avenir Next"/>
                <a:cs typeface="Avenir Next"/>
              </a:defRPr>
            </a:pPr>
            <a:r>
              <a:rPr sz="825" b="1">
                <a:solidFill>
                  <a:srgbClr val="F7F8F5"/>
                </a:solidFill>
                <a:latin typeface="Avenir Next"/>
                <a:ea typeface="Avenir Next"/>
                <a:cs typeface="Avenir Next"/>
              </a:rPr>
              <a:t>ACCESS</a:t>
            </a:r>
          </a:p>
        </p:txBody>
      </p:sp>
      <p:sp>
        <p:nvSpPr>
          <p:cNvPr id="52" name="">
            <a:extLst xmlns:a="http://schemas.openxmlformats.org/drawingml/2006/main">
              <a:ext uri="{FF2B5EF4-FFF2-40B4-BE49-F238E27FC236}">
                <a16:creationId xmlns:a16="http://schemas.microsoft.com/office/drawing/2014/main" id="{4AFCA7BE-296F-4832-A77D-E45C41F7745F}"/>
              </a:ext>
            </a:extLst>
          </p:cNvPr>
          <p:cNvSpPr>
            <a:spLocks xmlns:a="http://schemas.openxmlformats.org/drawingml/2006/main" noGrp="1"/>
          </p:cNvSpPr>
          <p:nvPr/>
        </p:nvSpPr>
        <p:spPr>
          <a:xfrm xmlns:a="http://schemas.openxmlformats.org/drawingml/2006/main">
            <a:off x="4600575" y="5086350"/>
            <a:ext cx="1466850" cy="361950"/>
          </a:xfrm>
          <a:prstGeom xmlns:a="http://schemas.openxmlformats.org/drawingml/2006/main" prst="roundRect">
            <a:avLst>
              <a:gd name="adj" fmla="val 39474"/>
            </a:avLst>
          </a:prstGeom>
          <a:solidFill xmlns:a="http://schemas.openxmlformats.org/drawingml/2006/main">
            <a:srgbClr val="0E222C"/>
          </a:solidFill>
          <a:ln xmlns:a="http://schemas.openxmlformats.org/drawingml/2006/main" w="9525">
            <a:solidFill>
              <a:srgbClr val="28404A"/>
            </a:solidFill>
            <a:prstDash val="solid"/>
          </a:ln>
        </p:spPr>
      </p:sp>
      <p:sp>
        <p:nvSpPr>
          <p:cNvPr id="53" name="">
            <a:extLst xmlns:a="http://schemas.openxmlformats.org/drawingml/2006/main">
              <a:ext uri="{FF2B5EF4-FFF2-40B4-BE49-F238E27FC236}">
                <a16:creationId xmlns:a16="http://schemas.microsoft.com/office/drawing/2014/main" id="{DD2AA4C6-C54F-40A7-BBF7-A815C6561726}"/>
              </a:ext>
            </a:extLst>
          </p:cNvPr>
          <p:cNvSpPr>
            <a:spLocks xmlns:a="http://schemas.openxmlformats.org/drawingml/2006/main" noGrp="1"/>
          </p:cNvSpPr>
          <p:nvPr/>
        </p:nvSpPr>
        <p:spPr>
          <a:xfrm xmlns:a="http://schemas.openxmlformats.org/drawingml/2006/main">
            <a:off x="4600575" y="5086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7F8F5"/>
                </a:solidFill>
                <a:latin typeface="Avenir Next"/>
                <a:ea typeface="Avenir Next"/>
                <a:cs typeface="Avenir Next"/>
              </a:defRPr>
            </a:pPr>
            <a:r>
              <a:rPr sz="825" b="1">
                <a:solidFill>
                  <a:srgbClr val="F7F8F5"/>
                </a:solidFill>
                <a:latin typeface="Avenir Next"/>
                <a:ea typeface="Avenir Next"/>
                <a:cs typeface="Avenir Next"/>
              </a:rPr>
              <a:t>FLOW</a:t>
            </a:r>
          </a:p>
        </p:txBody>
      </p:sp>
      <p:sp>
        <p:nvSpPr>
          <p:cNvPr id="54" name="">
            <a:extLst xmlns:a="http://schemas.openxmlformats.org/drawingml/2006/main">
              <a:ext uri="{FF2B5EF4-FFF2-40B4-BE49-F238E27FC236}">
                <a16:creationId xmlns:a16="http://schemas.microsoft.com/office/drawing/2014/main" id="{5E3231D8-16EC-4636-9320-D6878290349B}"/>
              </a:ext>
            </a:extLst>
          </p:cNvPr>
          <p:cNvSpPr>
            <a:spLocks xmlns:a="http://schemas.openxmlformats.org/drawingml/2006/main" noGrp="1"/>
          </p:cNvSpPr>
          <p:nvPr/>
        </p:nvSpPr>
        <p:spPr>
          <a:xfrm xmlns:a="http://schemas.openxmlformats.org/drawingml/2006/main">
            <a:off x="6286500" y="5086350"/>
            <a:ext cx="1466850" cy="361950"/>
          </a:xfrm>
          <a:prstGeom xmlns:a="http://schemas.openxmlformats.org/drawingml/2006/main" prst="roundRect">
            <a:avLst>
              <a:gd name="adj" fmla="val 39474"/>
            </a:avLst>
          </a:prstGeom>
          <a:solidFill xmlns:a="http://schemas.openxmlformats.org/drawingml/2006/main">
            <a:srgbClr val="0E222C"/>
          </a:solidFill>
          <a:ln xmlns:a="http://schemas.openxmlformats.org/drawingml/2006/main" w="9525">
            <a:solidFill>
              <a:srgbClr val="28404A"/>
            </a:solidFill>
            <a:prstDash val="solid"/>
          </a:ln>
        </p:spPr>
      </p:sp>
      <p:sp>
        <p:nvSpPr>
          <p:cNvPr id="55" name="">
            <a:extLst xmlns:a="http://schemas.openxmlformats.org/drawingml/2006/main">
              <a:ext uri="{FF2B5EF4-FFF2-40B4-BE49-F238E27FC236}">
                <a16:creationId xmlns:a16="http://schemas.microsoft.com/office/drawing/2014/main" id="{5A163DD7-41DC-4A05-96AD-BEA6FC21A4D3}"/>
              </a:ext>
            </a:extLst>
          </p:cNvPr>
          <p:cNvSpPr>
            <a:spLocks xmlns:a="http://schemas.openxmlformats.org/drawingml/2006/main" noGrp="1"/>
          </p:cNvSpPr>
          <p:nvPr/>
        </p:nvSpPr>
        <p:spPr>
          <a:xfrm xmlns:a="http://schemas.openxmlformats.org/drawingml/2006/main">
            <a:off x="6286500" y="5086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7F8F5"/>
                </a:solidFill>
                <a:latin typeface="Avenir Next"/>
                <a:ea typeface="Avenir Next"/>
                <a:cs typeface="Avenir Next"/>
              </a:defRPr>
            </a:pPr>
            <a:r>
              <a:rPr sz="825" b="1">
                <a:solidFill>
                  <a:srgbClr val="F7F8F5"/>
                </a:solidFill>
                <a:latin typeface="Avenir Next"/>
                <a:ea typeface="Avenir Next"/>
                <a:cs typeface="Avenir Next"/>
              </a:rPr>
              <a:t>WORKFORCE</a:t>
            </a:r>
          </a:p>
        </p:txBody>
      </p:sp>
      <p:sp>
        <p:nvSpPr>
          <p:cNvPr id="56" name="">
            <a:extLst xmlns:a="http://schemas.openxmlformats.org/drawingml/2006/main">
              <a:ext uri="{FF2B5EF4-FFF2-40B4-BE49-F238E27FC236}">
                <a16:creationId xmlns:a16="http://schemas.microsoft.com/office/drawing/2014/main" id="{8D34C608-AE11-4BAF-A00E-5A4F6A8B8C62}"/>
              </a:ext>
            </a:extLst>
          </p:cNvPr>
          <p:cNvSpPr>
            <a:spLocks xmlns:a="http://schemas.openxmlformats.org/drawingml/2006/main" noGrp="1"/>
          </p:cNvSpPr>
          <p:nvPr/>
        </p:nvSpPr>
        <p:spPr>
          <a:xfrm xmlns:a="http://schemas.openxmlformats.org/drawingml/2006/main">
            <a:off x="7972425" y="5086350"/>
            <a:ext cx="1466850" cy="361950"/>
          </a:xfrm>
          <a:prstGeom xmlns:a="http://schemas.openxmlformats.org/drawingml/2006/main" prst="roundRect">
            <a:avLst>
              <a:gd name="adj" fmla="val 39474"/>
            </a:avLst>
          </a:prstGeom>
          <a:solidFill xmlns:a="http://schemas.openxmlformats.org/drawingml/2006/main">
            <a:srgbClr val="0E222C"/>
          </a:solidFill>
          <a:ln xmlns:a="http://schemas.openxmlformats.org/drawingml/2006/main" w="9525">
            <a:solidFill>
              <a:srgbClr val="28404A"/>
            </a:solidFill>
            <a:prstDash val="solid"/>
          </a:ln>
        </p:spPr>
      </p:sp>
      <p:sp>
        <p:nvSpPr>
          <p:cNvPr id="57" name="">
            <a:extLst xmlns:a="http://schemas.openxmlformats.org/drawingml/2006/main">
              <a:ext uri="{FF2B5EF4-FFF2-40B4-BE49-F238E27FC236}">
                <a16:creationId xmlns:a16="http://schemas.microsoft.com/office/drawing/2014/main" id="{78677B58-66AC-4B21-8988-1C15E861839B}"/>
              </a:ext>
            </a:extLst>
          </p:cNvPr>
          <p:cNvSpPr>
            <a:spLocks xmlns:a="http://schemas.openxmlformats.org/drawingml/2006/main" noGrp="1"/>
          </p:cNvSpPr>
          <p:nvPr/>
        </p:nvSpPr>
        <p:spPr>
          <a:xfrm xmlns:a="http://schemas.openxmlformats.org/drawingml/2006/main">
            <a:off x="7972425" y="5086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7F8F5"/>
                </a:solidFill>
                <a:latin typeface="Avenir Next"/>
                <a:ea typeface="Avenir Next"/>
                <a:cs typeface="Avenir Next"/>
              </a:defRPr>
            </a:pPr>
            <a:r>
              <a:rPr sz="825" b="1">
                <a:solidFill>
                  <a:srgbClr val="F7F8F5"/>
                </a:solidFill>
                <a:latin typeface="Avenir Next"/>
                <a:ea typeface="Avenir Next"/>
                <a:cs typeface="Avenir Next"/>
              </a:rPr>
              <a:t>ECONOMICS</a:t>
            </a:r>
          </a:p>
        </p:txBody>
      </p:sp>
      <p:sp>
        <p:nvSpPr>
          <p:cNvPr id="58" name="">
            <a:extLst xmlns:a="http://schemas.openxmlformats.org/drawingml/2006/main">
              <a:ext uri="{FF2B5EF4-FFF2-40B4-BE49-F238E27FC236}">
                <a16:creationId xmlns:a16="http://schemas.microsoft.com/office/drawing/2014/main" id="{C2212316-96E1-4602-940D-AAE86A394DF6}"/>
              </a:ext>
            </a:extLst>
          </p:cNvPr>
          <p:cNvSpPr>
            <a:spLocks xmlns:a="http://schemas.openxmlformats.org/drawingml/2006/main" noGrp="1"/>
          </p:cNvSpPr>
          <p:nvPr/>
        </p:nvSpPr>
        <p:spPr>
          <a:xfrm xmlns:a="http://schemas.openxmlformats.org/drawingml/2006/main">
            <a:off x="9658350" y="5086350"/>
            <a:ext cx="1466850" cy="361950"/>
          </a:xfrm>
          <a:prstGeom xmlns:a="http://schemas.openxmlformats.org/drawingml/2006/main" prst="roundRect">
            <a:avLst>
              <a:gd name="adj" fmla="val 39474"/>
            </a:avLst>
          </a:prstGeom>
          <a:solidFill xmlns:a="http://schemas.openxmlformats.org/drawingml/2006/main">
            <a:srgbClr val="0E222C"/>
          </a:solidFill>
          <a:ln xmlns:a="http://schemas.openxmlformats.org/drawingml/2006/main" w="9525">
            <a:solidFill>
              <a:srgbClr val="28404A"/>
            </a:solidFill>
            <a:prstDash val="solid"/>
          </a:ln>
        </p:spPr>
      </p:sp>
      <p:sp>
        <p:nvSpPr>
          <p:cNvPr id="59" name="">
            <a:extLst xmlns:a="http://schemas.openxmlformats.org/drawingml/2006/main">
              <a:ext uri="{FF2B5EF4-FFF2-40B4-BE49-F238E27FC236}">
                <a16:creationId xmlns:a16="http://schemas.microsoft.com/office/drawing/2014/main" id="{7AFDEA60-0588-45BD-AFDA-83DF57D73D72}"/>
              </a:ext>
            </a:extLst>
          </p:cNvPr>
          <p:cNvSpPr>
            <a:spLocks xmlns:a="http://schemas.openxmlformats.org/drawingml/2006/main" noGrp="1"/>
          </p:cNvSpPr>
          <p:nvPr/>
        </p:nvSpPr>
        <p:spPr>
          <a:xfrm xmlns:a="http://schemas.openxmlformats.org/drawingml/2006/main">
            <a:off x="9658350" y="50863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F7F8F5"/>
                </a:solidFill>
                <a:latin typeface="Avenir Next"/>
                <a:ea typeface="Avenir Next"/>
                <a:cs typeface="Avenir Next"/>
              </a:defRPr>
            </a:pPr>
            <a:r>
              <a:rPr sz="825" b="1">
                <a:solidFill>
                  <a:srgbClr val="F7F8F5"/>
                </a:solidFill>
                <a:latin typeface="Avenir Next"/>
                <a:ea typeface="Avenir Next"/>
                <a:cs typeface="Avenir Next"/>
              </a:rPr>
              <a:t>TRUST</a:t>
            </a:r>
          </a:p>
        </p:txBody>
      </p:sp>
      <p:sp>
        <p:nvSpPr>
          <p:cNvPr id="60" name="">
            <a:extLst xmlns:a="http://schemas.openxmlformats.org/drawingml/2006/main">
              <a:ext uri="{FF2B5EF4-FFF2-40B4-BE49-F238E27FC236}">
                <a16:creationId xmlns:a16="http://schemas.microsoft.com/office/drawing/2014/main" id="{19D7F04B-B591-44B0-9E64-0DD336671C92}"/>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oundRect">
            <a:avLst>
              <a:gd name="adj" fmla="val 33333"/>
            </a:avLst>
          </a:prstGeom>
          <a:solidFill xmlns:a="http://schemas.openxmlformats.org/drawingml/2006/main">
            <a:srgbClr val="83F3C9"/>
          </a:solidFill>
          <a:ln xmlns:a="http://schemas.openxmlformats.org/drawingml/2006/main" w="0">
            <a:solidFill>
              <a:srgbClr val="83F3C9"/>
            </a:solidFill>
            <a:prstDash val="solid"/>
          </a:ln>
        </p:spPr>
      </p:sp>
      <p:sp>
        <p:nvSpPr>
          <p:cNvPr id="61" name="">
            <a:extLst xmlns:a="http://schemas.openxmlformats.org/drawingml/2006/main">
              <a:ext uri="{FF2B5EF4-FFF2-40B4-BE49-F238E27FC236}">
                <a16:creationId xmlns:a16="http://schemas.microsoft.com/office/drawing/2014/main" id="{C3B77726-F0B6-491A-A6B2-E41DC07D4CBD}"/>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B1720"/>
                </a:solidFill>
                <a:latin typeface="Avenir Next"/>
                <a:ea typeface="Avenir Next"/>
                <a:cs typeface="Avenir Next"/>
              </a:defRPr>
            </a:pPr>
            <a:r>
              <a:rPr sz="975" b="1">
                <a:solidFill>
                  <a:srgbClr val="0B1720"/>
                </a:solidFill>
                <a:latin typeface="Avenir Next"/>
                <a:ea typeface="Avenir Next"/>
                <a:cs typeface="Avenir Next"/>
              </a:rPr>
              <a:t>SCALE ONLY WHEN THE SCORECARD MOVES</a:t>
            </a:r>
          </a:p>
        </p:txBody>
      </p:sp>
      <p:sp>
        <p:nvSpPr>
          <p:cNvPr id="62" name="">
            <a:extLst xmlns:a="http://schemas.openxmlformats.org/drawingml/2006/main">
              <a:ext uri="{FF2B5EF4-FFF2-40B4-BE49-F238E27FC236}">
                <a16:creationId xmlns:a16="http://schemas.microsoft.com/office/drawing/2014/main" id="{17026B72-2091-47DE-A493-6EE1FD1012AB}"/>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15</a:t>
            </a:r>
          </a:p>
        </p:txBody>
      </p:sp>
    </p:spTree>
    <p:extLst>
      <p:ext uri="{BB962C8B-B14F-4D97-AF65-F5344CB8AC3E}">
        <p14:creationId xmlns:p14="http://schemas.microsoft.com/office/powerpoint/2010/main" val="1402583338"/>
      </p:ext>
    </p:extLst>
  </p:cSld>
</p:sld>
</file>

<file path=ppt/slides/slide16.xml><?xml version="1.0" encoding="utf-8"?>
<p:sld xmlns:p="http://schemas.openxmlformats.org/presentationml/2006/main">
  <p:cSld>
    <p:bg>
      <p:bgPr>
        <a:solidFill xmlns:a="http://schemas.openxmlformats.org/drawingml/2006/main">
          <a:srgbClr val="07131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62BC1F-3DBE-4BBA-BE0D-5B8DA423E0CF}"/>
              </a:ext>
            </a:extLst>
          </p:cNvPr>
          <p:cNvSpPr>
            <a:spLocks xmlns:a="http://schemas.openxmlformats.org/drawingml/2006/main" noGrp="1"/>
          </p:cNvSpPr>
          <p:nvPr/>
        </p:nvSpPr>
        <p:spPr>
          <a:xfrm xmlns:a="http://schemas.openxmlformats.org/drawingml/2006/main">
            <a:off x="609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 name="">
            <a:extLst xmlns:a="http://schemas.openxmlformats.org/drawingml/2006/main">
              <a:ext uri="{FF2B5EF4-FFF2-40B4-BE49-F238E27FC236}">
                <a16:creationId xmlns:a16="http://schemas.microsoft.com/office/drawing/2014/main" id="{B555C622-1BFE-4EFE-9383-63D7F4E8C4D2}"/>
              </a:ext>
            </a:extLst>
          </p:cNvPr>
          <p:cNvSpPr>
            <a:spLocks xmlns:a="http://schemas.openxmlformats.org/drawingml/2006/main" noGrp="1"/>
          </p:cNvSpPr>
          <p:nvPr/>
        </p:nvSpPr>
        <p:spPr>
          <a:xfrm xmlns:a="http://schemas.openxmlformats.org/drawingml/2006/main">
            <a:off x="1219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 name="">
            <a:extLst xmlns:a="http://schemas.openxmlformats.org/drawingml/2006/main">
              <a:ext uri="{FF2B5EF4-FFF2-40B4-BE49-F238E27FC236}">
                <a16:creationId xmlns:a16="http://schemas.microsoft.com/office/drawing/2014/main" id="{41DE504B-A6F0-42A5-8B69-CBD6B3462434}"/>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4" name="">
            <a:extLst xmlns:a="http://schemas.openxmlformats.org/drawingml/2006/main">
              <a:ext uri="{FF2B5EF4-FFF2-40B4-BE49-F238E27FC236}">
                <a16:creationId xmlns:a16="http://schemas.microsoft.com/office/drawing/2014/main" id="{0EB81846-6A4E-4D1B-AA57-ACFF505BCF84}"/>
              </a:ext>
            </a:extLst>
          </p:cNvPr>
          <p:cNvSpPr>
            <a:spLocks xmlns:a="http://schemas.openxmlformats.org/drawingml/2006/main" noGrp="1"/>
          </p:cNvSpPr>
          <p:nvPr/>
        </p:nvSpPr>
        <p:spPr>
          <a:xfrm xmlns:a="http://schemas.openxmlformats.org/drawingml/2006/main">
            <a:off x="2438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5" name="">
            <a:extLst xmlns:a="http://schemas.openxmlformats.org/drawingml/2006/main">
              <a:ext uri="{FF2B5EF4-FFF2-40B4-BE49-F238E27FC236}">
                <a16:creationId xmlns:a16="http://schemas.microsoft.com/office/drawing/2014/main" id="{F035B438-1F6E-451F-91E5-E1E65EAD6984}"/>
              </a:ext>
            </a:extLst>
          </p:cNvPr>
          <p:cNvSpPr>
            <a:spLocks xmlns:a="http://schemas.openxmlformats.org/drawingml/2006/main" noGrp="1"/>
          </p:cNvSpPr>
          <p:nvPr/>
        </p:nvSpPr>
        <p:spPr>
          <a:xfrm xmlns:a="http://schemas.openxmlformats.org/drawingml/2006/main">
            <a:off x="3048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6" name="">
            <a:extLst xmlns:a="http://schemas.openxmlformats.org/drawingml/2006/main">
              <a:ext uri="{FF2B5EF4-FFF2-40B4-BE49-F238E27FC236}">
                <a16:creationId xmlns:a16="http://schemas.microsoft.com/office/drawing/2014/main" id="{9AF8C334-E562-4B37-A864-906296DB6FF4}"/>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7" name="">
            <a:extLst xmlns:a="http://schemas.openxmlformats.org/drawingml/2006/main">
              <a:ext uri="{FF2B5EF4-FFF2-40B4-BE49-F238E27FC236}">
                <a16:creationId xmlns:a16="http://schemas.microsoft.com/office/drawing/2014/main" id="{A7E1437A-9261-441A-8886-52468CA41B70}"/>
              </a:ext>
            </a:extLst>
          </p:cNvPr>
          <p:cNvSpPr>
            <a:spLocks xmlns:a="http://schemas.openxmlformats.org/drawingml/2006/main" noGrp="1"/>
          </p:cNvSpPr>
          <p:nvPr/>
        </p:nvSpPr>
        <p:spPr>
          <a:xfrm xmlns:a="http://schemas.openxmlformats.org/drawingml/2006/main">
            <a:off x="4267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8" name="">
            <a:extLst xmlns:a="http://schemas.openxmlformats.org/drawingml/2006/main">
              <a:ext uri="{FF2B5EF4-FFF2-40B4-BE49-F238E27FC236}">
                <a16:creationId xmlns:a16="http://schemas.microsoft.com/office/drawing/2014/main" id="{CA899E85-DF36-4BAF-9CCE-EE9B53F1AE46}"/>
              </a:ext>
            </a:extLst>
          </p:cNvPr>
          <p:cNvSpPr>
            <a:spLocks xmlns:a="http://schemas.openxmlformats.org/drawingml/2006/main" noGrp="1"/>
          </p:cNvSpPr>
          <p:nvPr/>
        </p:nvSpPr>
        <p:spPr>
          <a:xfrm xmlns:a="http://schemas.openxmlformats.org/drawingml/2006/main">
            <a:off x="4876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9" name="">
            <a:extLst xmlns:a="http://schemas.openxmlformats.org/drawingml/2006/main">
              <a:ext uri="{FF2B5EF4-FFF2-40B4-BE49-F238E27FC236}">
                <a16:creationId xmlns:a16="http://schemas.microsoft.com/office/drawing/2014/main" id="{1AC45073-4666-4E89-801E-2898F5B78DB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0" name="">
            <a:extLst xmlns:a="http://schemas.openxmlformats.org/drawingml/2006/main">
              <a:ext uri="{FF2B5EF4-FFF2-40B4-BE49-F238E27FC236}">
                <a16:creationId xmlns:a16="http://schemas.microsoft.com/office/drawing/2014/main" id="{0E5FBD0F-8258-4B44-853D-39603117E2E0}"/>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1" name="">
            <a:extLst xmlns:a="http://schemas.openxmlformats.org/drawingml/2006/main">
              <a:ext uri="{FF2B5EF4-FFF2-40B4-BE49-F238E27FC236}">
                <a16:creationId xmlns:a16="http://schemas.microsoft.com/office/drawing/2014/main" id="{E73B8B3D-A99B-4E2B-9E23-A24FBC56CC82}"/>
              </a:ext>
            </a:extLst>
          </p:cNvPr>
          <p:cNvSpPr>
            <a:spLocks xmlns:a="http://schemas.openxmlformats.org/drawingml/2006/main" noGrp="1"/>
          </p:cNvSpPr>
          <p:nvPr/>
        </p:nvSpPr>
        <p:spPr>
          <a:xfrm xmlns:a="http://schemas.openxmlformats.org/drawingml/2006/main">
            <a:off x="6705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2" name="">
            <a:extLst xmlns:a="http://schemas.openxmlformats.org/drawingml/2006/main">
              <a:ext uri="{FF2B5EF4-FFF2-40B4-BE49-F238E27FC236}">
                <a16:creationId xmlns:a16="http://schemas.microsoft.com/office/drawing/2014/main" id="{3DE7F380-C663-47DE-A5E5-0010FB05A3E4}"/>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3" name="">
            <a:extLst xmlns:a="http://schemas.openxmlformats.org/drawingml/2006/main">
              <a:ext uri="{FF2B5EF4-FFF2-40B4-BE49-F238E27FC236}">
                <a16:creationId xmlns:a16="http://schemas.microsoft.com/office/drawing/2014/main" id="{1DC737A7-6313-406D-BB29-DB7FEA6D5015}"/>
              </a:ext>
            </a:extLst>
          </p:cNvPr>
          <p:cNvSpPr>
            <a:spLocks xmlns:a="http://schemas.openxmlformats.org/drawingml/2006/main" noGrp="1"/>
          </p:cNvSpPr>
          <p:nvPr/>
        </p:nvSpPr>
        <p:spPr>
          <a:xfrm xmlns:a="http://schemas.openxmlformats.org/drawingml/2006/main">
            <a:off x="7924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4" name="">
            <a:extLst xmlns:a="http://schemas.openxmlformats.org/drawingml/2006/main">
              <a:ext uri="{FF2B5EF4-FFF2-40B4-BE49-F238E27FC236}">
                <a16:creationId xmlns:a16="http://schemas.microsoft.com/office/drawing/2014/main" id="{6CB7240D-28F3-4960-8B85-32B00EA56097}"/>
              </a:ext>
            </a:extLst>
          </p:cNvPr>
          <p:cNvSpPr>
            <a:spLocks xmlns:a="http://schemas.openxmlformats.org/drawingml/2006/main" noGrp="1"/>
          </p:cNvSpPr>
          <p:nvPr/>
        </p:nvSpPr>
        <p:spPr>
          <a:xfrm xmlns:a="http://schemas.openxmlformats.org/drawingml/2006/main">
            <a:off x="8534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5" name="">
            <a:extLst xmlns:a="http://schemas.openxmlformats.org/drawingml/2006/main">
              <a:ext uri="{FF2B5EF4-FFF2-40B4-BE49-F238E27FC236}">
                <a16:creationId xmlns:a16="http://schemas.microsoft.com/office/drawing/2014/main" id="{2DF5FA6B-A36D-4109-BBF6-7D85E64C87B0}"/>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6" name="">
            <a:extLst xmlns:a="http://schemas.openxmlformats.org/drawingml/2006/main">
              <a:ext uri="{FF2B5EF4-FFF2-40B4-BE49-F238E27FC236}">
                <a16:creationId xmlns:a16="http://schemas.microsoft.com/office/drawing/2014/main" id="{22C8F2A9-FDC2-4239-BCEE-17CB1F5BC533}"/>
              </a:ext>
            </a:extLst>
          </p:cNvPr>
          <p:cNvSpPr>
            <a:spLocks xmlns:a="http://schemas.openxmlformats.org/drawingml/2006/main" noGrp="1"/>
          </p:cNvSpPr>
          <p:nvPr/>
        </p:nvSpPr>
        <p:spPr>
          <a:xfrm xmlns:a="http://schemas.openxmlformats.org/drawingml/2006/main">
            <a:off x="97536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7" name="">
            <a:extLst xmlns:a="http://schemas.openxmlformats.org/drawingml/2006/main">
              <a:ext uri="{FF2B5EF4-FFF2-40B4-BE49-F238E27FC236}">
                <a16:creationId xmlns:a16="http://schemas.microsoft.com/office/drawing/2014/main" id="{4F573085-C8E6-4C16-8DAD-8EC2EFC50D4D}"/>
              </a:ext>
            </a:extLst>
          </p:cNvPr>
          <p:cNvSpPr>
            <a:spLocks xmlns:a="http://schemas.openxmlformats.org/drawingml/2006/main" noGrp="1"/>
          </p:cNvSpPr>
          <p:nvPr/>
        </p:nvSpPr>
        <p:spPr>
          <a:xfrm xmlns:a="http://schemas.openxmlformats.org/drawingml/2006/main">
            <a:off x="103632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8" name="">
            <a:extLst xmlns:a="http://schemas.openxmlformats.org/drawingml/2006/main">
              <a:ext uri="{FF2B5EF4-FFF2-40B4-BE49-F238E27FC236}">
                <a16:creationId xmlns:a16="http://schemas.microsoft.com/office/drawing/2014/main" id="{E3DFFEAB-DDC6-4431-B205-248BA130EF30}"/>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19" name="">
            <a:extLst xmlns:a="http://schemas.openxmlformats.org/drawingml/2006/main">
              <a:ext uri="{FF2B5EF4-FFF2-40B4-BE49-F238E27FC236}">
                <a16:creationId xmlns:a16="http://schemas.microsoft.com/office/drawing/2014/main" id="{7A88A775-9643-4953-8E73-84C426F1AF92}"/>
              </a:ext>
            </a:extLst>
          </p:cNvPr>
          <p:cNvSpPr>
            <a:spLocks xmlns:a="http://schemas.openxmlformats.org/drawingml/2006/main" noGrp="1"/>
          </p:cNvSpPr>
          <p:nvPr/>
        </p:nvSpPr>
        <p:spPr>
          <a:xfrm xmlns:a="http://schemas.openxmlformats.org/drawingml/2006/main">
            <a:off x="11582400" y="0"/>
            <a:ext cx="0" cy="685800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0" name="">
            <a:extLst xmlns:a="http://schemas.openxmlformats.org/drawingml/2006/main">
              <a:ext uri="{FF2B5EF4-FFF2-40B4-BE49-F238E27FC236}">
                <a16:creationId xmlns:a16="http://schemas.microsoft.com/office/drawing/2014/main" id="{5143AE55-D735-4908-9B3B-62ADE63937F3}"/>
              </a:ext>
            </a:extLst>
          </p:cNvPr>
          <p:cNvSpPr>
            <a:spLocks xmlns:a="http://schemas.openxmlformats.org/drawingml/2006/main" noGrp="1"/>
          </p:cNvSpPr>
          <p:nvPr/>
        </p:nvSpPr>
        <p:spPr>
          <a:xfrm xmlns:a="http://schemas.openxmlformats.org/drawingml/2006/main">
            <a:off x="0" y="609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1" name="">
            <a:extLst xmlns:a="http://schemas.openxmlformats.org/drawingml/2006/main">
              <a:ext uri="{FF2B5EF4-FFF2-40B4-BE49-F238E27FC236}">
                <a16:creationId xmlns:a16="http://schemas.microsoft.com/office/drawing/2014/main" id="{99D1568B-D7F3-4DB9-9A53-07DEF1142893}"/>
              </a:ext>
            </a:extLst>
          </p:cNvPr>
          <p:cNvSpPr>
            <a:spLocks xmlns:a="http://schemas.openxmlformats.org/drawingml/2006/main" noGrp="1"/>
          </p:cNvSpPr>
          <p:nvPr/>
        </p:nvSpPr>
        <p:spPr>
          <a:xfrm xmlns:a="http://schemas.openxmlformats.org/drawingml/2006/main">
            <a:off x="0" y="1219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2" name="">
            <a:extLst xmlns:a="http://schemas.openxmlformats.org/drawingml/2006/main">
              <a:ext uri="{FF2B5EF4-FFF2-40B4-BE49-F238E27FC236}">
                <a16:creationId xmlns:a16="http://schemas.microsoft.com/office/drawing/2014/main" id="{6CE68E6A-844E-4A40-AE4C-780382B2E785}"/>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3" name="">
            <a:extLst xmlns:a="http://schemas.openxmlformats.org/drawingml/2006/main">
              <a:ext uri="{FF2B5EF4-FFF2-40B4-BE49-F238E27FC236}">
                <a16:creationId xmlns:a16="http://schemas.microsoft.com/office/drawing/2014/main" id="{3E2DD40F-B49B-4975-887C-C51E35A94467}"/>
              </a:ext>
            </a:extLst>
          </p:cNvPr>
          <p:cNvSpPr>
            <a:spLocks xmlns:a="http://schemas.openxmlformats.org/drawingml/2006/main" noGrp="1"/>
          </p:cNvSpPr>
          <p:nvPr/>
        </p:nvSpPr>
        <p:spPr>
          <a:xfrm xmlns:a="http://schemas.openxmlformats.org/drawingml/2006/main">
            <a:off x="0" y="2438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4" name="">
            <a:extLst xmlns:a="http://schemas.openxmlformats.org/drawingml/2006/main">
              <a:ext uri="{FF2B5EF4-FFF2-40B4-BE49-F238E27FC236}">
                <a16:creationId xmlns:a16="http://schemas.microsoft.com/office/drawing/2014/main" id="{A83DF063-20A6-4CBA-9F11-DE7619BD61A5}"/>
              </a:ext>
            </a:extLst>
          </p:cNvPr>
          <p:cNvSpPr>
            <a:spLocks xmlns:a="http://schemas.openxmlformats.org/drawingml/2006/main" noGrp="1"/>
          </p:cNvSpPr>
          <p:nvPr/>
        </p:nvSpPr>
        <p:spPr>
          <a:xfrm xmlns:a="http://schemas.openxmlformats.org/drawingml/2006/main">
            <a:off x="0" y="3048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5" name="">
            <a:extLst xmlns:a="http://schemas.openxmlformats.org/drawingml/2006/main">
              <a:ext uri="{FF2B5EF4-FFF2-40B4-BE49-F238E27FC236}">
                <a16:creationId xmlns:a16="http://schemas.microsoft.com/office/drawing/2014/main" id="{AB596187-A198-46FA-8422-011E91110497}"/>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6" name="">
            <a:extLst xmlns:a="http://schemas.openxmlformats.org/drawingml/2006/main">
              <a:ext uri="{FF2B5EF4-FFF2-40B4-BE49-F238E27FC236}">
                <a16:creationId xmlns:a16="http://schemas.microsoft.com/office/drawing/2014/main" id="{BA091B1D-98D7-49DC-91D9-9EC6644CE678}"/>
              </a:ext>
            </a:extLst>
          </p:cNvPr>
          <p:cNvSpPr>
            <a:spLocks xmlns:a="http://schemas.openxmlformats.org/drawingml/2006/main" noGrp="1"/>
          </p:cNvSpPr>
          <p:nvPr/>
        </p:nvSpPr>
        <p:spPr>
          <a:xfrm xmlns:a="http://schemas.openxmlformats.org/drawingml/2006/main">
            <a:off x="0" y="42672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7" name="">
            <a:extLst xmlns:a="http://schemas.openxmlformats.org/drawingml/2006/main">
              <a:ext uri="{FF2B5EF4-FFF2-40B4-BE49-F238E27FC236}">
                <a16:creationId xmlns:a16="http://schemas.microsoft.com/office/drawing/2014/main" id="{D45C66B5-91F0-4DF6-BE07-464F5C891D6B}"/>
              </a:ext>
            </a:extLst>
          </p:cNvPr>
          <p:cNvSpPr>
            <a:spLocks xmlns:a="http://schemas.openxmlformats.org/drawingml/2006/main" noGrp="1"/>
          </p:cNvSpPr>
          <p:nvPr/>
        </p:nvSpPr>
        <p:spPr>
          <a:xfrm xmlns:a="http://schemas.openxmlformats.org/drawingml/2006/main">
            <a:off x="0" y="48768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8" name="">
            <a:extLst xmlns:a="http://schemas.openxmlformats.org/drawingml/2006/main">
              <a:ext uri="{FF2B5EF4-FFF2-40B4-BE49-F238E27FC236}">
                <a16:creationId xmlns:a16="http://schemas.microsoft.com/office/drawing/2014/main" id="{2DCAC217-869B-45F1-BFD4-9788F1D4D20E}"/>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29" name="">
            <a:extLst xmlns:a="http://schemas.openxmlformats.org/drawingml/2006/main">
              <a:ext uri="{FF2B5EF4-FFF2-40B4-BE49-F238E27FC236}">
                <a16:creationId xmlns:a16="http://schemas.microsoft.com/office/drawing/2014/main" id="{A8530CA9-1398-42D1-9893-DBADB8E9E27C}"/>
              </a:ext>
            </a:extLst>
          </p:cNvPr>
          <p:cNvSpPr>
            <a:spLocks xmlns:a="http://schemas.openxmlformats.org/drawingml/2006/main" noGrp="1"/>
          </p:cNvSpPr>
          <p:nvPr/>
        </p:nvSpPr>
        <p:spPr>
          <a:xfrm xmlns:a="http://schemas.openxmlformats.org/drawingml/2006/main">
            <a:off x="0" y="60960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0" name="">
            <a:extLst xmlns:a="http://schemas.openxmlformats.org/drawingml/2006/main">
              <a:ext uri="{FF2B5EF4-FFF2-40B4-BE49-F238E27FC236}">
                <a16:creationId xmlns:a16="http://schemas.microsoft.com/office/drawing/2014/main" id="{CA18BCFB-36CC-463B-B433-A5B176289F0B}"/>
              </a:ext>
            </a:extLst>
          </p:cNvPr>
          <p:cNvSpPr>
            <a:spLocks xmlns:a="http://schemas.openxmlformats.org/drawingml/2006/main" noGrp="1"/>
          </p:cNvSpPr>
          <p:nvPr/>
        </p:nvSpPr>
        <p:spPr>
          <a:xfrm xmlns:a="http://schemas.openxmlformats.org/drawingml/2006/main">
            <a:off x="0" y="6705600"/>
            <a:ext cx="12192000" cy="0"/>
          </a:xfrm>
          <a:prstGeom xmlns:a="http://schemas.openxmlformats.org/drawingml/2006/main" prst="line">
            <a:avLst/>
          </a:prstGeom>
          <a:noFill xmlns:a="http://schemas.openxmlformats.org/drawingml/2006/main"/>
          <a:ln xmlns:a="http://schemas.openxmlformats.org/drawingml/2006/main" w="9525">
            <a:solidFill>
              <a:srgbClr val="102630"/>
            </a:solidFill>
            <a:prstDash val="solid"/>
          </a:ln>
        </p:spPr>
      </p:sp>
      <p:sp>
        <p:nvSpPr>
          <p:cNvPr id="31" name="">
            <a:extLst xmlns:a="http://schemas.openxmlformats.org/drawingml/2006/main">
              <a:ext uri="{FF2B5EF4-FFF2-40B4-BE49-F238E27FC236}">
                <a16:creationId xmlns:a16="http://schemas.microsoft.com/office/drawing/2014/main" id="{6148E710-737B-4200-9111-433E77DEE62A}"/>
              </a:ext>
            </a:extLst>
          </p:cNvPr>
          <p:cNvSpPr>
            <a:spLocks xmlns:a="http://schemas.openxmlformats.org/drawingml/2006/main" noGrp="1"/>
          </p:cNvSpPr>
          <p:nvPr/>
        </p:nvSpPr>
        <p:spPr>
          <a:xfrm xmlns:a="http://schemas.openxmlformats.org/drawingml/2006/main">
            <a:off x="609600" y="438150"/>
            <a:ext cx="76200" cy="76200"/>
          </a:xfrm>
          <a:prstGeom xmlns:a="http://schemas.openxmlformats.org/drawingml/2006/main" prst="ellipse">
            <a:avLst/>
          </a:prstGeom>
          <a:solidFill xmlns:a="http://schemas.openxmlformats.org/drawingml/2006/main">
            <a:srgbClr val="83F3C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BB070EA-4C9B-4FC5-B6EE-E4BBC9283540}"/>
              </a:ext>
            </a:extLst>
          </p:cNvPr>
          <p:cNvSpPr>
            <a:spLocks xmlns:a="http://schemas.openxmlformats.org/drawingml/2006/main" noGrp="1"/>
          </p:cNvSpPr>
          <p:nvPr/>
        </p:nvSpPr>
        <p:spPr>
          <a:xfrm xmlns:a="http://schemas.openxmlformats.org/drawingml/2006/main">
            <a:off x="800100" y="361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83F3C9"/>
                </a:solidFill>
                <a:latin typeface="Avenir Next"/>
                <a:ea typeface="Avenir Next"/>
                <a:cs typeface="Avenir Next"/>
              </a:defRPr>
            </a:pPr>
            <a:r>
              <a:rPr sz="900" b="1">
                <a:solidFill>
                  <a:srgbClr val="83F3C9"/>
                </a:solidFill>
                <a:latin typeface="Avenir Next"/>
                <a:ea typeface="Avenir Next"/>
                <a:cs typeface="Avenir Next"/>
              </a:rPr>
              <a:t>AI TRANSFORMING HOSPITAL OPERATIONS · SRS 2026</a:t>
            </a:r>
          </a:p>
        </p:txBody>
      </p:sp>
      <p:sp>
        <p:nvSpPr>
          <p:cNvPr id="33" name="">
            <a:extLst xmlns:a="http://schemas.openxmlformats.org/drawingml/2006/main">
              <a:ext uri="{FF2B5EF4-FFF2-40B4-BE49-F238E27FC236}">
                <a16:creationId xmlns:a16="http://schemas.microsoft.com/office/drawing/2014/main" id="{1B9646F2-2B61-4828-AAAA-ED8286FF5312}"/>
              </a:ext>
            </a:extLst>
          </p:cNvPr>
          <p:cNvSpPr>
            <a:spLocks xmlns:a="http://schemas.openxmlformats.org/drawingml/2006/main" noGrp="1"/>
          </p:cNvSpPr>
          <p:nvPr/>
        </p:nvSpPr>
        <p:spPr>
          <a:xfrm xmlns:a="http://schemas.openxmlformats.org/drawingml/2006/main">
            <a:off x="609600" y="125730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125" b="1">
                <a:solidFill>
                  <a:srgbClr val="F7F8F5"/>
                </a:solidFill>
                <a:latin typeface="Avenir Next"/>
                <a:ea typeface="Avenir Next"/>
                <a:cs typeface="Avenir Next"/>
              </a:defRPr>
            </a:pPr>
            <a:r>
              <a:rPr sz="4125" b="1">
                <a:solidFill>
                  <a:srgbClr val="F7F8F5"/>
                </a:solidFill>
                <a:latin typeface="Avenir Next"/>
                <a:ea typeface="Avenir Next"/>
                <a:cs typeface="Avenir Next"/>
              </a:rPr>
              <a:t>The future hospital is</a:t>
            </a:r>
          </a:p>
          <a:p xmlns:a="http://schemas.openxmlformats.org/drawingml/2006/main">
            <a:pPr algn="l">
              <a:defRPr sz="4125" b="1">
                <a:solidFill>
                  <a:srgbClr val="F7F8F5"/>
                </a:solidFill>
                <a:latin typeface="Avenir Next"/>
                <a:ea typeface="Avenir Next"/>
                <a:cs typeface="Avenir Next"/>
              </a:defRPr>
            </a:pPr>
            <a:r>
              <a:rPr sz="4125" b="1">
                <a:solidFill>
                  <a:srgbClr val="F7F8F5"/>
                </a:solidFill>
                <a:latin typeface="Avenir Next"/>
                <a:ea typeface="Avenir Next"/>
                <a:cs typeface="Avenir Next"/>
              </a:rPr>
              <a:t>coordinated—not autonomous.</a:t>
            </a:r>
          </a:p>
        </p:txBody>
      </p:sp>
      <p:sp>
        <p:nvSpPr>
          <p:cNvPr id="34" name="">
            <a:extLst xmlns:a="http://schemas.openxmlformats.org/drawingml/2006/main">
              <a:ext uri="{FF2B5EF4-FFF2-40B4-BE49-F238E27FC236}">
                <a16:creationId xmlns:a16="http://schemas.microsoft.com/office/drawing/2014/main" id="{4E8D7D82-36FC-43AA-9385-A3B0577EC7CA}"/>
              </a:ext>
            </a:extLst>
          </p:cNvPr>
          <p:cNvSpPr>
            <a:spLocks xmlns:a="http://schemas.openxmlformats.org/drawingml/2006/main" noGrp="1"/>
          </p:cNvSpPr>
          <p:nvPr/>
        </p:nvSpPr>
        <p:spPr>
          <a:xfrm xmlns:a="http://schemas.openxmlformats.org/drawingml/2006/main">
            <a:off x="628650" y="321945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9AA8AE"/>
                </a:solidFill>
                <a:latin typeface="Avenir Next"/>
                <a:ea typeface="Avenir Next"/>
                <a:cs typeface="Avenir Next"/>
              </a:defRPr>
            </a:pPr>
            <a:r>
              <a:rPr sz="1725" b="0">
                <a:solidFill>
                  <a:srgbClr val="9AA8AE"/>
                </a:solidFill>
                <a:latin typeface="Avenir Next"/>
                <a:ea typeface="Avenir Next"/>
                <a:cs typeface="Avenir Next"/>
              </a:rPr>
              <a:t>The winners will turn signals into safe action faster—</a:t>
            </a:r>
          </a:p>
          <a:p xmlns:a="http://schemas.openxmlformats.org/drawingml/2006/main">
            <a:pPr algn="l">
              <a:defRPr sz="1725" b="0">
                <a:solidFill>
                  <a:srgbClr val="9AA8AE"/>
                </a:solidFill>
                <a:latin typeface="Avenir Next"/>
                <a:ea typeface="Avenir Next"/>
                <a:cs typeface="Avenir Next"/>
              </a:defRPr>
            </a:pPr>
            <a:r>
              <a:rPr sz="1725" b="0">
                <a:solidFill>
                  <a:srgbClr val="9AA8AE"/>
                </a:solidFill>
                <a:latin typeface="Avenir Next"/>
                <a:ea typeface="Avenir Next"/>
                <a:cs typeface="Avenir Next"/>
              </a:rPr>
              <a:t>not simply accumulate more AI.</a:t>
            </a:r>
          </a:p>
        </p:txBody>
      </p:sp>
      <p:sp>
        <p:nvSpPr>
          <p:cNvPr id="35" name="">
            <a:extLst xmlns:a="http://schemas.openxmlformats.org/drawingml/2006/main">
              <a:ext uri="{FF2B5EF4-FFF2-40B4-BE49-F238E27FC236}">
                <a16:creationId xmlns:a16="http://schemas.microsoft.com/office/drawing/2014/main" id="{8CE56B04-0234-4A68-8A40-AB13FA0C8DC4}"/>
              </a:ext>
            </a:extLst>
          </p:cNvPr>
          <p:cNvSpPr>
            <a:spLocks xmlns:a="http://schemas.openxmlformats.org/drawingml/2006/main" noGrp="1"/>
          </p:cNvSpPr>
          <p:nvPr/>
        </p:nvSpPr>
        <p:spPr>
          <a:xfrm xmlns:a="http://schemas.openxmlformats.org/drawingml/2006/main">
            <a:off x="609600" y="4514850"/>
            <a:ext cx="10972800" cy="0"/>
          </a:xfrm>
          <a:prstGeom xmlns:a="http://schemas.openxmlformats.org/drawingml/2006/main" prst="line">
            <a:avLst/>
          </a:prstGeom>
          <a:noFill xmlns:a="http://schemas.openxmlformats.org/drawingml/2006/main"/>
          <a:ln xmlns:a="http://schemas.openxmlformats.org/drawingml/2006/main" w="9525">
            <a:solidFill>
              <a:srgbClr val="28404A"/>
            </a:solidFill>
            <a:prstDash val="solid"/>
          </a:ln>
        </p:spPr>
      </p:sp>
      <p:sp>
        <p:nvSpPr>
          <p:cNvPr id="36" name="">
            <a:extLst xmlns:a="http://schemas.openxmlformats.org/drawingml/2006/main">
              <a:ext uri="{FF2B5EF4-FFF2-40B4-BE49-F238E27FC236}">
                <a16:creationId xmlns:a16="http://schemas.microsoft.com/office/drawing/2014/main" id="{9EC2B32A-D53A-42C9-A171-B3C125E12F6F}"/>
              </a:ext>
            </a:extLst>
          </p:cNvPr>
          <p:cNvSpPr>
            <a:spLocks xmlns:a="http://schemas.openxmlformats.org/drawingml/2006/main" noGrp="1"/>
          </p:cNvSpPr>
          <p:nvPr/>
        </p:nvSpPr>
        <p:spPr>
          <a:xfrm xmlns:a="http://schemas.openxmlformats.org/drawingml/2006/main">
            <a:off x="609600" y="4953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01</a:t>
            </a:r>
          </a:p>
        </p:txBody>
      </p:sp>
      <p:sp>
        <p:nvSpPr>
          <p:cNvPr id="37" name="">
            <a:extLst xmlns:a="http://schemas.openxmlformats.org/drawingml/2006/main">
              <a:ext uri="{FF2B5EF4-FFF2-40B4-BE49-F238E27FC236}">
                <a16:creationId xmlns:a16="http://schemas.microsoft.com/office/drawing/2014/main" id="{D4137AD4-6DB9-42A2-A6DB-139398FD9A1D}"/>
              </a:ext>
            </a:extLst>
          </p:cNvPr>
          <p:cNvSpPr>
            <a:spLocks xmlns:a="http://schemas.openxmlformats.org/drawingml/2006/main" noGrp="1"/>
          </p:cNvSpPr>
          <p:nvPr/>
        </p:nvSpPr>
        <p:spPr>
          <a:xfrm xmlns:a="http://schemas.openxmlformats.org/drawingml/2006/main">
            <a:off x="609600" y="52959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7F8F5"/>
                </a:solidFill>
                <a:latin typeface="Avenir Next"/>
                <a:ea typeface="Avenir Next"/>
                <a:cs typeface="Avenir Next"/>
              </a:defRPr>
            </a:pPr>
            <a:r>
              <a:rPr sz="1950" b="1">
                <a:solidFill>
                  <a:srgbClr val="F7F8F5"/>
                </a:solidFill>
                <a:latin typeface="Avenir Next"/>
                <a:ea typeface="Avenir Next"/>
                <a:cs typeface="Avenir Next"/>
              </a:rPr>
              <a:t>ONE FLOW</a:t>
            </a:r>
          </a:p>
        </p:txBody>
      </p:sp>
      <p:sp>
        <p:nvSpPr>
          <p:cNvPr id="38" name="">
            <a:extLst xmlns:a="http://schemas.openxmlformats.org/drawingml/2006/main">
              <a:ext uri="{FF2B5EF4-FFF2-40B4-BE49-F238E27FC236}">
                <a16:creationId xmlns:a16="http://schemas.microsoft.com/office/drawing/2014/main" id="{8CA1AE64-067D-4EFA-9D9E-AC26921ACB30}"/>
              </a:ext>
            </a:extLst>
          </p:cNvPr>
          <p:cNvSpPr>
            <a:spLocks xmlns:a="http://schemas.openxmlformats.org/drawingml/2006/main" noGrp="1"/>
          </p:cNvSpPr>
          <p:nvPr/>
        </p:nvSpPr>
        <p:spPr>
          <a:xfrm xmlns:a="http://schemas.openxmlformats.org/drawingml/2006/main">
            <a:off x="3676650" y="52959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9AA8AE"/>
                </a:solidFill>
                <a:latin typeface="Avenir Next"/>
                <a:ea typeface="Avenir Next"/>
                <a:cs typeface="Avenir Next"/>
              </a:defRPr>
            </a:pPr>
            <a:r>
              <a:rPr sz="1800" b="0">
                <a:solidFill>
                  <a:srgbClr val="9AA8AE"/>
                </a:solidFill>
                <a:latin typeface="Avenir Next"/>
                <a:ea typeface="Avenir Next"/>
                <a:cs typeface="Avenir Next"/>
              </a:rPr>
              <a:t>→</a:t>
            </a:r>
          </a:p>
        </p:txBody>
      </p:sp>
      <p:sp>
        <p:nvSpPr>
          <p:cNvPr id="39" name="">
            <a:extLst xmlns:a="http://schemas.openxmlformats.org/drawingml/2006/main">
              <a:ext uri="{FF2B5EF4-FFF2-40B4-BE49-F238E27FC236}">
                <a16:creationId xmlns:a16="http://schemas.microsoft.com/office/drawing/2014/main" id="{7E98FE53-B1D9-4FFC-B7E8-8007A260F785}"/>
              </a:ext>
            </a:extLst>
          </p:cNvPr>
          <p:cNvSpPr>
            <a:spLocks xmlns:a="http://schemas.openxmlformats.org/drawingml/2006/main" noGrp="1"/>
          </p:cNvSpPr>
          <p:nvPr/>
        </p:nvSpPr>
        <p:spPr>
          <a:xfrm xmlns:a="http://schemas.openxmlformats.org/drawingml/2006/main">
            <a:off x="4324350" y="4953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02</a:t>
            </a:r>
          </a:p>
        </p:txBody>
      </p:sp>
      <p:sp>
        <p:nvSpPr>
          <p:cNvPr id="40" name="">
            <a:extLst xmlns:a="http://schemas.openxmlformats.org/drawingml/2006/main">
              <a:ext uri="{FF2B5EF4-FFF2-40B4-BE49-F238E27FC236}">
                <a16:creationId xmlns:a16="http://schemas.microsoft.com/office/drawing/2014/main" id="{D25BA34D-6CB2-491D-A649-20F3AAFBAA52}"/>
              </a:ext>
            </a:extLst>
          </p:cNvPr>
          <p:cNvSpPr>
            <a:spLocks xmlns:a="http://schemas.openxmlformats.org/drawingml/2006/main" noGrp="1"/>
          </p:cNvSpPr>
          <p:nvPr/>
        </p:nvSpPr>
        <p:spPr>
          <a:xfrm xmlns:a="http://schemas.openxmlformats.org/drawingml/2006/main">
            <a:off x="4324350" y="52959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7F8F5"/>
                </a:solidFill>
                <a:latin typeface="Avenir Next"/>
                <a:ea typeface="Avenir Next"/>
                <a:cs typeface="Avenir Next"/>
              </a:defRPr>
            </a:pPr>
            <a:r>
              <a:rPr sz="1950" b="1">
                <a:solidFill>
                  <a:srgbClr val="F7F8F5"/>
                </a:solidFill>
                <a:latin typeface="Avenir Next"/>
                <a:ea typeface="Avenir Next"/>
                <a:cs typeface="Avenir Next"/>
              </a:rPr>
              <a:t>ONE OWNER</a:t>
            </a:r>
          </a:p>
        </p:txBody>
      </p:sp>
      <p:sp>
        <p:nvSpPr>
          <p:cNvPr id="41" name="">
            <a:extLst xmlns:a="http://schemas.openxmlformats.org/drawingml/2006/main">
              <a:ext uri="{FF2B5EF4-FFF2-40B4-BE49-F238E27FC236}">
                <a16:creationId xmlns:a16="http://schemas.microsoft.com/office/drawing/2014/main" id="{A54B8D1B-4F97-40BE-85C6-8B17A879CADE}"/>
              </a:ext>
            </a:extLst>
          </p:cNvPr>
          <p:cNvSpPr>
            <a:spLocks xmlns:a="http://schemas.openxmlformats.org/drawingml/2006/main" noGrp="1"/>
          </p:cNvSpPr>
          <p:nvPr/>
        </p:nvSpPr>
        <p:spPr>
          <a:xfrm xmlns:a="http://schemas.openxmlformats.org/drawingml/2006/main">
            <a:off x="7391400" y="52959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9AA8AE"/>
                </a:solidFill>
                <a:latin typeface="Avenir Next"/>
                <a:ea typeface="Avenir Next"/>
                <a:cs typeface="Avenir Next"/>
              </a:defRPr>
            </a:pPr>
            <a:r>
              <a:rPr sz="1800" b="0">
                <a:solidFill>
                  <a:srgbClr val="9AA8AE"/>
                </a:solidFill>
                <a:latin typeface="Avenir Next"/>
                <a:ea typeface="Avenir Next"/>
                <a:cs typeface="Avenir Next"/>
              </a:rPr>
              <a:t>→</a:t>
            </a:r>
          </a:p>
        </p:txBody>
      </p:sp>
      <p:sp>
        <p:nvSpPr>
          <p:cNvPr id="42" name="">
            <a:extLst xmlns:a="http://schemas.openxmlformats.org/drawingml/2006/main">
              <a:ext uri="{FF2B5EF4-FFF2-40B4-BE49-F238E27FC236}">
                <a16:creationId xmlns:a16="http://schemas.microsoft.com/office/drawing/2014/main" id="{A47A062A-B4F1-4C6D-8A8F-854F296260CD}"/>
              </a:ext>
            </a:extLst>
          </p:cNvPr>
          <p:cNvSpPr>
            <a:spLocks xmlns:a="http://schemas.openxmlformats.org/drawingml/2006/main" noGrp="1"/>
          </p:cNvSpPr>
          <p:nvPr/>
        </p:nvSpPr>
        <p:spPr>
          <a:xfrm xmlns:a="http://schemas.openxmlformats.org/drawingml/2006/main">
            <a:off x="8039100" y="4953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3F3C9"/>
                </a:solidFill>
                <a:latin typeface="Avenir Next"/>
                <a:ea typeface="Avenir Next"/>
                <a:cs typeface="Avenir Next"/>
              </a:defRPr>
            </a:pPr>
            <a:r>
              <a:rPr sz="825" b="1">
                <a:solidFill>
                  <a:srgbClr val="83F3C9"/>
                </a:solidFill>
                <a:latin typeface="Avenir Next"/>
                <a:ea typeface="Avenir Next"/>
                <a:cs typeface="Avenir Next"/>
              </a:rPr>
              <a:t>03</a:t>
            </a:r>
          </a:p>
        </p:txBody>
      </p:sp>
      <p:sp>
        <p:nvSpPr>
          <p:cNvPr id="43" name="">
            <a:extLst xmlns:a="http://schemas.openxmlformats.org/drawingml/2006/main">
              <a:ext uri="{FF2B5EF4-FFF2-40B4-BE49-F238E27FC236}">
                <a16:creationId xmlns:a16="http://schemas.microsoft.com/office/drawing/2014/main" id="{F900FD59-F8B2-4F61-A5E5-335FDCA64799}"/>
              </a:ext>
            </a:extLst>
          </p:cNvPr>
          <p:cNvSpPr>
            <a:spLocks xmlns:a="http://schemas.openxmlformats.org/drawingml/2006/main" noGrp="1"/>
          </p:cNvSpPr>
          <p:nvPr/>
        </p:nvSpPr>
        <p:spPr>
          <a:xfrm xmlns:a="http://schemas.openxmlformats.org/drawingml/2006/main">
            <a:off x="8039100" y="52959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7F8F5"/>
                </a:solidFill>
                <a:latin typeface="Avenir Next"/>
                <a:ea typeface="Avenir Next"/>
                <a:cs typeface="Avenir Next"/>
              </a:defRPr>
            </a:pPr>
            <a:r>
              <a:rPr sz="1950" b="1">
                <a:solidFill>
                  <a:srgbClr val="F7F8F5"/>
                </a:solidFill>
                <a:latin typeface="Avenir Next"/>
                <a:ea typeface="Avenir Next"/>
                <a:cs typeface="Avenir Next"/>
              </a:rPr>
              <a:t>ONE SCORECARD</a:t>
            </a:r>
          </a:p>
        </p:txBody>
      </p:sp>
      <p:sp>
        <p:nvSpPr>
          <p:cNvPr id="44" name="">
            <a:extLst xmlns:a="http://schemas.openxmlformats.org/drawingml/2006/main">
              <a:ext uri="{FF2B5EF4-FFF2-40B4-BE49-F238E27FC236}">
                <a16:creationId xmlns:a16="http://schemas.microsoft.com/office/drawing/2014/main" id="{AC5831EB-0316-427A-99FD-FAE2FE7F0346}"/>
              </a:ext>
            </a:extLst>
          </p:cNvPr>
          <p:cNvSpPr>
            <a:spLocks xmlns:a="http://schemas.openxmlformats.org/drawingml/2006/main" noGrp="1"/>
          </p:cNvSpPr>
          <p:nvPr/>
        </p:nvSpPr>
        <p:spPr>
          <a:xfrm xmlns:a="http://schemas.openxmlformats.org/drawingml/2006/main">
            <a:off x="9715500" y="3162300"/>
            <a:ext cx="1866900" cy="647700"/>
          </a:xfrm>
          <a:prstGeom xmlns:a="http://schemas.openxmlformats.org/drawingml/2006/main" prst="roundRect">
            <a:avLst>
              <a:gd name="adj" fmla="val 50000"/>
            </a:avLst>
          </a:prstGeom>
          <a:solidFill xmlns:a="http://schemas.openxmlformats.org/drawingml/2006/main">
            <a:srgbClr val="83F3C9"/>
          </a:solidFill>
          <a:ln xmlns:a="http://schemas.openxmlformats.org/drawingml/2006/main" w="0">
            <a:solidFill>
              <a:srgbClr val="83F3C9"/>
            </a:solidFill>
            <a:prstDash val="solid"/>
          </a:ln>
        </p:spPr>
      </p:sp>
      <p:sp>
        <p:nvSpPr>
          <p:cNvPr id="45" name="">
            <a:extLst xmlns:a="http://schemas.openxmlformats.org/drawingml/2006/main">
              <a:ext uri="{FF2B5EF4-FFF2-40B4-BE49-F238E27FC236}">
                <a16:creationId xmlns:a16="http://schemas.microsoft.com/office/drawing/2014/main" id="{760EC442-2A75-4855-9E7C-19CA0F077148}"/>
              </a:ext>
            </a:extLst>
          </p:cNvPr>
          <p:cNvSpPr>
            <a:spLocks xmlns:a="http://schemas.openxmlformats.org/drawingml/2006/main" noGrp="1"/>
          </p:cNvSpPr>
          <p:nvPr/>
        </p:nvSpPr>
        <p:spPr>
          <a:xfrm xmlns:a="http://schemas.openxmlformats.org/drawingml/2006/main">
            <a:off x="9715500" y="3162300"/>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0B1720"/>
                </a:solidFill>
                <a:latin typeface="Avenir Next"/>
                <a:ea typeface="Avenir Next"/>
                <a:cs typeface="Avenir Next"/>
              </a:defRPr>
            </a:pPr>
            <a:r>
              <a:rPr sz="975" b="1">
                <a:solidFill>
                  <a:srgbClr val="0B1720"/>
                </a:solidFill>
                <a:latin typeface="Avenir Next"/>
                <a:ea typeface="Avenir Next"/>
                <a:cs typeface="Avenir Next"/>
              </a:rPr>
              <a:t>RUN THE TWIN  →</a:t>
            </a:r>
          </a:p>
        </p:txBody>
      </p:sp>
      <p:sp>
        <p:nvSpPr>
          <p:cNvPr id="46" name="">
            <a:extLst xmlns:a="http://schemas.openxmlformats.org/drawingml/2006/main">
              <a:ext uri="{FF2B5EF4-FFF2-40B4-BE49-F238E27FC236}">
                <a16:creationId xmlns:a16="http://schemas.microsoft.com/office/drawing/2014/main" id="{B1927A63-C90E-4B26-B541-6782D4E480EE}"/>
              </a:ext>
            </a:extLst>
          </p:cNvPr>
          <p:cNvSpPr>
            <a:spLocks xmlns:a="http://schemas.openxmlformats.org/drawingml/2006/main" noGrp="1"/>
          </p:cNvSpPr>
          <p:nvPr/>
        </p:nvSpPr>
        <p:spPr>
          <a:xfrm xmlns:a="http://schemas.openxmlformats.org/drawingml/2006/main">
            <a:off x="11258550" y="64389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825" b="1">
                <a:solidFill>
                  <a:srgbClr val="5F7078"/>
                </a:solidFill>
                <a:latin typeface="Avenir Next"/>
                <a:ea typeface="Avenir Next"/>
                <a:cs typeface="Avenir Next"/>
              </a:defRPr>
            </a:pPr>
            <a:r>
              <a:rPr sz="825" b="1">
                <a:solidFill>
                  <a:srgbClr val="5F7078"/>
                </a:solidFill>
                <a:latin typeface="Avenir Next"/>
                <a:ea typeface="Avenir Next"/>
                <a:cs typeface="Avenir Next"/>
              </a:rPr>
              <a:t>16</a:t>
            </a:r>
          </a:p>
        </p:txBody>
      </p:sp>
    </p:spTree>
    <p:extLst>
      <p:ext uri="{BB962C8B-B14F-4D97-AF65-F5344CB8AC3E}">
        <p14:creationId xmlns:p14="http://schemas.microsoft.com/office/powerpoint/2010/main" val="318587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2026-07-15T12:30:36.3780000Z</dcterms:created>
  <dcterms:modified xsi:type="dcterms:W3CDTF">2026-07-15T12:30:36.3780000Z</dcterms:modified>
</coreProperties>
</file>