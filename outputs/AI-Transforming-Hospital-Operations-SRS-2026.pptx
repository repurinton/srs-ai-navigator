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531f2486d7482b" /><Relationship Type="http://schemas.openxmlformats.org/officeDocument/2006/relationships/extended-properties" Target="/docProps/app.xml" Id="Rd1c7c10f6f0847fb" /><Relationship Type="http://schemas.openxmlformats.org/officeDocument/2006/relationships/officeDocument" Target="/ppt/presentation.xml" Id="R373c7078608845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4a1ecc4a814994"/>
  </p:sldMasterIdLst>
  <p:notesMasterIdLst>
    <p:notesMasterId xmlns:r="http://schemas.openxmlformats.org/officeDocument/2006/relationships" r:id="R083272e6615d4e67"/>
  </p:notesMasterIdLst>
  <p:sldIdLst>
    <p:sldId xmlns:r="http://schemas.openxmlformats.org/officeDocument/2006/relationships" id="256" r:id="R353481b06b084180"/>
    <p:sldId xmlns:r="http://schemas.openxmlformats.org/officeDocument/2006/relationships" id="257" r:id="R4004f2552f94452d"/>
    <p:sldId xmlns:r="http://schemas.openxmlformats.org/officeDocument/2006/relationships" id="258" r:id="Rafd0cec0724241f2"/>
    <p:sldId xmlns:r="http://schemas.openxmlformats.org/officeDocument/2006/relationships" id="259" r:id="R6551f2d3fca94408"/>
    <p:sldId xmlns:r="http://schemas.openxmlformats.org/officeDocument/2006/relationships" id="260" r:id="Rd2598feb5f354124"/>
    <p:sldId xmlns:r="http://schemas.openxmlformats.org/officeDocument/2006/relationships" id="261" r:id="R78d17f9905834f87"/>
    <p:sldId xmlns:r="http://schemas.openxmlformats.org/officeDocument/2006/relationships" id="262" r:id="Rd589c00e73d944ce"/>
    <p:sldId xmlns:r="http://schemas.openxmlformats.org/officeDocument/2006/relationships" id="263" r:id="R541899248ff84407"/>
    <p:sldId xmlns:r="http://schemas.openxmlformats.org/officeDocument/2006/relationships" id="264" r:id="R20c36a9976fe4881"/>
    <p:sldId xmlns:r="http://schemas.openxmlformats.org/officeDocument/2006/relationships" id="265" r:id="R0210fd83ea594c92"/>
    <p:sldId xmlns:r="http://schemas.openxmlformats.org/officeDocument/2006/relationships" id="266" r:id="R42a99fe409184011"/>
    <p:sldId xmlns:r="http://schemas.openxmlformats.org/officeDocument/2006/relationships" id="267" r:id="R8c2f68d0b3cc4d1e"/>
    <p:sldId xmlns:r="http://schemas.openxmlformats.org/officeDocument/2006/relationships" id="268" r:id="R5623bf48132849a2"/>
    <p:sldId xmlns:r="http://schemas.openxmlformats.org/officeDocument/2006/relationships" id="269" r:id="R1e5fb8492eef44d7"/>
    <p:sldId xmlns:r="http://schemas.openxmlformats.org/officeDocument/2006/relationships" id="270" r:id="R819e6c251f2b4d4c"/>
    <p:sldId xmlns:r="http://schemas.openxmlformats.org/officeDocument/2006/relationships" id="271" r:id="R4b7da2f81e4249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f40f7281b945e1" /><Relationship Type="http://schemas.openxmlformats.org/officeDocument/2006/relationships/slideMaster" Target="/ppt/slideMasters/slideMaster1.xml" Id="R464a1ecc4a814994" /><Relationship Type="http://schemas.openxmlformats.org/officeDocument/2006/relationships/notesMaster" Target="/ppt/notesMasters/notesMaster1.xml" Id="R083272e6615d4e67" /><Relationship Type="http://schemas.openxmlformats.org/officeDocument/2006/relationships/presProps" Target="/ppt/presProps.xml" Id="R876d3e6298e842d3" /><Relationship Type="http://schemas.openxmlformats.org/officeDocument/2006/relationships/tableStyles" Target="/ppt/tableStyles.xml" Id="R4caa7e6353c34e49" /><Relationship Type="http://schemas.openxmlformats.org/officeDocument/2006/relationships/slide" Target="/ppt/slides/slide1.xml" Id="R353481b06b084180" /><Relationship Type="http://schemas.openxmlformats.org/officeDocument/2006/relationships/slide" Target="/ppt/slides/slide2.xml" Id="R4004f2552f94452d" /><Relationship Type="http://schemas.openxmlformats.org/officeDocument/2006/relationships/slide" Target="/ppt/slides/slide3.xml" Id="Rafd0cec0724241f2" /><Relationship Type="http://schemas.openxmlformats.org/officeDocument/2006/relationships/slide" Target="/ppt/slides/slide4.xml" Id="R6551f2d3fca94408" /><Relationship Type="http://schemas.openxmlformats.org/officeDocument/2006/relationships/slide" Target="/ppt/slides/slide5.xml" Id="Rd2598feb5f354124" /><Relationship Type="http://schemas.openxmlformats.org/officeDocument/2006/relationships/slide" Target="/ppt/slides/slide6.xml" Id="R78d17f9905834f87" /><Relationship Type="http://schemas.openxmlformats.org/officeDocument/2006/relationships/slide" Target="/ppt/slides/slide7.xml" Id="Rd589c00e73d944ce" /><Relationship Type="http://schemas.openxmlformats.org/officeDocument/2006/relationships/slide" Target="/ppt/slides/slide8.xml" Id="R541899248ff84407" /><Relationship Type="http://schemas.openxmlformats.org/officeDocument/2006/relationships/slide" Target="/ppt/slides/slide9.xml" Id="R20c36a9976fe4881" /><Relationship Type="http://schemas.openxmlformats.org/officeDocument/2006/relationships/slide" Target="/ppt/slides/slide10.xml" Id="R0210fd83ea594c92" /><Relationship Type="http://schemas.openxmlformats.org/officeDocument/2006/relationships/slide" Target="/ppt/slides/slide11.xml" Id="R42a99fe409184011" /><Relationship Type="http://schemas.openxmlformats.org/officeDocument/2006/relationships/slide" Target="/ppt/slides/slide12.xml" Id="R8c2f68d0b3cc4d1e" /><Relationship Type="http://schemas.openxmlformats.org/officeDocument/2006/relationships/slide" Target="/ppt/slides/slide13.xml" Id="R5623bf48132849a2" /><Relationship Type="http://schemas.openxmlformats.org/officeDocument/2006/relationships/slide" Target="/ppt/slides/slide14.xml" Id="R1e5fb8492eef44d7" /><Relationship Type="http://schemas.openxmlformats.org/officeDocument/2006/relationships/slide" Target="/ppt/slides/slide15.xml" Id="R819e6c251f2b4d4c" /><Relationship Type="http://schemas.openxmlformats.org/officeDocument/2006/relationships/slide" Target="/ppt/slides/slide16.xml" Id="R4b7da2f81e4249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fb9e71d8e64c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cace79422242d5" /><Relationship Type="http://schemas.openxmlformats.org/officeDocument/2006/relationships/notesMaster" Target="/ppt/notesMasters/notesMaster1.xml" Id="Rd7c8e13a4c3747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a78833eb584f91" /><Relationship Type="http://schemas.openxmlformats.org/officeDocument/2006/relationships/notesMaster" Target="/ppt/notesMasters/notesMaster1.xml" Id="R2cd3df46f1be42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2a767f05024180" /><Relationship Type="http://schemas.openxmlformats.org/officeDocument/2006/relationships/notesMaster" Target="/ppt/notesMasters/notesMaster1.xml" Id="Ree337ad84b414b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20c979f4d54552" /><Relationship Type="http://schemas.openxmlformats.org/officeDocument/2006/relationships/notesMaster" Target="/ppt/notesMasters/notesMaster1.xml" Id="Raa846f7de8da44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7302e6243646cf" /><Relationship Type="http://schemas.openxmlformats.org/officeDocument/2006/relationships/notesMaster" Target="/ppt/notesMasters/notesMaster1.xml" Id="Ra9528ae430cc47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749f2d97184010" /><Relationship Type="http://schemas.openxmlformats.org/officeDocument/2006/relationships/notesMaster" Target="/ppt/notesMasters/notesMaster1.xml" Id="R4d3833fcc3834b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b066a5473a43e3" /><Relationship Type="http://schemas.openxmlformats.org/officeDocument/2006/relationships/notesMaster" Target="/ppt/notesMasters/notesMaster1.xml" Id="Rf29339ab922746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477c697dd148b3" /><Relationship Type="http://schemas.openxmlformats.org/officeDocument/2006/relationships/notesMaster" Target="/ppt/notesMasters/notesMaster1.xml" Id="R716263b98f1e41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f1070eb95c49f6" /><Relationship Type="http://schemas.openxmlformats.org/officeDocument/2006/relationships/notesMaster" Target="/ppt/notesMasters/notesMaster1.xml" Id="R971ff379411447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87fb5c6c9e4ed5" /><Relationship Type="http://schemas.openxmlformats.org/officeDocument/2006/relationships/notesMaster" Target="/ppt/notesMasters/notesMaster1.xml" Id="R7b51804d0aba4a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f85df7d05b4c2f" /><Relationship Type="http://schemas.openxmlformats.org/officeDocument/2006/relationships/notesMaster" Target="/ppt/notesMasters/notesMaster1.xml" Id="Rb5d94d3bdfa04a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422e94e7964ddc" /><Relationship Type="http://schemas.openxmlformats.org/officeDocument/2006/relationships/notesMaster" Target="/ppt/notesMasters/notesMaster1.xml" Id="Rc53222f21a884a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3e6815700f499f" /><Relationship Type="http://schemas.openxmlformats.org/officeDocument/2006/relationships/notesMaster" Target="/ppt/notesMasters/notesMaster1.xml" Id="R8f70e5c0285942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85a8132472a487f" /><Relationship Type="http://schemas.openxmlformats.org/officeDocument/2006/relationships/notesMaster" Target="/ppt/notesMasters/notesMaster1.xml" Id="R23e9808ab7784f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6a610402794300" /><Relationship Type="http://schemas.openxmlformats.org/officeDocument/2006/relationships/notesMaster" Target="/ppt/notesMasters/notesMaster1.xml" Id="Refc935e2ec1a475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c53b67cc004647" /><Relationship Type="http://schemas.openxmlformats.org/officeDocument/2006/relationships/notesMaster" Target="/ppt/notesMasters/notesMaster1.xml" Id="Radf9d3be9c9242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tension: the robot and surgeon can be ready while four ordinary handoffs still threaten the case. Pause after the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Central thesis: the hospital is already full of intelligence; it is short on coordination.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this a board-level problem, not a technology trend. Costs, demand, and acuity are rising together; coordination waste is no longer operational trivia.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the case from authorization to incision. Each function can perform locally and the case can still fail globally because no workflow owns the end-to-end clock.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frame this as a smarter dashboard. The distinctive value is a closed loop: sense, plan, act within permissions, and verify completion.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category distinction explicit: these are six value-creation interfaces to one operating layer, not six disconnected AI portfolios.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Diagnosis becomes a routing decision; the Digital Front Door becomes a resolution relationship; Robotics becomes distributed capacity; Longitudinal Care becomes a managed queue; Task Automation becomes a governed outcome; Precision Medicine becomes a learning operating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Decision rules: build pathways, measure resolution, manage the episode, assign every signal, redesign before automating, and connect each precision insight to an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value does not compound because six tools coexist. It compounds because every episode produces better context, safer actions, and measurable learning for the next 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into the Hospital Lab. Say: same 600 synthetic episodes, same 30-day demand trace, same clinical priority—different operating rules. Reset the twin, run the guided sequence, and ask the audience to watch the constraint move.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Credibility moments: Precision Medicine adds selective upstream work; Robotics releases local capacity without immediately moving enterprise throughput; the connected system ultimately exposes staffed recovery capacity as the next investment decision. All coefficients are illustrative assumptions, not observed AdventHealth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each risk and its source. The demonstration begins with fresh signals, not a prompt asking a chatbot to invent a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agents work in parallel, but authority is not parallelized away. Reversible actions can execute; the OR director and Access lead approve their respective consequential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Label the result as scenario-resolved and modeled. Open the audit strip briefly. The key point is not the exact dollar figure; it is the governed mechanism that turns existing capacity into care.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 about evidence grade. Hartford is observational and its benefit estimate is modeled; Penn is a health-system implementation. Together they support workflow-integrated intelligence, not autonomous hospital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counterevidence to earn trust. The lesson is not that command centers fail; it is that visibility without redesigned decisions, ownership, and action rights is insufficient.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Autonomy expands by reversibility and consequence, not technical possibility. Automate low-risk administrative work, gate consequential operational actions, and keep clinical accountability visibly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action is deliberately narrow: choose one constrained surgical flow with one executive owner, explicit action rights, and a baseline. Shadow first, transact only reversible actions, and scale only when the causal scorecard moves.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decision, not the technology. One flow. One owner. One scorecard. The point is coordinated, human-governed execution—not autonomous clinical care.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a062d71b344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9aad35ad3a4b16" /><Relationship Type="http://schemas.openxmlformats.org/officeDocument/2006/relationships/slideLayout" Target="/ppt/slideLayouts/slideLayout1.xml" Id="Ra1062157300c46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062157300c46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d26d9f4f241be" /><Relationship Type="http://schemas.openxmlformats.org/officeDocument/2006/relationships/notesSlide" Target="/ppt/notesSlides/notesSlide1.xml" Id="R11d7f45c0c4343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c0bb824344d87" /><Relationship Type="http://schemas.openxmlformats.org/officeDocument/2006/relationships/notesSlide" Target="/ppt/notesSlides/notesSlide2.xml" Id="R14995003b3a14c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948a720044db2" /><Relationship Type="http://schemas.openxmlformats.org/officeDocument/2006/relationships/notesSlide" Target="/ppt/notesSlides/notesSlide3.xml" Id="Rc2b50e3dc87241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6daebca4c4e81" /><Relationship Type="http://schemas.openxmlformats.org/officeDocument/2006/relationships/notesSlide" Target="/ppt/notesSlides/notesSlide4.xml" Id="Ra126dc3e6b1e46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457770f2347cd" /><Relationship Type="http://schemas.openxmlformats.org/officeDocument/2006/relationships/notesSlide" Target="/ppt/notesSlides/notesSlide5.xml" Id="R6df64cdcd85c46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7727c3db248ff" /><Relationship Type="http://schemas.openxmlformats.org/officeDocument/2006/relationships/notesSlide" Target="/ppt/notesSlides/notesSlide6.xml" Id="Rcafe863e589341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fe861587740bb" /><Relationship Type="http://schemas.openxmlformats.org/officeDocument/2006/relationships/notesSlide" Target="/ppt/notesSlides/notesSlide7.xml" Id="Ra85fe42af1d446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c454316b742f9" /><Relationship Type="http://schemas.openxmlformats.org/officeDocument/2006/relationships/image" Target="/ppt/media/image.jpeg" Id="R94b9276825084ed0" /><Relationship Type="http://schemas.openxmlformats.org/officeDocument/2006/relationships/notesSlide" Target="/ppt/notesSlides/notesSlide8.xml" Id="Rfc9d2c1600a74e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dff692f2943ab" /><Relationship Type="http://schemas.openxmlformats.org/officeDocument/2006/relationships/notesSlide" Target="/ppt/notesSlides/notesSlide9.xml" Id="R7a3f26f5bcc249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7194e9ae240ab" /><Relationship Type="http://schemas.openxmlformats.org/officeDocument/2006/relationships/notesSlide" Target="/ppt/notesSlides/notesSlide10.xml" Id="R1b26feb3483d41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7627da64264c5a" /><Relationship Type="http://schemas.openxmlformats.org/officeDocument/2006/relationships/image" Target="/ppt/media/image2.jpeg" Id="R8363554d41a440dc" /><Relationship Type="http://schemas.openxmlformats.org/officeDocument/2006/relationships/notesSlide" Target="/ppt/notesSlides/notesSlide11.xml" Id="R91aa7878def24d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61a464c124a09" /><Relationship Type="http://schemas.openxmlformats.org/officeDocument/2006/relationships/notesSlide" Target="/ppt/notesSlides/notesSlide12.xml" Id="Rd548a205cbac4a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9af61e58d42dd" /><Relationship Type="http://schemas.openxmlformats.org/officeDocument/2006/relationships/notesSlide" Target="/ppt/notesSlides/notesSlide13.xml" Id="R1ac955380e1a49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beeaa921e4929" /><Relationship Type="http://schemas.openxmlformats.org/officeDocument/2006/relationships/notesSlide" Target="/ppt/notesSlides/notesSlide14.xml" Id="Rda04a2d1433a45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050bbc3e648c1" /><Relationship Type="http://schemas.openxmlformats.org/officeDocument/2006/relationships/notesSlide" Target="/ppt/notesSlides/notesSlide15.xml" Id="Rcfb62d454e9e4c6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6c62e50064509" /><Relationship Type="http://schemas.openxmlformats.org/officeDocument/2006/relationships/notesSlide" Target="/ppt/notesSlides/notesSlide16.xml" Id="R7b3af544fd794d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708058-5F6F-4500-B7C7-FB21A0B6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255ED-7D4A-43C9-8D7B-FE2B44F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1F309-F29B-4CFE-972C-82E8B169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3B0BC-C486-4413-BA4E-E1531C11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EF9F5-5FEF-4F42-9177-2B2DA713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67FB0-F969-4763-AC6F-6A3A54CB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9E0B8-2F5C-4AD1-AD44-5EB45FB8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15476-5F90-4D08-855C-47E2F01C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16909-0C6A-45F9-B911-3083606D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A2257-A67C-45FC-A37A-51071C4A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7292B-45EF-4FCB-ABC7-B4AF8AE4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97F9C-C5DD-4B4D-A150-15395586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45A39-AACB-4208-B7DF-18561762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6DA2B-018C-43BE-9209-C5CF4375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04AFF-8762-4A06-9867-C83812BB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7C29-AD8C-47E4-96A2-F35D8E4B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55FDD-FE16-429E-B7C6-35D39995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1147B-83B7-492A-84E0-ACE20A32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A346C3-CC14-4570-A67D-0FDCB040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B64C96-908A-4D02-8974-17EFF7C9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7F48E9-E0E3-4B29-8E4D-B905DCAE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338D3D-758F-44CC-8A6E-2D73A258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A7F0B1-A71B-4883-BDCE-7D953C29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B30C8-C5B5-4738-9E97-FC46D571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FEFDD-1FCE-4ADF-9FA1-E2B9D693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74EB19-1631-4F1E-BB8E-FF381B37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A979D-293A-4A2C-8B6D-95C1EDF7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1809F1-F119-4050-A591-48558662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E9581F-39D2-49D1-A904-73709F7F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4A300E-7B39-427F-8823-012A336B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D912D9-60A6-4ABB-A102-4BEEB64F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440590-7C85-4E91-BCF6-1AD1EE69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AI TRANSFORMING HOSPITAL OPERATIONS · SRS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F5040C-C40A-41E7-993E-4C0E29B3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619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robot is ready.</a:t>
            </a:r>
          </a:p>
          <a:p xmlns:a="http://schemas.openxmlformats.org/drawingml/2006/main">
            <a:pPr algn="l">
              <a:def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hospital isn’t.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EF708A-2E63-483E-81E4-0960662A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rPr>
              <a:t>Robotic surgery made the procedure precise.</a:t>
            </a:r>
          </a:p>
          <a:p xmlns:a="http://schemas.openxmlformats.org/drawingml/2006/main">
            <a:pPr algn="l">
              <a:def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rPr>
              <a:t>AI must make the episode around it coherent.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A019CD-CA00-44C8-8813-30EF7B4D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028700"/>
            <a:ext cx="4057650" cy="47625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C6CC6E-35E0-4292-852C-8870D2F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3335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ONE ROBOTIC CASE · 48 HOURS OUT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AFB0C1-5B12-4028-9C1C-F53BB4DC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2880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0" b="0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5400" b="0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47:36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273F34-A176-41BC-BD66-B93D3BFC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hours to incision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D8117E-4D92-4FF1-AB82-7B9E8399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5AD4CA-97A2-47A8-A621-2C8FB87C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Authorization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BD4CAE-5AF9-42F2-9544-67557491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956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Evidence requested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E0611E-74E9-4AAC-886A-9BC9547E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76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7A0705-FD83-43A3-B889-120BC82D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19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OR + robot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D80941-407A-4EB4-87D2-C1F5277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952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Block secured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696067-766A-45BB-AA2B-B826903E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148DBA-4598-49FE-BDE2-912E9709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43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Scrub coverage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56CE14-2B3B-447A-85A8-D2083AEB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34340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2-hour gap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601DB4E-7D8C-4FC9-B9E5-DA302506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8DBF0D-E3FA-4793-B98E-F2E868DA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672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Bed capacity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C85A93-ED1F-4DFE-BDFA-1BF34BDB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867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1 staffed bed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53E1E3-5CD3-454B-9057-4706FB34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QUESTION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2DD9C4-0C2B-4719-9BF8-9C1E9DC8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617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Can the institution move with the same precision as the machine?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6BE609D-0E4B-4D83-ADC1-DF6DD3F3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492093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9D2DA2-0641-4D9E-934F-AE0577D0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8A4F90-582D-43D9-844A-A92CCA2C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ECONOMIC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C16FF-A8FA-4CC2-8398-42C1D24F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Hospital economics no longer permit coordination waste.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F3AC8-00AC-42BC-A92C-6F5573C6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C8E7-74FE-424B-AD64-C3A30BC3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$1.635T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510F7-8DB0-4E19-A842-30B2932E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U.S. hospital spending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DE23F-C198-4BA9-93AD-B1B270F2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38125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DBC0A-7BA6-4050-BF61-520DE565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3DCC8-3760-4278-914C-AD015A37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+8.9%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1B1DF-23E8-426C-AA1A-92866772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one-year growth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66FCFF-0861-40C5-A94B-96E7915E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8125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45E5EE-54F6-423E-9961-40974A2E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AHA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5DA66-23CE-43F8-8752-4F8E420E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56%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E599A-065F-4E6A-A2AF-706D5AF3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of hospital costs are labor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46E04D-743C-4FB6-9749-93031B42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FA660E-00A7-444E-A3FE-FB3CBADF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95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Every unused minute, delayed bed-day, and failed handoff now compounds across the most expensive system in the economy.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5530C-06CB-4C0A-B466-414C6C8C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Sources: CMS National Health Expenditure data (2024); AHA 2025 Costs of Caring report.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72682E-4151-4E8D-A0F9-865C4E4E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649530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0EAB90-EEBE-4C7C-BBBE-242C1C2E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7FE7B-E415-419A-B073-CF3CCE9A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1B76C-4F00-47AC-9C5C-5C72BE70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597E7-9D13-426E-912A-E3639FE8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99D16-A7BF-4B6B-B389-F121C20E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DEB92-3C9E-4A21-BED6-B3ADE646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FF0D5-9C06-4E15-BB3F-7FC3C066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EA2272-4D93-491E-8152-780845B2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9B755-3F87-400A-AF46-3AA17B38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2634C-3258-4C2C-A706-2EBD09A1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440C7-40E1-4928-9806-928972A3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289DC-EEE7-4C6B-A322-77BEC74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1107C-4C72-4FC1-B3BC-CA08610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B0B9F7-D985-4F48-B3BC-6D152A39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07970-608C-48C1-84E6-B73AD95C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99159-43AD-4568-A07D-1E9582B4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CC169-D4B8-4BF5-8FA3-FD264A1C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7645B-F528-41C6-8978-775C5735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85E24C-8F94-4EFD-944A-2A38B630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84380-1C98-46B7-AA26-BD70E098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4F04E9-66CB-4884-9FA2-D24EC326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FDD14-6630-4273-83EA-ECF557C7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4FD973-1890-4007-A2FD-5078BA78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EF0B9E-3AC3-499E-B7B6-7A48951E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9186C7-7243-43B2-A530-7061F105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6DB74F-405A-4F29-805C-E350B89D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356327-552A-4776-80EA-9F16CFE7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81AA02-3F38-47A1-8650-41C5A49D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36F0CE-61DA-4EB6-8844-07F457FE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8E506-C72E-4196-B620-919AEA7B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B20D04-C7F4-41CB-B3B5-2758AE43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A07553-D255-44AB-80B5-8301400A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COORDINATION GAP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BD50D6-1086-4FA4-8222-D516082E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No system owns the whole clock.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4D52D6-EFF3-4BDB-9EA8-829E5A5E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Every function sees its task. The risk accumulates between them.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470174-D27D-45A9-A807-88EAEC8A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7CF611-8C52-4684-A5BC-866496FB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018255-1B05-458F-A3B9-24B8EC3B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AUTHORIZATION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0D5964-EF54-4182-AEE1-D40885C6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payer 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7E8704-46FA-40C5-8DE2-4ABD1477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0A7967-56EF-434A-87A9-0B41F9D9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BA5A4C-DB03-4EF5-93EC-ED005565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FBDF69-C810-42D8-AECA-E15EA434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6CF76B-E6A6-4852-B8E6-E74F4B79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PRE-OP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093218-46CB-45F6-A5B0-C2A7E011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labs + clearance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486DA6E-566C-481A-AB60-C7E04194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48C6B7-72DE-4FB1-BC97-28059B36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E43A6E-336C-4837-A3F2-0106CB5F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8D726E-47F2-49EF-967E-4A893574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CC9141-9C9C-44C2-90BF-B8811B26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STAFF +</a:t>
            </a:r>
          </a:p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INSTRUMENTS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500D3B-B269-4159-97DA-6082134B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credentials + trays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A68A59-41B0-4835-A81C-791F12E7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2F45B1-2CC8-4072-884D-A0559451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30036E-5D56-437E-B5FF-94B3C461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429F88-D5C7-4651-A1FE-AB8551F1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0FCBFD-FCE6-4A5A-8FC7-A07EB066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BED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B8F92C-8561-42EA-8E2A-0D0C14E0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acuity + capacity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9D0A65F-A823-4AB1-9E3E-5DFA6BD0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FE82CE-687B-4B1A-8998-C22E1364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A56520-4343-4503-B9ED-7962F2AA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14288">
            <a:solidFill>
              <a:srgbClr val="83F3C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81610CB-E826-4578-BEBC-ABCABAE4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0032ED-6501-4946-B906-9FFC3FEF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INCISION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71307E-7AC8-45CD-B1C7-8A00F464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ready case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81953C-3D13-44D0-BC4B-C5184C0B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bottleneck is not intelligence inside a system.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F82001-4DEA-4108-AA77-B3029BAB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It is accountability across systems.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4BEBDC-D32E-44F2-99F9-B8B67194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4511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B1ADF6-24F8-4398-9324-DADB98EA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F1616-EE6A-41DD-9477-8AEB7D9D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TECHNOLOGY SHIFT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FF78B-E082-4E5C-BC4B-51C3C33C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The next value layer is execution.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F626A-FAF3-4782-91CB-7E80FEBD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 dashboard predicts failure. A governed agent helps prevent it—and verifies what happened.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CBE1D-1CC4-4F4D-AB4B-196C38ED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D9DEDD"/>
          </a:solidFill>
          <a:ln xmlns:a="http://schemas.openxmlformats.org/drawingml/2006/main" w="0">
            <a:solidFill>
              <a:srgbClr val="D9DE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A0C2F-D4CD-4392-9EB3-0F44EAF0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E631C-2E20-4ADA-A971-C81325F1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11CCC-766F-4CBA-993D-9C75DBE9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happened?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29F34B-EC1B-4DBE-9A4C-4994547B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A05267-68F2-4560-AB75-5960479A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CAD5D4"/>
          </a:solidFill>
          <a:ln xmlns:a="http://schemas.openxmlformats.org/drawingml/2006/main" w="0">
            <a:solidFill>
              <a:srgbClr val="CAD5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210A4-E4DB-4D56-A687-1FCE4269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77E036-DA82-4BF5-A2AF-3D5CA7EF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73450-C837-4708-AE2C-C6E302E2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is happening?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90C66-22B0-4139-A12F-EB1BE45C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41144-4D59-45A3-8B03-A4073138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B7C9C5"/>
          </a:solidFill>
          <a:ln xmlns:a="http://schemas.openxmlformats.org/drawingml/2006/main" w="0">
            <a:solidFill>
              <a:srgbClr val="B7C9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9CEFC-4876-49AB-AE63-86C1FE4F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846B00-0C5C-451A-9063-1F0F7330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PREDICT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B0C6D2-3BDC-4B83-96BB-513BC00B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will happen?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A7B3B6-F7A8-43EA-BF18-AD65FB8A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F3EFCE-C2D0-4DBC-8833-EE5F7E80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274FF8-6721-42A8-8875-6FC6220F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728243-2E9A-4D24-99C7-C7520A42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COORDINATE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C7358-B4F7-4C28-84F1-A203F167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4D2D5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4D2D5"/>
                </a:solidFill>
                <a:latin typeface="Avenir Next"/>
                <a:ea typeface="Avenir Next"/>
                <a:cs typeface="Avenir Next"/>
              </a:rPr>
              <a:t>What should happen next?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984CF1-0884-4A8D-8FED-D91F2EE9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SENSE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A44957-C846-4CEB-B20A-48C1F91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PLAN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6FD6EA-F8C7-4742-8FD4-4C02641A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D37DD9-3187-4F29-BE53-E278DCF6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010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656EC8-BEFE-4ADA-B268-E4508592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34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47B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EB6B58-7C3A-4E53-8C5A-FCBB9046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304048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3798AA-928E-4319-A31B-18EBD4A5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424AC-AB16-4C76-A16A-DAC09BF9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97147-9077-4CD6-A84C-63FD2A4C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BDBC1-8567-4632-A969-09BA47A0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54714-6F93-4400-BE40-CB82F36A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9B164-DCCE-408D-AE11-91BD6B34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80FCC-B67C-4594-9499-639EE5B5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255D1A-3E99-4763-9423-4F89B659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8E2CB-3B1E-412B-820D-23BD3A5E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E2C75E-D7CC-49AD-A71A-CF0EDF86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8ED2F-C487-4AA4-88EE-84789B57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DFA520-A7B9-46AC-9781-67F54227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2C687-F2FD-491C-9D95-C4E8FDF7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CCE25-C252-4CEB-B330-CBF93A01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5EF54-3A19-45E0-9460-A825A5B3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BBFA1-CF34-4FB0-9BC2-3BB7072D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1818E1-C0CF-4C68-9382-CE01202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9D1919-7DFB-40A9-A4DC-3C31B8F4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250ADE-97A9-4AE6-9A8F-F3A6BBCC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62E61-0063-42F0-B377-82347B0E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40107-28C6-48BB-AF8F-1D411192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8BA326-3E3C-40F3-9B32-17D6E411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97005-A4EF-46FC-9147-78C7B2D9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3F8BA9-9E30-4F45-93DF-68DDCB78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77698F-4D16-4492-A602-08879D7E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04E1CE-B4AE-4805-936D-4D1A8597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F260C7-AE01-4FA5-9CB6-70871A54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A80460-AC90-44F3-8D95-B614E0AC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951A84-8C5B-46A6-9021-D600B79D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AAEA70-94E5-455D-897F-A245F99B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2D936D-8D17-45CA-BF38-F1F26DC9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F804BE-0F8D-4AC8-8ED9-97ED2035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ENTERPRISE TRANSFORMATION MAP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2D2D25-EA71-4717-9CAF-C877F515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763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Six levers. One operating system.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937624-AFA6-49C6-BCA6-E6067933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strategic mistake is funding six portfolios. The opportunity is connecting one system.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360EF3-8A38-46D4-A071-C2D1FFC5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50E100-64A4-4544-8657-7EAD0503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915C75-D89C-401A-AD72-CDF09A29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Clinical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Diagnosis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2D62F7-F13C-4D78-AFEA-71D374B0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AA7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D18502-7D6C-4CE9-8077-280C5AB4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493FB7-E326-447F-A649-3499A340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E91675-A408-4023-9A55-F3E33BEF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Digital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Front Door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004D48-D9E7-4129-B944-EFD60229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1DF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EFEB50-DA22-4F95-BD55-40FFDA28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E5C454-F25D-4500-BC45-C16F4DCD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0D8539-0ECE-451C-8808-E74853D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Robotics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FFCFD7-55DB-4D8E-87EB-CE8B6998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3C66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8321A2-5E1E-4B79-A1BE-C4E3D4BB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B989CD-2852-4610-89BB-D4146319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455A63-8867-47DC-8772-441B63D0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Longitudinal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Care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A40187-570D-4853-8EEF-A79BEA68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0D79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19AD4F-CB63-49A9-AE3A-2BFE5B3A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8E812B-09E2-4355-AB47-AB7B506A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D5C282-B967-477D-AFA4-92A0674A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Task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Automation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5515C7-BE4B-43FA-8507-E8771E6F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A91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2CA6EFF-A236-4099-85D4-3C6C20DF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F748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59AA32-3281-449E-A474-278C32E9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5B59143-0821-4DAC-B305-144E54A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Precision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Medicine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89EAE7-78F1-4FE0-B88A-C4DF34D0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487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266AB43-71E7-4C3F-B2A3-87E9BDB1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0DD58C0-F0B3-4B29-91F5-A9581D1F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SHARED CONTEXT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0E90D1-86C6-4E2F-9FA4-6476C9AC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767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One longitudinal view of intent, capacity, risk, and state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9E23878-8B87-4DA6-B229-920D4957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97CE0F9-EE2A-4276-B96A-8A3E8367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GOVERNED ACTION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67342B7-BBE9-488C-AD19-C9DBDF14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6725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Permissions, thresholds, named approvals, rollback, and stop conditions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D39F787-D02F-4C35-A2A8-61E21C8A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3D27C0-93BF-48DD-9751-A082EDF8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CAUSAL SCORECARD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C103CC0-4D08-4233-95EE-BBA81821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578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Access · flow · workforce · economics · trust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BD6A104-ADF5-4C99-A876-F6799D24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Transformation architecture developed for the SRS 2026 executive demonstration.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AA7855E-A546-4038-994A-89DBD751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09809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7F2EE-04BE-4C34-8CA1-63EA03C8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D3893-9D30-40CB-98E5-E77D0DE7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SIX THESES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5F128B-B96C-4D26-8846-DE2C6712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Each lever changes the unit of management.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A7160-A1A1-4389-91B5-8307E72D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4A2CED-32DE-496C-A0DB-A2CE36E8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F6126-8CAC-4DB8-85C4-14C00426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Clinical Diagnosis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F7818-5851-49B6-B5C9-7F6AAEC5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Episode → continuously updated routing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39D00-23DB-4378-909B-A09DCD66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AA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33663-19F7-4296-B58A-F8D7D44C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0002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594AF-8813-440A-856C-CF80E595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CAE6B0-7F72-4208-B826-AE3E024D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49577-F239-4B2B-A888-2DC3A01E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Digital Front Door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9CFC2-D014-4BDB-861C-1E08D4A7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Channel → persistent relationship that resolves needs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AF058E-9819-40B5-87B8-94C91DD3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1DF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1E673-9AC7-45DF-9241-E165EA59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58BA9-1DE8-4729-86B0-85F38F31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551E6D-9289-4C98-BC99-0E3C0A54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836C96-9168-4A02-BDE7-42C6BD07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Robotics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0ACFC7-ADEA-46B6-AAB3-1033E2BA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Precision instrument → distributed capacity platform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6BC4D-BE6D-45EB-A5A9-0AE3E9DF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C6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B7286-8652-438F-ABE8-76F6ABD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B5DFE9-1BEF-473B-93FF-651109A0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AC9ABB-0AB6-4851-89CB-8FE89E52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Longitudinal Care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6DA620-727B-49E4-A395-DE1C1FBD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Visits → continuously managed queue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689F4-39A6-4D5E-8F20-61D65A6F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0D7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B62203-11C2-41D0-BD41-486BEBAA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9814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0527D7-997E-44AE-BF71-6C542F1E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EEF148-D802-423A-84FE-3C97E29A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49D039-9223-4EF9-AD71-ED08EF3B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Task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4F8363-E092-419A-8608-D17FD2FD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Task → governed outcome, executed and verified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973F87-47CE-4A67-9688-57BAB178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A91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BDAE2-88B8-4E62-BB5D-2252978F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3E92FE-F740-4377-9FD4-60D0E682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F748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DAC80D-03A4-40A3-94F0-244ADC37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0487E4-6163-4EA0-9FEE-2761517D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Precision Medicine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E69600-2933-4003-9B75-D1FF7A69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Specialist report → learning operating model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B09DF1-6D58-4E6F-94B9-8812EEED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48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D3CBAE-6530-48F6-B3E7-D3056C9B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733112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D8E3D0-3276-438A-BB66-8AC86440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C37E7-CE4A-4135-8FD6-3AFD7683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08433-98AA-4052-BE27-B0FB1D4C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1B8FB-6688-4FD9-8C39-77702EE0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5661D-2E42-4088-A821-EA4AC889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1A30C-0C96-4196-A04A-547BE42D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13E99-8179-4340-83BF-BCA0FC3E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35180-B95D-46A6-89A5-DD6A26D3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38013-C58C-4C8E-85D8-D08E8BCA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01BC8-01A9-40FA-8384-2BAE4C53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89D84-9B76-4786-8F2D-A430B4BB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A2A703-3D53-42DD-BDB0-78A8ED3C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5EBBA-639A-4C04-9311-70E47F03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B6D31-3A34-4DAA-B962-F3845923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BD735-6B6E-4E7B-A5D1-ABDEDF14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BCF49-BBF2-4027-B944-E9E87B91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D3810-3AC1-499C-8305-A7F7317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65271C-A7EB-4B0D-8161-D0774BF7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81E0A-4095-484C-BF2A-CCA0317B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4F73D-AB5D-474B-B776-D123FA55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26D037-E5A7-4454-9339-F0796CF2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97675C-4DEE-4EA7-B095-6865BB92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10C55-908D-4A20-8AC6-EC0CC654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E2396D-88F8-4DC6-A238-422ABF37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2214BE-BA5F-47CC-8F82-1518446D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CD83CF-E7EE-4918-92D6-B316940B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813656-5EC4-46C2-B030-74588CB0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987B8-A7F0-48B3-8992-F2123D9F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525AD-0A75-4016-9C13-CABB259A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EC1F18-57E8-43B9-9253-AB555FAB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6CDAF8-16F1-443E-816F-8339E597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1660B6-CAB9-4D75-B9A5-40586A50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COMPOUNDING MECHANISM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8572C8-4E0D-4376-A0DD-6E4111F7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429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Value compounds only when the loop closes.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DC2248-94EB-402F-A0F0-BA573DAC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6BCC887-D8E3-446D-8AD8-38E0247A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4D6EAA-3A7C-4586-AF25-5A25989F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SENSE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D31693-6951-434E-9E4A-E438E702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signals +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4A5860-7F1C-4FF4-9BDF-B9C51A49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336DD7-ACA6-4D84-864A-E41EA87E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988A92-0C2B-45E6-95C7-E5752697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FA0BF8-23FA-4FBD-95FF-FFFA3BF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DECIDE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3BF15B-F714-45D5-8BDD-C1217993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options + tradeoffs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1FEE96-3646-40E8-BCCA-17EB0482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04B3F9-24CF-493B-8FDF-200181E9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424EE1-A16D-423D-A039-5BBFE13F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4B3E77-964F-4ECC-93FB-6EF5D166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7E1A5D-F0AC-4788-A40B-5F9C06BE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people + workflow + robot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05C3FA-FED0-42BC-9FBD-748EBE17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B661B8-90B0-4794-9D54-DD2E40B4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14288">
            <a:solidFill>
              <a:srgbClr val="83F3C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DD2DC5-4BA4-4236-80CF-8FC24833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6E6F0C-0935-47BB-B7EC-EF9E42E7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LEARN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BB1A64-93A8-4788-B4B3-0BF05A04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outcomes + exceptions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29676E-66B0-4ECD-BA3B-F5D66AF9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43450"/>
            <a:ext cx="114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850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←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D071B5-CFEA-4F60-B944-F3F6859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276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EVERY COMPLETED EPISODE SHOULD IMPROVE THE NEXT DECISION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B568E45-AB0A-43F3-A117-7AFBA07F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7AA7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96F262-B983-497A-B3C4-D835A56F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F9B7C4-CBCE-41B3-9BFF-AA4304E0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51DFE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00B0DE-526C-4670-A187-B471DB11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BAE5B9-A3C7-4F15-BD08-0C9BDB8C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F3C66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4727FDE-9E45-4D57-A1C3-E80DFBBE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5DB0BAA-B842-48BE-A023-F53B401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60D799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C898F5-648D-4A80-BCEB-43C870C3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71CECE0-AD90-43A9-9B78-8272939B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AA91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C0050A7-E7EF-4748-9D5D-EC447697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5D78DD-C216-4C1F-A8C0-6E5AD81F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FF748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9958A81-CD34-4249-98D2-21E78B2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8CADC27-37AA-47DD-8613-A0DAD818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0657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9276825084ed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EA1F7-CFCC-48A0-A1B6-70466F76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F858D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6F858D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54330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E59857-5B5E-4C54-BA5E-4696A777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16E28-D887-4DB6-BDCF-A4D84F2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0E820-B222-45A8-AA93-A563AAA7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2440E-8819-4081-8B1A-FB111E64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3B9F9-45D2-42E9-8A5D-60F6FFC3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4A92D-2346-479F-8B5E-568F8950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B29C4-FD70-4A6E-AACB-ED605596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CAD46-C670-4B3C-997A-E7E81651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5AC75A-3508-478C-8CD1-4C5EA543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26077-430D-46A4-AAEF-AFB66425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95372-1F5F-465F-A317-B87604C4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6AFCE-B5D5-4B41-8B6E-FE1055C5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03B77-CB86-4D6A-AA87-A5569334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A0397C-F452-4A2C-80D5-B14ECF3B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E69FE1-744F-46FC-8D9B-EFCE5C56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8FA79-A3A3-4D0D-8556-01CCED6F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495D3A-A551-4464-A4DE-9652B648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D9CDB5-477D-4A14-9715-290E717E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0EA14-A7DB-4D6A-AC2E-4E87FD94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6FC740-1D4F-481B-9912-F217A045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20363-407B-4C1A-9363-1EFC70F9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8D5E7-BEAF-45D3-B2E7-C178FEAC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AD9B22-4F1E-455A-9E1F-4EFE1B92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EF52D2-3465-4190-9739-E1A5859E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970814-2C25-4930-A41E-C73BC9B3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555571-085E-4AB6-8D67-A68FF021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AEB978-ADC6-490A-81A4-1EBD83EE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A4F15-D42E-46D4-970E-CCE76DC9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D1CDC6-B2C8-45BF-A0DB-03094F03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4C4CF5-96BE-4BEC-8B83-391356AF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B0135B-F5F7-4AF0-85AD-26C9E52E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2C9EF5-D29B-4984-9336-4AA92136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CASE 7B · ROBOTIC PARTIAL NEPHRECTOMY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8BF447-16F3-4AFE-BD31-E7DE059D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Four handoffs can still strand one robotic case.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5EDAA0-88C7-4F17-A323-F5E57C7A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The robot and surgeon are booked. Ordinary coordination failures still threaten the episode.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FDA3A-0E7E-4BE2-85E2-42D88B80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021736-DB0A-4D61-A7F0-94879590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24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7C09AD-BE20-45A6-8AE2-363BDC16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669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ABF954-720B-4026-A6DC-B9789D61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669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Authorization evidence requested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D8F46C-80B7-4B37-A21F-F176D4F1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Payer API · 4 min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BD71F8-3F50-48EF-B664-B4AEEC97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407F53-0AE4-4001-AC7C-FE2F19C5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439514-68E9-4D68-8F6D-513223C6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READINESS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04C14C-6BB2-4D3A-A67E-8D2468B3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Pre-op lab still pending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A77FDA-37A5-4496-A920-1EA08F8D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LIS · 21 min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BB854B-614A-4580-8279-440F3CFC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0C2E9C-E235-418E-9AED-DB923CB7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A629E8-79A0-4E90-8312-A2F45C53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195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CAPACITY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35098C-8F35-4E8B-BB2B-2FA5E87B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195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Credentialed scrub coverage gap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7F4B282-DC93-48C9-A32D-F9CA7A7D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195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Workforce · live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D1442D-0E6A-4F7F-ADBC-9426A9D0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02D31F-3F68-4B31-BFF0-BEC7D732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39CAA9-7EE3-47BE-BB10-B3A29205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DEB9A9A-51AA-40C4-894E-70B45CDE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958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Only one staffed critical-care bed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E48328-86CE-4ACA-BFF2-83B5BB13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958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Bed command · live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453C257-1C57-4203-91C0-087F80B9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7907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EC2FD5-89D2-43A4-9DE6-CEFC8C30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47H 36M TO INCISION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2EF480C-E32A-47D1-96EC-10126359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007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Synthetic case · no patient data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9424D3-372C-44BA-AAF7-5814879F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96348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02E910-461E-4B63-BF59-A063A0C6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34A05-5010-4972-8998-A1F79BAD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GOVERNED AGENT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08908-FD57-4CC7-B551-5906CF0D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Not a chat window. A governed decision 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99EBF-1194-4D0A-A5B2-52CF43C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Goal + policy + permissions + stop conditions → one constrained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E076E-A860-4B84-87EC-9A794C5B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6AA482-8767-4815-A89C-BB9A971C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C256F-5F11-4374-B5A5-0D7735AB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2C91E-AE19-4617-80E3-D8F60903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Assemble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20218-3CBF-453D-9F05-2524AF9A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5A98E-F2B0-478F-BC4C-D13D1408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51DAF-6587-4AF1-9926-DF9157CF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READINESS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75652-550E-41FF-8CD9-3577F6B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Secure lab slot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6E13A-49A6-43C9-B213-05007693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7E117-9C95-415B-8ED9-EC426EE1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97B71-2196-4E7B-9E88-E7CEA05F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E863D4-A10E-4713-8D1A-3B9F2A23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Model schedule swap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213D9-B214-4D17-9BF2-76632E01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E259D-C08C-4D3F-811D-ED96DF46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3F2D21-3ECC-4432-8A2F-1306AED0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BDA68E-C0AE-42A2-9DDF-858E4609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10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Test bed contingency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1B2FB6-0598-473D-AAAF-2FC8A423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B093D8-26A3-431A-A52E-934FBF12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26479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98AEF-72E4-45D6-A2F9-E5AEAD04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336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ONE 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E4FE94-1D8B-4AE0-A347-58DFECA1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718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Preserve</a:t>
            </a:r>
          </a:p>
          <a:p xmlns:a="http://schemas.openxmlformats.org/drawingml/2006/main">
            <a:pPr algn="ctr">
              <a:def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case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5D8F8-30F8-43F9-8227-DFAF35BA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9624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with explicit tradeoffs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7B57D2-BB36-42CD-AAAE-4BE84000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14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83F396-B5B2-4794-B84B-CA7D3390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67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E3EABF-7AEC-499B-87FC-DFE8E1A5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Executed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2FEB8B-A3DC-40FF-94C1-3421A5C0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52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Retrieve criteria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3D1AD8-028B-4865-B820-A42BF50B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28EF29-2742-4E0C-B6D6-997DF0C7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Executed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A314F2-17C1-4649-B371-2C2328C6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14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Hold lab slot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BAC103-ED50-4E45-A89C-D36A656A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4A93A6-7F28-49DA-9E26-0E4842CB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OR director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F249A3-E7C0-44F7-8859-0DB35ABF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76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Approve schedule swap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786C39-165B-4E45-9082-C7DC575B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021E87-F773-4F6C-ABC1-30C21EAA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00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Access lead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502AAC-0A0B-44A6-9518-77199C1F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38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Approve payer submission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2B97D9-337D-45B3-9F6A-EEC67AD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8EA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CD8765-6507-49EB-AB07-13C97816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Reversible work executes automatically. Consequential actions stop at named human approvals.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7E4830-E5D0-491F-BF04-C438CAC6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57514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A1C33D-3365-43C0-84B1-CA2F98DE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DC95B-4F9F-4BC0-AE66-4A225C28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SCENARIO RESOLVED · MODELED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E0C60-2B2F-4810-985F-C17E303E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590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Same robot. More care.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E3946-EC12-4E46-92F4-87828451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No clinical judgment was delegated. Coordination latency was compressed around existing assets and staff.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86505-574D-4A92-869E-C8E0688B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23 → 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10A9F-6C48-430F-BC50-9BF789D2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manual touches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330AB-FF25-4054-BBF3-091B1552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09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 → 96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ED8924-8DEB-49A7-82A1-E0AC4229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OR minutes recovered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600BC6-10A2-4179-89FC-6265CB9A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6.5h → 1.8h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96773D-DF49-4829-8FBA-A6EF63D3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overtime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C0EB6-9FDC-41E6-9CFD-ED150E50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38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$0 → $41K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190EF-403A-4442-BB06-5B3D20F5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modeled margin protected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33207-BDB2-43DE-8F34-EBA9DC03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19750"/>
            <a:ext cx="5619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C0890E-53D6-4C54-B127-181F88B4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619750"/>
            <a:ext cx="527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ASSUMPTIONS  ·  one avoided cancellation · 96 OR minutes · local contribution estimate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E7C868-538F-423F-A064-7C244EA5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Illustrative outputs only; not a clinical or financial forecast.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C5E62E-8EA0-4BF9-BC00-DFCD3515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3554d41a440dc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2286000"/>
            <a:ext cx="5619750" cy="3162300"/>
          </a:xfrm>
          <a:prstGeom xmlns:a="http://schemas.openxmlformats.org/drawingml/2006/main" prst="roundRect">
            <a:avLst>
              <a:gd name="adj" fmla="val 6627"/>
            </a:avLst>
          </a:prstGeom>
        </p:spPr>
      </p:pic>
    </p:spTree>
    <p:extLst>
      <p:ext uri="{BB962C8B-B14F-4D97-AF65-F5344CB8AC3E}">
        <p14:creationId xmlns:p14="http://schemas.microsoft.com/office/powerpoint/2010/main" val="1053767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F9D432-DD66-439C-989A-AE031EFD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08C7-F351-4D03-8DD3-6D71A49D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EVIDENCE, NOT INEVITABILITY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6089A-D4CF-4B4A-87B9-9936985E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47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Embedded AI is already moving operational outcomes.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EDF2C-4253-4133-8270-B201B39C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Early implementations show the value of intelligence inside the workflow—not beside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D74C5-A360-411F-8767-8B25C9BD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0" cy="3105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F4E53-DB88-4473-970E-A0281ADD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HARTFORD HEALTHCARE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810BE-74A2-4A2F-86F9-81D3A1E3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−0.63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32AC0-DC70-4D6D-A20E-1DB7E36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days of length of stay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C44C4-CA6B-4393-B422-6644D8D3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$52–67M estimated annual benefit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8A415-F0F4-4AD4-80E6-DA22E40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E9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4CCD8-9EB0-4094-B350-912539BD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OBSERVATIONAL IMPLEMENTATION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4028A-7CCB-418C-9138-7A8FDEF9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PENN ORACLE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39B4C-B8BC-4133-A45F-D22707D9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884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EAE67-672C-4AD8-91A7-C2F356D2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052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fewer scheduling-error hours / year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9BEE17-047A-4623-897F-1D26FB0E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958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5% more accurate OR scheduling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33EB0-A35A-4595-9211-E38D0DF1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863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E9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CC9F64-3CC0-44F2-B32E-76AE28A6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86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HEALTH-SYSTEM IMPLEMENTATION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C654F-61D4-4A67-9A96-B3C7885E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A578F-0DFE-48CE-B82E-30E36D50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531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These results support the mechanism. They do not yet prove a fully agentic hospital.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33EB2-FCC7-4FE4-A81B-0FFB7614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Sources: INFORMS Analytics (Hartford HealthCare); University of Pennsylvania Center for Health Care Transformation and Innovation (ORACLE).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50828-D205-4893-A866-B100ADC1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915694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BF306F-2A1D-4726-81CB-3089803F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9CDBF7-A43F-4EAD-907A-0CD164E1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E9BEF-14A5-44C6-98CC-B55D8C84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B7BC7-329D-4A0E-8DDA-45EDB2AC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15445-6C85-45CB-99A7-7713328A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B3D97-D42D-4D8F-9C2F-458A157E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FF145-1D0F-4A41-88AA-BDCB2E8B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48340-0361-40A3-8D06-3C4BC395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B169A-0F87-48CC-8115-7621BD32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E7F10-0B3C-4FC5-9021-C53FFBCD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76533F-2C87-420F-9703-7D76E1C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9804D-9660-42CC-9072-C669BFFF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BEEAC-F636-44E2-AB83-004068EC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B564F-F83D-4298-97A8-FE71A334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DFF80-FFE0-44BD-8AE3-DB962DAF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39DD72-E31A-477D-B9B1-2C51E94E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B5361-7B6F-4171-9144-5CF53898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3F5DA-F67E-43C6-BEDF-A1F205C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20797A-2DA0-4AEA-9D3B-0FAB9758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09A5D-4D5F-4F4B-A26B-7756020C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493CE-7CD0-4CDE-B389-24DCCC27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7D2156-B9EB-4A4C-8ABA-C93E8926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90057-B16B-4AE3-ADAE-4AE17BBA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75EB89-C225-4EA7-8DE8-0E81C90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0ED037-9D44-44CD-8D87-81A6ACFC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E8C1FA-A114-4A0D-B40F-7A5336D7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5BA4D-B571-41E8-86CC-5174C172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41A0EB-E6A3-4E18-B531-42412DEC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E21DA-DAC3-4670-BCF1-EB4EAFAE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2B0D14-BA93-4164-A818-D640A7B8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B6EFAB-FC44-40AC-9A06-7089AB75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2AC8BB-B3E9-4571-B317-50A944DE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WARNING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C3B7D2-25E6-4980-A67E-68BC86FE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Visibility alone does not improve flow.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FB9906-0C93-48C0-AEEB-D952A542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A comparative NHS command-center study found no significant, consistent improvement in patient-flow outcomes.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583417-1697-45F5-8111-CCF814F5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736777-C434-47F7-B086-BA9A5C95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0331ED-3364-4AF7-92BF-46EF42B5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91A499-23BF-4093-AF27-C1D9644F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19E220-C8EA-4D1B-A224-54D186DB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8D512D-8B81-463D-8669-88DC781F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FC8FA5-1393-4ADF-B620-1653A0A1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48808E-4680-4CA5-A261-4E46F383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2B0427-070B-440A-A732-12DFD595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348F2A-134E-4965-856F-6349A9D2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3F3C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6A623F-55F8-47FD-9A8D-88370209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D4F051-6FFA-4009-AB6E-309B5016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F01F77-3B1F-40AD-B7C6-BB22424F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6949FE7-C8E6-4CDA-83D2-CBD322B3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377D56-59E1-4CDA-8362-68B00FDA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B40BCA-FE39-4973-98DE-C40DA581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BE27F4-8995-4353-A012-90AD3A01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AD9469-E883-4691-B288-09E92285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F006751-2BAF-42B2-9385-92A93013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86350"/>
            <a:ext cx="3695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COMMAND CENTER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79FBD-FE1C-4D3F-9C51-82CD1DF7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290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2467F7-9EF6-43F2-9429-7914437B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43150"/>
            <a:ext cx="5391150" cy="2857500"/>
          </a:xfrm>
          <a:prstGeom xmlns:a="http://schemas.openxmlformats.org/drawingml/2006/main" prst="roundRect">
            <a:avLst>
              <a:gd name="adj" fmla="val 7333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697985-B46C-4A78-BCEA-9F81B4DA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09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PATIENT-FLOW OUTCOME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CC57FC-91AD-47A3-8242-998C5EB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10000"/>
            <a:ext cx="445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48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40B7A8D-AF1F-400F-886E-C7EFB4C8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NO CONSISTENT CHANGE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2047D0-44FB-4D30-AF39-4733690D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50545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Information without ownership and action rights is only a better view of the bottleneck.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BF6423-B23F-4A69-BD5E-71B57BA8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Source: peer-reviewed comparative study of the Bradford NHS command centre, BMJ Health &amp; Care Informatics / PMC10566538.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EB39D1-844B-454E-A0A1-F11F00B3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478206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0B079D-56C4-4F88-8084-432A001E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7B7EB8-70AE-422D-9D91-C5C2A098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CONTROL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DF4EDE-03D2-48FA-B666-2C1FC1C0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Autonomy is a risk budget—not a feature.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05B30-49C8-4C22-BDD7-2DA730B1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Authority should narrow as consequence rises.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9036A-76CB-4D59-912D-5C074E0C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46685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CONSEQUENCE RISES  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6090E-B31E-4391-AE5E-D66AEA7A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828800" cy="21717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7AA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54614-A288-4AD9-801E-491232C8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B55EA-FA33-4D94-8694-5681CD60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3B87D-42F0-41F1-8343-F746FBEE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detect + explain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A397D-D3B5-4A1F-A67A-5ED741A9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57500"/>
            <a:ext cx="1828800" cy="200025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51DF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80FE5E-5899-4329-BB83-70B7749D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28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8E271-F41E-4D97-81BE-B2D3759A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909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RECOMMEND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38EED-AB4E-4E0D-8278-C7001A33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options + tradeoffs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A7041-AAA8-400A-BC41-C960D96A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18288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60D79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C3F9F-A33E-4C03-B084-23D2E116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19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349C2-8001-44F8-BDFD-9F583E6E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814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EXECUTE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E99987-D57D-4021-ABCC-A0FC3B40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reversible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B4542-12F0-404A-BF68-19A0B87D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38500"/>
            <a:ext cx="18288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F3C6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4A6F9D-A0AE-4631-8EF9-8B43A758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09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267FB-F0C1-4E47-BA30-DB0E0CA3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719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ORCHESTRATE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DFCEC8-5A72-4CD4-8381-4E605298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named approval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AB698D-8904-408D-A1DA-F7F87562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29000"/>
            <a:ext cx="18288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7E4E5"/>
          </a:solidFill>
          <a:ln xmlns:a="http://schemas.openxmlformats.org/drawingml/2006/main" w="19050">
            <a:solidFill>
              <a:srgbClr val="FF748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4436EB-D711-4D96-942A-EBF91E27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600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935810-981F-4473-9F01-184346A6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962400"/>
            <a:ext cx="1485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CLINICAL / IRREVERSIBLE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24F35-4A3E-451B-9CFE-A794D25A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human accountability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284731-6B48-485F-8AE7-7110FB8C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72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E39877-BB5B-413F-A99B-F7B3A10A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AUTOMATIC AUTHORITY NARROWS  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2669DE-0F27-4B1B-A000-C63806A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CF3416-7B1F-436D-9EC5-5A9C6E74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AUDIT · ROLLBACK · APPROVAL · STOP CONDITIONS · HUMAN ACCOUNTABILITY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609241-0966-4A92-A6BF-7FB2DF8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51758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88962D-EAAC-4084-B1A9-2C5FB2EB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0FFEB-1990-4D03-8CB6-500CFE49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36956-A346-4A5E-A7F7-5CEFD7B0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DDEF6-F703-4CD0-B599-45CBBF72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9AE5A-97F2-422E-8370-B73FD872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71599-CFCF-46F4-A079-4237044B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455A2-A242-49FB-AA50-41D622BA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70860-CA03-4DBB-89D5-C126CDC5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AAC39-2DD0-4A4C-9FDE-CCECBFAC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652297-39C1-4822-84B9-A89FE31C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9ACC9-5548-4230-8AB7-74025EB7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278FD-242A-4D22-9F01-A860F113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33FF3-D9F7-4266-87C6-E2F9FF20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6E013-A970-4478-848A-3219DE5B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9761CC-41BB-403F-967F-6D4F03EE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EBF4E-8141-44DC-B847-51C44C27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027626-F602-4DA2-B744-A1967E8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CCAA59-08C7-4379-92BD-259846F9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62409E-5E7C-4AE6-BA8D-0C412329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17A525-9A0A-4D56-9C6A-CFF81DB2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2D0AC3-DAF1-4C88-9BD0-B135F4FF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B83B0-FF10-4922-B4B5-4AC483F9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D68B40-6A08-44B4-A1D5-7997F331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5A5ADF-BDA6-4D40-95D7-3EE3E2ED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77F49F-74B0-4B45-A4B3-D79B62BF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EB5D81-E10B-4F41-BD4D-616A6B5C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828B97-2A07-4B1A-812B-38B2CA32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284FFB-FA0D-44C0-A82C-3C0C8EFC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3B9C13-6618-47C1-B2FB-38CDCDF2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B8F77E-2C10-4F37-BFA4-BDECDA6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7DDF21-E8EE-4C15-BA50-7E13BF40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F3B341-78E7-47BA-B115-7CEA2324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EXECUTIVE DECISION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64B365-24CC-45D4-89A0-6B6F5FD4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57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Prove one flow in 90 days.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9A5E8D-41AA-4070-940C-BF92C1F4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Buy fewer pilots. Create one closed-loop operating proof.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B438A2-8631-49C7-8B5F-828F65F7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DAY 00–30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B89A72-97ED-4ED6-A060-A64E425A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FRAME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C9DF27-D286-4B65-9C02-AC7B2DF7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AA7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4DB823-DB2C-4008-B9C4-82EEA067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outcome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owner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baseline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6ADB86-4817-4FCC-9984-9EC58AE4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1D7624-3D1A-40C9-A7EA-DAFB73C9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DAY 31–60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B59C94-A76B-4FF6-BA15-41342EB2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SHADOW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05F26D-8A0B-45D0-978C-E61115FF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1DF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9AACB1-E569-47B2-8C49-0EB4986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Connect + replay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Test gates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Refine policy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ACF92C-9C6F-4433-A177-1CDDAF86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623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58F787-81DF-4E2A-97B2-DFA311E9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DAY 61–90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961617F-76F9-42BC-AC7A-36E8C3B9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TRANSACT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CA9091-89AD-42D6-B1D0-2977A4A6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3F3C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930646-F5F1-46AE-A34D-7204733A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Reversible actions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Named approvals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Causal evaluation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605E1D-BC0E-464A-825A-58FBC5CE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ONE CAUSAL SCORECARD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D16580-DAD6-4EF4-8F8E-2CF33699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8D81D2-F2C5-4226-859A-C39FA57B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9DF052-AAF1-4E1B-8602-48AFBE5D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C59F1F-11E2-4973-A9D8-FC2C2DEB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FAE25A-D41A-41C7-8A5E-ED12E0C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A2E7DC2-E073-415C-A93D-7E6F2F9D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WORKFORCE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9E28FD-AA76-4807-9270-2BF6D443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A82ED12-9330-4733-AB14-F016B395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ECONOMICS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F8C867-1C4A-4C2F-8409-6A4673C5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9BB814-296F-4E19-B328-41A16C5A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TRUST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5D710F-B7E9-4A4C-B658-B490381C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0">
            <a:solidFill>
              <a:srgbClr val="83F3C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661F62-681A-4D89-9B25-0C626C97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SCALE ONLY WHEN THE SCORECARD MOVES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1788EDD-1C72-4BE2-A239-4762015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634502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6CC782-E76B-4507-9E57-CDC29F8C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7A597-688E-4EEC-8B48-030C2138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06E8D-39E2-48C5-8A30-DED1042B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98DC0-0EF5-4192-A9A2-BAB3CDAC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9374BC-CF6B-4DBB-8283-6695E5CD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A1228-4F48-4DC7-9FAF-76FE9263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2988A-AFCB-4DD6-AFA6-E5569DB7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E1E41-14E8-4C64-AB0D-EF8C4C87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C140E-3D14-43A8-9610-32EDD262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18E25-F790-4666-8EEA-154EBB6A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4B5DD-6C10-437E-AE3A-8F98E622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F28D9-4BE7-4A59-AA09-9B5F18C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8D4E6-4469-4942-B41D-23C6AB3C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1AAB9-6846-4317-9B9F-5DA569BD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9B025-5D71-4303-92A8-05696D6E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F8DE95-A3F4-4136-A85D-66F9E853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FA73E-5C47-4681-B3F5-FA6F35FC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624829-AEC6-4340-B77E-A9C3C163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62E8AB-CAAE-4671-9449-95920DAD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223FD-AEE7-4CAA-8E3B-94F78206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32D8AB-F663-4CBF-8D47-516B320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681634-DD6C-4E24-97D5-ADFD1E62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97BF0-FFC5-4084-B624-7D1EDCD9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56EC1-C237-4049-B159-FC93843C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C53967-0C10-4111-A692-164A4F8C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112EB-F520-47B7-BED8-675191B9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66BDF0-E98F-46F2-AAE2-530460A8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D9D203-152F-4453-8165-1E200126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94E7E7-DEFE-40D7-9AB7-021A5010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D839B-E7CB-4135-B91C-8BF600E6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68CEC3-5E62-4C2F-A7F3-5FFB1401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F29D8D-D23C-4DFA-8F52-5DD1D91C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AI TRANSFORMING HOSPITAL OPERATIONS · SRS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777B8C-8FA4-4BCF-87B8-C411EB34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28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future hospital is</a:t>
            </a:r>
          </a:p>
          <a:p xmlns:a="http://schemas.openxmlformats.org/drawingml/2006/main">
            <a:pPr algn="l">
              <a:def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coordinated—not autonomous.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23564B-B853-4554-9B59-A72B4154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The winners will turn signals into safe action faster—</a:t>
            </a:r>
          </a:p>
          <a:p xmlns:a="http://schemas.openxmlformats.org/drawingml/2006/main">
            <a:pPr algn="l">
              <a:def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not simply accumulate more AI.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D8DA07-BA35-44CC-97D3-FFD18371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95AD4A-F7AB-4302-AF37-2538A010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744EF8-EE71-4CEF-98BA-25D05FB1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FLOW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B41D5E-2515-496A-9776-4647AE83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959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D14149-1457-4C3D-82BD-E22C2993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DA19BB-85C9-4934-9AE8-BC9C7DB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OWNER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F5DED4-6F9C-4071-9AAF-6A3476CD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68B1A3-8CA2-4240-AA3C-2ED13BA7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B24F27-5862-4378-84FA-BC065130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SCORECARD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32AE7D-B626-4709-968C-A2E8106E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62300"/>
            <a:ext cx="18669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0">
            <a:solidFill>
              <a:srgbClr val="83F3C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B1CD76-7FB0-48B5-83DD-259C89B6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62300"/>
            <a:ext cx="1866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RUN THE TWIN  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084D58-94D2-4BF4-937D-EB7DF0B8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66834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2026-07-15T03:07:32.7680000Z</dcterms:created>
  <dcterms:modified xsi:type="dcterms:W3CDTF">2026-07-15T03:07:32.7680000Z</dcterms:modified>
</coreProperties>
</file>