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f32a55cdd84f70" /><Relationship Type="http://schemas.openxmlformats.org/officeDocument/2006/relationships/extended-properties" Target="/docProps/app.xml" Id="R951f074fab7140ce" /><Relationship Type="http://schemas.openxmlformats.org/officeDocument/2006/relationships/officeDocument" Target="/ppt/presentation.xml" Id="R7718b807af6448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d8694df5454cfa"/>
  </p:sldMasterIdLst>
  <p:notesMasterIdLst>
    <p:notesMasterId xmlns:r="http://schemas.openxmlformats.org/officeDocument/2006/relationships" r:id="Rf57fd3cf80a54206"/>
  </p:notesMasterIdLst>
  <p:sldIdLst>
    <p:sldId xmlns:r="http://schemas.openxmlformats.org/officeDocument/2006/relationships" id="256" r:id="Rbed8d5e6ca1b4d82"/>
    <p:sldId xmlns:r="http://schemas.openxmlformats.org/officeDocument/2006/relationships" id="257" r:id="Rac7ef8d069b941f8"/>
    <p:sldId xmlns:r="http://schemas.openxmlformats.org/officeDocument/2006/relationships" id="258" r:id="R6c5679285ac041fb"/>
    <p:sldId xmlns:r="http://schemas.openxmlformats.org/officeDocument/2006/relationships" id="259" r:id="R3ef7a4a205e840d7"/>
    <p:sldId xmlns:r="http://schemas.openxmlformats.org/officeDocument/2006/relationships" id="260" r:id="R934e00ba61184813"/>
    <p:sldId xmlns:r="http://schemas.openxmlformats.org/officeDocument/2006/relationships" id="261" r:id="R8a4d19e946f64d15"/>
    <p:sldId xmlns:r="http://schemas.openxmlformats.org/officeDocument/2006/relationships" id="262" r:id="R4efa15d5630842c8"/>
    <p:sldId xmlns:r="http://schemas.openxmlformats.org/officeDocument/2006/relationships" id="263" r:id="R4c17eeeef4fa4595"/>
    <p:sldId xmlns:r="http://schemas.openxmlformats.org/officeDocument/2006/relationships" id="264" r:id="Ref64111dffcb4d4f"/>
    <p:sldId xmlns:r="http://schemas.openxmlformats.org/officeDocument/2006/relationships" id="265" r:id="R9f7351b106644bba"/>
    <p:sldId xmlns:r="http://schemas.openxmlformats.org/officeDocument/2006/relationships" id="266" r:id="R861960757ac847ce"/>
    <p:sldId xmlns:r="http://schemas.openxmlformats.org/officeDocument/2006/relationships" id="267" r:id="Rc22ec239a1744856"/>
    <p:sldId xmlns:r="http://schemas.openxmlformats.org/officeDocument/2006/relationships" id="268" r:id="R05a7e99c1dce48a5"/>
    <p:sldId xmlns:r="http://schemas.openxmlformats.org/officeDocument/2006/relationships" id="269" r:id="R5611130479ad4274"/>
    <p:sldId xmlns:r="http://schemas.openxmlformats.org/officeDocument/2006/relationships" id="270" r:id="R8ea756fb12264011"/>
    <p:sldId xmlns:r="http://schemas.openxmlformats.org/officeDocument/2006/relationships" id="271" r:id="Rc0e2fd511e78403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8a9c089a564eb8" /><Relationship Type="http://schemas.openxmlformats.org/officeDocument/2006/relationships/slideMaster" Target="/ppt/slideMasters/slideMaster1.xml" Id="Rddd8694df5454cfa" /><Relationship Type="http://schemas.openxmlformats.org/officeDocument/2006/relationships/notesMaster" Target="/ppt/notesMasters/notesMaster1.xml" Id="Rf57fd3cf80a54206" /><Relationship Type="http://schemas.openxmlformats.org/officeDocument/2006/relationships/presProps" Target="/ppt/presProps.xml" Id="Rad288f428e264c32" /><Relationship Type="http://schemas.openxmlformats.org/officeDocument/2006/relationships/tableStyles" Target="/ppt/tableStyles.xml" Id="Rcc2db517e6134911" /><Relationship Type="http://schemas.openxmlformats.org/officeDocument/2006/relationships/slide" Target="/ppt/slides/slide1.xml" Id="Rbed8d5e6ca1b4d82" /><Relationship Type="http://schemas.openxmlformats.org/officeDocument/2006/relationships/slide" Target="/ppt/slides/slide2.xml" Id="Rac7ef8d069b941f8" /><Relationship Type="http://schemas.openxmlformats.org/officeDocument/2006/relationships/slide" Target="/ppt/slides/slide3.xml" Id="R6c5679285ac041fb" /><Relationship Type="http://schemas.openxmlformats.org/officeDocument/2006/relationships/slide" Target="/ppt/slides/slide4.xml" Id="R3ef7a4a205e840d7" /><Relationship Type="http://schemas.openxmlformats.org/officeDocument/2006/relationships/slide" Target="/ppt/slides/slide5.xml" Id="R934e00ba61184813" /><Relationship Type="http://schemas.openxmlformats.org/officeDocument/2006/relationships/slide" Target="/ppt/slides/slide6.xml" Id="R8a4d19e946f64d15" /><Relationship Type="http://schemas.openxmlformats.org/officeDocument/2006/relationships/slide" Target="/ppt/slides/slide7.xml" Id="R4efa15d5630842c8" /><Relationship Type="http://schemas.openxmlformats.org/officeDocument/2006/relationships/slide" Target="/ppt/slides/slide8.xml" Id="R4c17eeeef4fa4595" /><Relationship Type="http://schemas.openxmlformats.org/officeDocument/2006/relationships/slide" Target="/ppt/slides/slide9.xml" Id="Ref64111dffcb4d4f" /><Relationship Type="http://schemas.openxmlformats.org/officeDocument/2006/relationships/slide" Target="/ppt/slides/slide10.xml" Id="R9f7351b106644bba" /><Relationship Type="http://schemas.openxmlformats.org/officeDocument/2006/relationships/slide" Target="/ppt/slides/slide11.xml" Id="R861960757ac847ce" /><Relationship Type="http://schemas.openxmlformats.org/officeDocument/2006/relationships/slide" Target="/ppt/slides/slide12.xml" Id="Rc22ec239a1744856" /><Relationship Type="http://schemas.openxmlformats.org/officeDocument/2006/relationships/slide" Target="/ppt/slides/slide13.xml" Id="R05a7e99c1dce48a5" /><Relationship Type="http://schemas.openxmlformats.org/officeDocument/2006/relationships/slide" Target="/ppt/slides/slide14.xml" Id="R5611130479ad4274" /><Relationship Type="http://schemas.openxmlformats.org/officeDocument/2006/relationships/slide" Target="/ppt/slides/slide15.xml" Id="R8ea756fb12264011" /><Relationship Type="http://schemas.openxmlformats.org/officeDocument/2006/relationships/slide" Target="/ppt/slides/slide16.xml" Id="Rc0e2fd511e7840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313920e64549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867f3b55444f47" /><Relationship Type="http://schemas.openxmlformats.org/officeDocument/2006/relationships/notesMaster" Target="/ppt/notesMasters/notesMaster1.xml" Id="Rad646a9e681a49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d6f842e1164400" /><Relationship Type="http://schemas.openxmlformats.org/officeDocument/2006/relationships/notesMaster" Target="/ppt/notesMasters/notesMaster1.xml" Id="Rc0356ecbf56b48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c47589c1264e7a" /><Relationship Type="http://schemas.openxmlformats.org/officeDocument/2006/relationships/notesMaster" Target="/ppt/notesMasters/notesMaster1.xml" Id="Ref0e174904a447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ec9db605c84be1" /><Relationship Type="http://schemas.openxmlformats.org/officeDocument/2006/relationships/notesMaster" Target="/ppt/notesMasters/notesMaster1.xml" Id="R3b4df3b341134c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8e7b842b0447f9" /><Relationship Type="http://schemas.openxmlformats.org/officeDocument/2006/relationships/notesMaster" Target="/ppt/notesMasters/notesMaster1.xml" Id="Re5844b8af75144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21f20cfe0647ff" /><Relationship Type="http://schemas.openxmlformats.org/officeDocument/2006/relationships/notesMaster" Target="/ppt/notesMasters/notesMaster1.xml" Id="R7ddb92b8862d4e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90f74070cf4898" /><Relationship Type="http://schemas.openxmlformats.org/officeDocument/2006/relationships/notesMaster" Target="/ppt/notesMasters/notesMaster1.xml" Id="Recdad70ca48c4c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ec04ed93c04ee4" /><Relationship Type="http://schemas.openxmlformats.org/officeDocument/2006/relationships/notesMaster" Target="/ppt/notesMasters/notesMaster1.xml" Id="R3423366e5ab94a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9a34c9c2054459" /><Relationship Type="http://schemas.openxmlformats.org/officeDocument/2006/relationships/notesMaster" Target="/ppt/notesMasters/notesMaster1.xml" Id="R9ce1d57d4b0042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92243ab18934054" /><Relationship Type="http://schemas.openxmlformats.org/officeDocument/2006/relationships/notesMaster" Target="/ppt/notesMasters/notesMaster1.xml" Id="R8ec7c9fe568840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53a12d6c9a4b9d" /><Relationship Type="http://schemas.openxmlformats.org/officeDocument/2006/relationships/notesMaster" Target="/ppt/notesMasters/notesMaster1.xml" Id="Rd2b8cf571c2742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4393b6f87048e5" /><Relationship Type="http://schemas.openxmlformats.org/officeDocument/2006/relationships/notesMaster" Target="/ppt/notesMasters/notesMaster1.xml" Id="Rf20a3dbbaeed49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c2f8b3c139464b" /><Relationship Type="http://schemas.openxmlformats.org/officeDocument/2006/relationships/notesMaster" Target="/ppt/notesMasters/notesMaster1.xml" Id="R29e5fe6c5d81448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dd3062c978d4a71" /><Relationship Type="http://schemas.openxmlformats.org/officeDocument/2006/relationships/notesMaster" Target="/ppt/notesMasters/notesMaster1.xml" Id="R0292b54ddbc74d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806f19181834b3d" /><Relationship Type="http://schemas.openxmlformats.org/officeDocument/2006/relationships/notesMaster" Target="/ppt/notesMasters/notesMaster1.xml" Id="R64d986bb89c548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876aa45101d4a81" /><Relationship Type="http://schemas.openxmlformats.org/officeDocument/2006/relationships/notesMaster" Target="/ppt/notesMasters/notesMaster1.xml" Id="R3dded0d1d11649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tension: the robot and surgeon can be ready while four ordinary handoffs still threaten the case. Pause after the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Central thesis: the hospital is already full of intelligence; it is short on coordination.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this a board-level problem, not a technology trend. Costs, demand, and acuity are rising together; coordination waste is no longer operational trivia.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 the case from authorization to incision. Each function can perform locally and the case can still fail globally because no workflow owns the end-to-end clock.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frame this as a smarter dashboard. The distinctive value is a closed loop: sense, plan, act within permissions, and verify completion.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category distinction explicit: these are six value-creation interfaces to one operating layer, not six disconnected AI portfolios.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Diagnosis becomes a routing decision; the Digital Front Door becomes a resolution relationship; Robotics becomes distributed capacity; Longitudinal Care becomes a managed queue; Task Automation becomes a governed outcome; Precision Medicine becomes a learning operating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Decision rules: build pathways, measure resolution, manage the episode, assign every signal, redesign before automating, and connect each precision insight to an 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value does not compound because six tools coexist. It compounds because every episode produces better context, safer actions, and measurable learning for the next 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into the web app. Say: watch four operational workstreams—access, readiness, capacity, and flow—coordinate one synthetic robotic case. The relevant strategic levers are the Digital Front Door, Robotics, Longitudinal Care, and Task Automation.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each risk and its source. The demonstration begins with fresh signals, not a prompt asking a chatbot to invent a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agents work in parallel, but authority is not parallelized away. Reversible actions can execute; the OR director and Access lead approve their respective consequential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Label the result as scenario-resolved and modeled. Open the audit strip briefly. The key point is not the exact dollar figure; it is the governed mechanism that turns existing capacity into care.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precise about evidence grade. Hartford is observational and its benefit estimate is modeled; Penn is a health-system implementation. Together they support workflow-integrated intelligence, not autonomous hospital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counterevidence to earn trust. The lesson is not that command centers fail; it is that visibility without redesigned decisions, ownership, and action rights is insufficient.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Autonomy expands by reversibility and consequence, not technical possibility. Automate low-risk administrative work, gate consequential operational actions, and keep clinical accountability visibly human.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action is deliberately narrow: choose one constrained surgical flow with one executive owner, explicit action rights, and a baseline. Shadow first, transact only reversible actions, and scale only when the causal scorecard moves.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decision, not the technology. One flow. One owner. One scorecard. The point is coordinated, human-governed execution—not autonomous clinical care.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788b5b0ba044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6e4b89474f4e02" /><Relationship Type="http://schemas.openxmlformats.org/officeDocument/2006/relationships/slideLayout" Target="/ppt/slideLayouts/slideLayout1.xml" Id="R1eefb44ad6aa4c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efb44ad6aa4c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930979c494357" /><Relationship Type="http://schemas.openxmlformats.org/officeDocument/2006/relationships/notesSlide" Target="/ppt/notesSlides/notesSlide1.xml" Id="Rb979d711c14b4b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435b47ce44d04" /><Relationship Type="http://schemas.openxmlformats.org/officeDocument/2006/relationships/notesSlide" Target="/ppt/notesSlides/notesSlide2.xml" Id="Rc0a905a70f7349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a47fb920b47e7" /><Relationship Type="http://schemas.openxmlformats.org/officeDocument/2006/relationships/notesSlide" Target="/ppt/notesSlides/notesSlide3.xml" Id="Rd8928403fcff43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5579684794f6a" /><Relationship Type="http://schemas.openxmlformats.org/officeDocument/2006/relationships/notesSlide" Target="/ppt/notesSlides/notesSlide4.xml" Id="Rf4cfbd1651e745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c9161953b493f" /><Relationship Type="http://schemas.openxmlformats.org/officeDocument/2006/relationships/notesSlide" Target="/ppt/notesSlides/notesSlide5.xml" Id="R28b1597c2e8545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23ebba15a4052" /><Relationship Type="http://schemas.openxmlformats.org/officeDocument/2006/relationships/notesSlide" Target="/ppt/notesSlides/notesSlide6.xml" Id="R8d1280f99c1b40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1e514a6b7440c" /><Relationship Type="http://schemas.openxmlformats.org/officeDocument/2006/relationships/notesSlide" Target="/ppt/notesSlides/notesSlide7.xml" Id="Reeb1eff557c24b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f7373d26b47bb" /><Relationship Type="http://schemas.openxmlformats.org/officeDocument/2006/relationships/image" Target="/ppt/media/image.jpeg" Id="R5ec5e826eb094c89" /><Relationship Type="http://schemas.openxmlformats.org/officeDocument/2006/relationships/notesSlide" Target="/ppt/notesSlides/notesSlide8.xml" Id="R17ffa5fce1b042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13c9abc124652" /><Relationship Type="http://schemas.openxmlformats.org/officeDocument/2006/relationships/notesSlide" Target="/ppt/notesSlides/notesSlide9.xml" Id="R4a1da312b3404b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a489a90704d6c" /><Relationship Type="http://schemas.openxmlformats.org/officeDocument/2006/relationships/notesSlide" Target="/ppt/notesSlides/notesSlide10.xml" Id="R66d9cecbfe9b48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06a107b4d483e" /><Relationship Type="http://schemas.openxmlformats.org/officeDocument/2006/relationships/image" Target="/ppt/media/image2.jpeg" Id="R3d4c68461ef34625" /><Relationship Type="http://schemas.openxmlformats.org/officeDocument/2006/relationships/notesSlide" Target="/ppt/notesSlides/notesSlide11.xml" Id="R4b5264551a8f49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de896cf6c428f" /><Relationship Type="http://schemas.openxmlformats.org/officeDocument/2006/relationships/notesSlide" Target="/ppt/notesSlides/notesSlide12.xml" Id="R73a691e4caf14e4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1adbd403c47d1" /><Relationship Type="http://schemas.openxmlformats.org/officeDocument/2006/relationships/notesSlide" Target="/ppt/notesSlides/notesSlide13.xml" Id="Rf662a2ad95f3456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cec62918b64e30" /><Relationship Type="http://schemas.openxmlformats.org/officeDocument/2006/relationships/notesSlide" Target="/ppt/notesSlides/notesSlide14.xml" Id="Rc9d6985f1cd543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a2b3e17dc43a5" /><Relationship Type="http://schemas.openxmlformats.org/officeDocument/2006/relationships/notesSlide" Target="/ppt/notesSlides/notesSlide15.xml" Id="R885d70f8b7ec43a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66d331df147a6" /><Relationship Type="http://schemas.openxmlformats.org/officeDocument/2006/relationships/notesSlide" Target="/ppt/notesSlides/notesSlide16.xml" Id="Rdb54bf8aee5c49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546F70-4C58-40F7-AC8D-0C52AB90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E38E9-3C94-49D9-9EE6-1D885147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D5A1D-0DF2-4630-9227-33A83F43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12263-65C6-48C3-90B1-EBD4FC35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9FED05-632E-4C56-9453-1BF87B9D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2D33F-A25D-46D3-9F60-4B9DA453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E4498-47BB-4ADC-9E76-7F9FD42B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7F916-491B-48AE-99DA-DEB51DFF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3AF6F-E86D-4F45-BD98-C308CB5C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195915-5E43-4282-8C0E-60B081E1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500B3-4B52-44EA-B55E-2F72C634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BA4F8-D8CA-417B-88FA-665158D8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AAC29-E092-4E1B-9A15-4D3EA33A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5CDCF-C66A-4C14-9DE7-51DB505A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6DBCEF-06F5-43B6-85F8-0E06B864D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40CB36-D293-47EE-800E-9ED8F631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05F433-B9A4-4AA7-A012-A0F1F51A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955278-0541-4F59-A554-012412F9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D9A0E1-8F5A-4529-A9EF-8E16156B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6967B4-8C99-40E8-96F3-DFECB91B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479302-5C0F-44DD-92C3-B1D33CBE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596277-0E8D-43A3-8216-6ED67E2F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9EE019-27B8-4E94-9D20-8B318018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7472D5-B1C6-4736-996A-AF74CF2D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F790CF-1F3E-434C-B8FE-17838046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6C0EAA-B460-4484-A257-0F7469C6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51A48D-1E62-4412-B6D6-114E71B2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B95514-83D6-4F5D-906A-991F4E4D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2980EB-D018-4610-A3F8-C133CE57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CC25E4-AFA7-42BA-898D-AAF74739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2270DE-5BA3-4957-91FF-93DF5205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502E29-BE9E-4004-9BCF-1DAA8842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AI TRANSFORMING HOSPITAL OPERATIONS · SRS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128A00-6ECC-4995-B9BB-3AD343DD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6191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robot is ready.</a:t>
            </a:r>
          </a:p>
          <a:p xmlns:a="http://schemas.openxmlformats.org/drawingml/2006/main">
            <a:pPr algn="l">
              <a:def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hospital isn’t.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29B580-96E1-4259-AE32-6F1019D7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rPr>
              <a:t>Robotic surgery made the procedure precise.</a:t>
            </a:r>
          </a:p>
          <a:p xmlns:a="http://schemas.openxmlformats.org/drawingml/2006/main">
            <a:pPr algn="l">
              <a:def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C2CDD1"/>
                </a:solidFill>
                <a:latin typeface="Avenir Next"/>
                <a:ea typeface="Avenir Next"/>
                <a:cs typeface="Avenir Next"/>
              </a:rPr>
              <a:t>AI must make the episode around it coherent.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AFE075-FA4A-4009-92EF-17DE35FB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028700"/>
            <a:ext cx="4057650" cy="476250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81B9EB-6408-48CC-9D2A-2E205FD8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3335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ONE ROBOTIC CASE · 48 HOURS OUT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298F64-E2AE-43BC-9928-56CB41C4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28800"/>
            <a:ext cx="314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0" b="0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5400" b="0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47:36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64220B-61E5-4924-BC56-1B914B79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hours to incision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4B573C-E460-40E7-9460-06996799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AE4D44-6480-47D6-A0D8-76622A19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Authorization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FD3FA4-B60A-467B-8818-00E83E7E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2956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Evidence requested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F88293-D716-4530-A95E-F2E1C59B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76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FF6B66-A73F-4B5D-BFD1-6F738474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19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OR + robot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C65207-77A9-4A60-A3D7-840291BC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952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Block secured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C2B24E-0116-46D1-B5F2-87112FA3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19D8C5-3936-4560-822C-51224E53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434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Scrub coverage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1F8953-85D6-49C3-BB13-68B314FF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34340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2-hour gap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2430B1D-1915-4B12-A8B3-2FAFBB6C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7426E2-C90E-4F11-8C95-6CC28085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672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C6D0D3"/>
                </a:solidFill>
                <a:latin typeface="Avenir Next"/>
                <a:ea typeface="Avenir Next"/>
                <a:cs typeface="Avenir Next"/>
              </a:rPr>
              <a:t>Bed capacity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C9B278-96C8-47B6-B8A2-8DC5CF84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867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1 staffed bed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4BFBA2-62F1-462A-85A6-FCB8BD24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QUESTION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FB0A5C4-CF64-4836-ABE3-4A80BAE5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617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Can the institution move with the same precision as the machine?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D76A209-2E58-438D-8F72-0C642835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71026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50AF8C-FFE4-490D-A999-16B40EB9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144661-BC86-4B13-B167-A70035D0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ECONOMIC 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45499-EC76-4304-B603-180BCD05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Hospital economics no longer permit coordination waste.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12317E-6F63-4552-8F99-432AD9D5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A4269-8932-4BE7-AA8D-3F8EAB49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$1.635T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DF5FD-2B43-4C77-9059-6A3CEFD6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U.S. hospital spending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D3ECC2-B616-4358-BA0C-5C680B47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38125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622D7-10DB-4ACE-B696-EE1378B5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343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2024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0CBE2-3E20-4412-A426-5061DE7A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7051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+8.9%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D4D9B-6E06-430E-B999-946DA603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6671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one-year growth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1A2FFF-F4EF-4075-9070-F657F492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8125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E0571-729F-4EBF-97BE-BEACF2FC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AHA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A7A9B-5E2B-420F-B0FC-7B0C9CE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0510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49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56%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09E9E-93F0-4B13-9B6F-5AA2D75D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671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of hospital costs are labor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FE8EB-7895-4AB2-B276-C426D605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77F550-F5B9-4FCA-8813-994E5ECE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959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Every unused minute, delayed bed-day, and failed handoff now compounds across the most expensive system in the economy.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120CB-7714-4967-81C8-85B170A3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Sources: CMS National Health Expenditure data (2024); AHA 2025 Costs of Caring report.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3EFDB-B7BE-4039-93F5-82362646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07797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4D6E7-7D56-4A5C-9338-2C2D9820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14B5A-6878-4924-B3CB-E3EA9D0B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22EF9-F808-43DE-8C46-8600A3DA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574A89-38AA-43C5-8EFD-2888DE78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AE06E-1BBC-4F05-81CC-BF7FCDA3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A9CE10-7765-48A2-ACE3-13485D52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1AB03-85AC-4601-872C-B57ABB6F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E9807-0ECC-48A3-86DC-CDEBEF23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975E7-B992-43B1-BC6E-84E655AD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219181-F1D8-4B91-93B0-93AA1660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31877-3CB0-4298-8526-A6F28F83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4734C4-28EA-4DA6-8D9A-870398F6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E64F0-9505-42D2-BE8D-F36DA19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F1EC1-FD9E-4B1A-A64E-C031D932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A062E-253B-44B1-A26D-A1464076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3DF104-1FAF-4AC3-9BE6-8E9733C0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33CBC0-7C18-4D39-94AC-25267F31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D21ED4-A184-4D9C-AC10-D6DBAE99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D3497F-189C-4942-A2CB-1AAFDFA5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733FF2-F4DA-40BE-A5FC-40E87C6E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628A8A-BAA0-4F36-B3B5-352FF214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086AD7-FD2C-4C5A-BD65-D34C58AB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B0FBB4-5CB0-4A0D-9238-6E39CC21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E8D640-758A-4301-9839-75B81CFF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76E97F-8426-406C-B9C3-761CBF97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A343BE-F092-4475-BD96-166D0C09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F3A2D6-E739-4FC0-8EA8-2E36C3E8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295FEC-F113-48CB-8095-109115D5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379B06-1980-4A4E-904B-AD4C0C5C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B75D2F-F9FF-4D1C-A703-5FEC14E8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D1F2BE-7C69-4EEB-A1D1-C5F142F6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F55A6A-079D-4391-8433-AFA17160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COORDINATION GAP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423AF8-B93A-4C34-A445-B34868E2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No system owns the whole clock.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D83500-7544-4B8C-836D-8E788577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Every function sees its task. The risk accumulates between them.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2E3BBF-19D3-4600-B53F-ABB9B3BA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CE9313-10CC-4795-ADC9-1492817A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582C1A-9D24-489E-8865-73BC2417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AUTHORIZATION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60D4B4-22DF-424F-8FE6-68A819EB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payer evidence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80E8D6-18D0-4692-BDC2-1341D88A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3421C4-3055-412A-BCE5-D7B6C86C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82980D-6FCE-4A49-904A-586EE8B9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29E4BB-4916-400A-8322-C6D3A9D8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0DC4CD-2883-41E1-A505-53394CF2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PRE-OP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7AC000-A2CA-4129-8343-F171A210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labs + clearance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D98760E-F30A-4CD4-9A81-C54B0F9A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07CFEE-F4C2-4052-BE56-820D4AEC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A99EAB-34C6-4796-A89C-3ACC2C15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5DF074-3CA9-4B0B-AF9D-8B4EE5A7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D1C0A17-8BBC-4294-8150-051CA1C5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STAFF +</a:t>
            </a:r>
          </a:p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INSTRUMENTS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C606A18-446F-49A6-AFAE-CAE1A540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credentials + trays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CD9511-4A53-4BFA-BE34-31F9319C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F084C77-C545-4752-A5C0-F30FDAB4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C9CF92-81A7-4D0F-BDDE-58B34213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28404A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4B83A7-9370-4BD1-B3C9-5AACBD77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341633D-A7B9-4350-A7B4-A00E6644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BED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43B5F1-8EEA-40A7-9B1C-5CBD0A30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acuity + capacity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B44CE65-F7F8-49E0-B766-6A43FED3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099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3B4A4E-024B-4B04-BE21-FC10A5DA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38100">
            <a:solidFill>
              <a:srgbClr val="07131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016EF7C-11D5-423F-9782-EF698F3F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81300"/>
            <a:ext cx="16764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14288">
            <a:solidFill>
              <a:srgbClr val="83F3C9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6D480D-932B-40BE-90A3-65DB4B7C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33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9B5D6CD-E42C-459B-A1A6-C3DD7788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INCISION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4BF32F7-21B6-4021-8CA9-600A2AEB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781425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ready case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FF30E-9B6B-4291-9473-821676E1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bottleneck is not intelligence inside a system.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0BA0D2-AA4B-4859-A4FB-6E761C81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It is accountability across systems.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CC33B52-3F5E-4591-9C77-0F909733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835986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B7E471-2956-4688-8D18-EFF68287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E559C-8A84-4124-A40C-16179461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TECHNOLOGY SHIFT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E9CC9-D648-4420-9B3C-62BF2805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The next value layer is execution.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8F4B10-F3A7-4477-A7E5-6BD89735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A dashboard predicts failure. A governed agent helps prevent it—and verifies what happened.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202FB-2802-495E-A848-739EF2D0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D9DEDD"/>
          </a:solidFill>
          <a:ln xmlns:a="http://schemas.openxmlformats.org/drawingml/2006/main" w="0">
            <a:solidFill>
              <a:srgbClr val="D9DE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3C06A-E5AA-4C0F-86F1-52809186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F2B1-BF95-4381-A654-FF6F791A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RECORD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03A3A-FA67-44E6-94EC-73F670C8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What happened?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7516E-2CB0-4CD4-B826-224EF780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2099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B7D90-F5DD-400B-B691-532D74C3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CAD5D4"/>
          </a:solidFill>
          <a:ln xmlns:a="http://schemas.openxmlformats.org/drawingml/2006/main" w="0">
            <a:solidFill>
              <a:srgbClr val="CAD5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BA583-4C4D-44AA-AD8E-562D9BB6D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5B8370-DE22-47AC-9495-10269AB3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BC909-64D1-48A8-B4FF-77D8A8ED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What is happening?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3C64D-7315-4ACE-8D78-550842A7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099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7A294-6BBF-4FB2-89DE-99351C7D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B7C9C5"/>
          </a:solidFill>
          <a:ln xmlns:a="http://schemas.openxmlformats.org/drawingml/2006/main" w="0">
            <a:solidFill>
              <a:srgbClr val="B7C9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48274-7364-4964-89BE-B6BA0876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829122-F393-449A-AFAE-BC6774AB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PREDICT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033FAA-9B3F-499E-9AF3-588BE672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What will happen?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5FEFB0-BB26-4CCB-A1B0-36C85025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76E81-E656-4C22-A42F-548FF562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95550"/>
            <a:ext cx="2324100" cy="19812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28E45C-249C-49A1-8622-D787949C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86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C19842-F28C-41AB-85C6-898F42DB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14325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COORDINATE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1360B8-BFA8-4080-824C-3E959834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188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4D2D5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4D2D5"/>
                </a:solidFill>
                <a:latin typeface="Avenir Next"/>
                <a:ea typeface="Avenir Next"/>
                <a:cs typeface="Avenir Next"/>
              </a:rPr>
              <a:t>What should happen next?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FCC179-D7F2-48B7-B486-386F33BF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010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SENSE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9A0D0F-2E65-40DF-8BBE-6DCB3955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10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PLAN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ED74F2-47D9-45AB-9F1A-B88A1DC3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0101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2AC89-D329-4019-9169-133B7D3F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010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93AC46-C24B-4109-9C8D-840CCB08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340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47B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80467D-3B89-449F-99C4-C7CE5673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191754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A1C83A-7C4F-4E34-ACE2-EABCAC29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54298-1103-4883-91AE-8DF26DAD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09713-B56A-42EC-BC90-5718DFDF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DE142A-39D1-4254-8E62-36571DCD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96A02-B797-4DBF-A8F2-D400A23A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BAB2A-40B2-43BB-9153-781E57F6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1A4FC7-F8DF-421D-87CB-A9DA84A0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AFE17-AFFD-48C3-B6E5-A2D12D03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4C9A6-74D5-4E6A-939D-634B6C29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2C29CD-5F0D-41E2-B39C-EBDA1845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56BC29-AF33-4F11-BC7D-B02ACB5E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0B6783-8AC1-4378-BD7A-7B8960B4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E32A5C-DDF9-4BE5-A601-64DF4F7D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DBEB15-99C8-4F10-8FA8-BE5B8F16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69586-9EA4-4AA1-A6B1-8F9DEC55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EC5A80-521B-45AD-AE20-E071DE40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4F3A13-720A-4322-B4B8-2D854BE8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FB9F93-5C02-422D-A81C-9253B501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4E937F-F98F-40B0-AF2A-B48EB4AA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F9268B-0D63-4461-B64F-D5277878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1C81AE-3CA5-459E-83DA-E8974CB5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EFA01-23FB-4196-A059-E2B52C06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9277E9-6EEE-43E9-9DDC-ED876119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C3FE7-86F4-4520-8D98-A4126CDF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AAAAA9-BB8D-4961-B5E3-8798A370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6895A5-1A1D-4A11-9732-1433DF99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B41D08-B686-471E-8A59-E7C6848B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4DBF9-D55E-43EB-9991-6FACD89C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3AD758-7A40-48C5-9C6E-29C828A3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A869D2-5651-48B9-BF77-671253AC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B4ED9B-AF30-4AF4-BB81-D36BBE7D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15E2A3-F347-40E2-9BD3-CAC78C34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ENTERPRISE TRANSFORMATION MAP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ECCB97-F27F-4CFA-97F5-90DB45F4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763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Six levers. One operating system.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53A5E9-9E1E-437B-8E2E-40338015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strategic mistake is funding six portfolios. The opportunity is connecting one system.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986501-B268-4829-BFD8-91D2EE3E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7AA7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46B972-044C-45D1-9A12-FCF1543D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D3153B-5F06-4F73-A697-F42AD4A8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Clinical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Diagnosis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7C4603-7930-4370-BFCA-970B7640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AA7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0CC04F-6834-4EB1-B17D-629B602B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63FB7C4-CEA7-481A-A12B-96F6F7D7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FD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781ABC-C991-435C-8947-E0507005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Digital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Front Door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D6D8C3-9050-42D7-A0F1-00D5A8AA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1DFE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BDB48A-AD82-49F7-9719-2E604761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C81F94-3FDB-4FBB-87D5-AACD5AD4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75496B-3946-4824-BAA4-B7CB8B9C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Robotics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E67C5D-EC83-49D8-93ED-C31EDBB3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3C66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E9EBA1-42B8-478C-BDF1-43CC329A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60D79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12F137-3792-402E-8132-011604DD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LC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5B38E2-F87D-4B91-B91F-A6FB78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Longitudinal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Care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8BBB8D-6554-4CAC-88F5-715561F6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0D79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82ECD26-CA17-4FF8-BA7D-053C5DE2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AA91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B6E169-B552-497E-93D3-80D3473D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TA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51A06C-8545-41A4-B32F-6268FB82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Task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Automation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D9CE9E-E560-433D-92A0-144E5AA5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A91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332F62-F487-4B89-A7AA-CF8BF9EA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247900"/>
            <a:ext cx="4572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FF748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28AD065-383C-4D8C-A639-F2D880F4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247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PM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D614224-CB0C-4877-AF2B-C51B6770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87655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Precision</a:t>
            </a:r>
          </a:p>
          <a:p xmlns:a="http://schemas.openxmlformats.org/drawingml/2006/main">
            <a:pPr algn="l">
              <a:def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Medicine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69E485-E8FD-4167-A707-5EC50D33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35433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487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73E0000-FC4F-4A69-80BF-176BBFB0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705D9BB-FDF5-4AFA-8DC4-798BC750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67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SHARED CONTEXT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3B89B4-5629-4FE3-B8EB-44E0CC07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767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rPr>
              <a:t>One longitudinal view of intent, capacity, risk, and state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067DDB2-B917-4EEA-B0F8-233C5825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5313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0451985-A73E-4EB7-8FEC-22262527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GOVERNED ACTION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2313428-9988-4AA8-B9F5-DC2B6D9E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6725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rPr>
              <a:t>Permissions, thresholds, named approvals, rollback, and stop conditions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324EEDE-B4EB-4687-8A4A-3A29F0B3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7D4AA53-81B9-4758-B714-17B15893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CAUSAL SCORECARD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E42D7D5-3D0C-49DB-9236-88A6B95E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578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C3D0D3"/>
                </a:solidFill>
                <a:latin typeface="Avenir Next"/>
                <a:ea typeface="Avenir Next"/>
                <a:cs typeface="Avenir Next"/>
              </a:rPr>
              <a:t>Access · flow · workforce · economics · trust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04D5B5F-5086-4267-B639-4BEA9479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Transformation architecture developed for the SRS 2026 executive demonstration.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40D82A5-B8EC-4311-9838-46467DE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96463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07302A-20F0-4E93-8B1E-8E19B67F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A9C3C-3A3B-4109-BB39-A05F8159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SIX THESES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1DBF7-55C7-4509-B444-913F6925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Each lever changes the unit of management.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35C60-E69C-4484-953F-A3595C87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7AA7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E472D-A00F-4A1C-AC3F-11DE420C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15378-2579-4A8D-B9CB-9F0E74E7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955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Clinical Diagnosis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04AE3-32F3-4CD2-9AC2-065FD3BA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Episode → continuously updated routing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BFC044-84C5-483F-968D-56540375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AA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37713-0228-4A99-92A3-BC495B48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0002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092838-5D5F-4442-8430-6276716D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0764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FF306-51B6-4B07-957D-95B0D546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FD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037BE0-7C8A-4288-9FDD-BE028F55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0955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Digital Front Door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8430F-8D92-466F-8862-A4988095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7241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Channel → persistent relationship that resolves needs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48F2B-F727-4366-9556-F500614E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5814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1DF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2206E4-4F66-48A9-9F33-154119F6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AE2F47-6C2B-4537-8B77-2423F0FE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5C95B4-BFBB-457B-A08E-924724E9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C4197-EDD0-4421-A31C-24B44C2C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Robotics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8AD965-F37C-43C5-995F-6C85D885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241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Precision instrument → distributed capacity platform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055E00-CD04-47B7-B058-FBDBFE8E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814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C6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C7DD16-D7A3-42FD-A759-750136CF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60D79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0D23E8-A5F0-4581-812C-0AA43487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LC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526A4F-4950-4309-AF3B-B5422A16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Longitudinal Care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F5D3DB-55B8-473F-8D49-08D837D2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Visits → continuously managed queue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48BCE3-F5EC-4442-8DF4-C800162C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0D7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F09C1-F5B7-4875-AF43-8136F0A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9814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325D27-2E73-4094-8FAC-C7580F16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057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AA91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257149-456B-4D6C-BB3C-E88FDBB2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057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105E4A-18D0-4B8B-9207-689C9A6C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0767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Task Automation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DBFD0B-04D6-4C53-B295-EFEABAEC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7053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Task → governed outcome, executed and verified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990F8A-23B5-4AFA-B9F7-71B11CED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562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A91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A4AB2F-7607-4AFE-B995-1AA773C0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0" cy="1581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354E63-33A8-4D1B-A8FE-CF81F921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57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FF748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7EAC2A-CD2F-47F1-9AC3-642D5766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57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PM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0765B6-CCE1-4A48-A664-AC85F837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76700"/>
            <a:ext cx="2800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Precision Medicine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F0D449C-8C51-4D38-BCE3-6FDC18D6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05350"/>
            <a:ext cx="3162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Specialist report → learning operating model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F498DE-0F95-44F6-AFBE-3EEAAFF0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748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95DDAF-FC41-40FB-8432-6DACD01E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536388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E22B93-9BF7-426A-B5C2-7F27A48D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EB055-CF17-4125-8FEF-D7DC1B4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2E118-015A-4C0C-822C-26BB37B0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0E35E-9E67-4FFD-9950-64B0F810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AB68C-FCFF-4731-AF3B-3A877596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3E392-71A2-4E15-AA02-C5E6090E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C10FC-860A-428E-868A-1F7C15F6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249CF-A056-46F8-AC42-D1CE4BB1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B10F6B-DBE9-4CCA-8698-17E6E577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A4573-6B68-4F28-BA52-5F6F880C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00CAD-E433-44A2-B65C-14B5F74A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E58FD-0E3A-4DF6-AD66-9DB2FCB0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65A96-7DAE-4EF6-93D2-1774016D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DEC42-EA1F-43FE-B2E1-E4617060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0B7737-CC17-46C5-B7F9-599E05E6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D29F6F-C79E-49A7-B984-F16ACC49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0A02B4-55AB-426E-BD51-0B0295BD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69E1BE-0355-4CB0-B64F-3375C41C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6C21F-A88C-4E76-9300-5B289FAC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EFE072-2512-4E18-9A4E-C85D9B8D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04EFF-847A-4198-ABEB-B775257B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9AACFE-95CF-41EA-9448-5EA686D4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52A417-ADAC-4974-9589-5168A293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FD9A77-1C6B-46FC-A31C-E6AF0FEE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2622E0-32BB-485B-84F0-B48D6B55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7FCD3C-3D37-437A-8AF5-D1E213BC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CB149C-55C7-45E3-A2E9-DEDC045B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15BB97-64F7-4C29-8509-8978F1E4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E51BB3-3037-4994-8667-71FEC014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096887-61EF-4E8E-A2DA-689F3F70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9148B3-18CE-439E-8215-BC232D85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53E6A6-50D3-489F-BCF3-62E8E14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COMPOUNDING MECHANISM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E07A18-E932-414B-B327-05D2DB2B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429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Value compounds only when the loop closes.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AEF08A-D57A-4D59-A51D-32CF64AB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7AA7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91426D-D010-4C9C-81FC-09E6CDAD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BD411E-F412-4D9B-B346-31490407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SENSE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490726-36DA-462C-A833-D7D39943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signals + state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C3010E-DA9B-4743-8200-A6D50715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7185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3C0AFF8-9419-4C96-ABFA-3429C833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FFDE40-3EB6-459C-B138-0794C89A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64EBA7-BE52-4F5A-9BEE-ECBA8CE0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DECIDE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6D38061-3A06-4DBB-A96C-09A7624E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options + tradeoffs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C2E983-9F93-4301-846D-BDA77DFC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36B1F53-F48D-47FB-AE8B-8A7C6C76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5A61E1-23DF-449E-9058-6C0A13D4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4B9559-6BD9-4E94-935A-2D23E99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AA4358-22DD-4DC5-B9F7-AC51AC0C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people + workflow + robot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989748-B725-4C7C-8CD7-48ED6E76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7185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A9EDAD-E826-449D-8D86-CE2E6C6B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81300"/>
            <a:ext cx="18097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14288">
            <a:solidFill>
              <a:srgbClr val="83F3C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F8CCCBE-928C-4069-AD2B-2D3B292B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48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631DDB-F250-4E04-93C7-0CCDAA2A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381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LEARN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40882C-37FF-40A8-8971-495E82B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909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outcomes + exceptions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2B216-3725-44C7-900A-41488F04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743450"/>
            <a:ext cx="114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0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850" b="0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←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623F06-F440-42C3-B745-3DD33B71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276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EVERY COMPLETED EPISODE SHOULD IMPROVE THE NEXT DECISION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484C10-A990-4E34-B36C-63353AC6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7AA7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CA4BDB-3980-4EE9-AAB8-D4C46088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DX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1A0943-163F-4625-913F-9310EA15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51DFE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B5879E7-2297-4219-80D4-D924DC6B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FD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2633118-9F0B-43A2-8605-6E7AB8E6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F3C66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8D2CFF-CBCA-46F8-BD0C-464728CC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RX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0B00050-5FAE-42F7-8CF0-8D05655C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60D799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72981C-0A8D-45F5-97B1-FFE70291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LC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4C56E3E-FA5E-4AFA-9C20-1F620FEC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AA91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E3414F5-7D57-453C-BA00-5FEBF4D0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TA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73E29C5-9887-474F-9088-6B0DF51F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86740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FF748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C86781C-ADC4-45AF-A715-B11DDC5A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8674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PM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B1DF8F3-205F-4BE7-9A44-50359C39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980659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A21437-CA7B-4275-9629-EE21D648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53595-7EB9-4DA1-9AFD-910949D4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LIVE DEMONSTRATION · SYNTHETIC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EFA7D-7802-4E38-9CC3-7933665A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1719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highest-value AI</a:t>
            </a:r>
          </a:p>
          <a:p xmlns:a="http://schemas.openxmlformats.org/drawingml/2006/main">
            <a:pPr algn="l">
              <a:defRPr sz="29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may never touch</a:t>
            </a:r>
          </a:p>
          <a:p xmlns:a="http://schemas.openxmlformats.org/drawingml/2006/main">
            <a:pPr algn="l">
              <a:defRPr sz="29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patient.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D1390-27F0-47E1-8D11-E3DBB90F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0400"/>
            <a:ext cx="3733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Four operational workstreams converge around one robotic case—without delegating clinical judgment.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7F6E9-7689-493F-BF1B-1D6059C1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00550"/>
            <a:ext cx="552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51DF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A141B-1F70-46B3-86FC-00019871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005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FD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DE794-A464-4621-8827-9B7CC011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552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F3C66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D0E36-8296-40FF-A947-20D7A403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19E3A-8A2B-4454-AAFE-8E6EE36E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00550"/>
            <a:ext cx="552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60D79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54B0D-F34D-42A1-9456-974C7219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005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LC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BC2DD-CABB-4763-8993-CD7D2C91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400550"/>
            <a:ext cx="552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AA91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AE26B-B3EC-41B8-845B-176700D0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4005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69140-E91A-4FBE-AFD5-B0D8F759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Access · readiness · capacity · flow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815670-93A5-4ADF-B935-3D414FE6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200650"/>
            <a:ext cx="6934200" cy="704850"/>
          </a:xfrm>
          <a:prstGeom xmlns:a="http://schemas.openxmlformats.org/drawingml/2006/main" prst="roundRect">
            <a:avLst>
              <a:gd name="adj" fmla="val 24324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0">
            <a:solidFill>
              <a:srgbClr val="83F3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B8318F-5494-48DE-A81D-5754E5F0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200650"/>
            <a:ext cx="693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OPEN THE APP  →  RUN THE CASE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3388A-B030-44CB-8CD1-7F82D2EF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Demo scenario is synthetic and contains no patient data.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71762B-B43D-4432-B6C3-5D7F4DD4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5e826eb094c89"/>
          <a:srcRect xmlns:a="http://schemas.openxmlformats.org/drawingml/2006/main" l="61" t="0" r="6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1066800"/>
            <a:ext cx="6934200" cy="3905250"/>
          </a:xfrm>
          <a:prstGeom xmlns:a="http://schemas.openxmlformats.org/drawingml/2006/main" prst="roundRect">
            <a:avLst>
              <a:gd name="adj" fmla="val 5366"/>
            </a:avLst>
          </a:prstGeom>
        </p:spPr>
      </p:pic>
    </p:spTree>
    <p:extLst>
      <p:ext uri="{BB962C8B-B14F-4D97-AF65-F5344CB8AC3E}">
        <p14:creationId xmlns:p14="http://schemas.microsoft.com/office/powerpoint/2010/main" val="13052552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EDD5DB-3E52-4B0B-88C0-53DEFCAE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B0A60-4DC4-483D-AC44-89BAA23E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2313D-79FE-454E-AE56-2F083642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8821D-19AB-400A-AD69-82E988BB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E3633-065F-4C4D-890A-0081E1A1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3B520-76A0-4E2A-9ABD-CB637A34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560194-D44C-4304-A7FD-3C3B6FE0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C7BE03-F32C-48DE-B5C5-6B47D2B4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92C1BC-07D1-49EB-8742-CC48931B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A5A02-8020-4DAE-9609-AEDD586B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725356-0FD8-49FF-A10C-EDE58A07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4B3A0-2FA6-4E16-8353-1263E442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EF9E21-16F9-4037-B27F-74FBA804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4D243-EB34-49AA-9CEC-39349D07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601B89-A33F-464E-86B9-875D0F20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82114-7809-4790-8F7D-509C828E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A7E262-3CA5-48D8-BCC0-36F3CED6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C9FB02-5C31-4856-9F75-14DD0C50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37A8C2-8E93-40F4-9DFD-67AE9C61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373C15-90C4-41AE-BFC1-E0F4CB77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1D02FA-7C1B-4607-8EFC-FEFB64E9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1A1F31-DDD2-4A00-B2A8-B8744CC0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148DB8-0F34-4D2A-B332-9B2EF213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0BE3E-81CC-4D64-8F03-C0254971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C1358F-C821-49CF-A764-CFBE06FB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24D0E1-2453-4341-9B34-AD7C0DC9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1679C5-34DC-4AD0-83B1-BD993AEE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C91285-8FEB-4E2B-BB08-B709C2B0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A3999B-71DB-4D1A-9EA9-EFC18F18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61FD0-A0CF-4ECE-B173-D98CE5D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7DB122-3563-4207-A2A6-E5625ECD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ECAD0C-1C14-4C44-9083-85CB24E6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CASE 7B · ROBOTIC PARTIAL NEPHRECTOMY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71F3B7-8CC6-485A-80EC-D863B9B9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Four handoffs can still strand one robotic case.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4910B7-AD7F-4AFB-BAB7-0237CC94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The robot and surgeon are booked. Ordinary coordination failures still threaten the episode.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C5FACF-F96F-4201-93D7-E3C0E9D2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605361-A547-472D-AE26-8552EC2F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241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A5B086-340E-467B-914D-72111C3C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669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ACCESS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257633-924D-43F4-84E7-4BD38251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669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Authorization evidence requested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E09A50-D2D9-41E2-8F69-FD992CD1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Payer API · 4 min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F57FB2-7DF7-4263-ABA5-7F7DD86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7869B4-D696-4CDC-A479-EF0330A7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0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9D6D56C-A1E4-4ECB-A822-FB3F0995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READINESS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6D6F7E-F5BC-463B-B29E-2F4EC263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432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Pre-op lab still pending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9272F1-AC5E-4F33-9818-C6AE1152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LIS · 21 min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899912-1131-4D12-8B75-31AF8483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D4C57B5-04CE-46B0-AD42-178AC84C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487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C84BF2-7929-4F03-A3F8-E26F6FA5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195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CAPACITY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394C30-099C-4245-9D8E-63D49035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195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Credentialed scrub coverage gap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1AB224-803E-4FD0-B54A-93E726A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195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Workforce · live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5C710C-3E86-4CA9-A9E5-22B0E09B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1CAA61-B6C0-44AB-9758-1FFF3C21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C668"/>
          </a:solidFill>
          <a:ln xmlns:a="http://schemas.openxmlformats.org/drawingml/2006/main" w="28575">
            <a:solidFill>
              <a:srgbClr val="07131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4A6A0C-A509-4954-87E3-DEDF32EF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95850"/>
            <a:ext cx="1295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FLOW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F59C3FF-2F5F-4112-A7F0-500F9EED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958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Only one staffed critical-care bed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9A7B23-8AD9-4940-A7FE-1F3AF9C3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895850"/>
            <a:ext cx="2171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Bed command · live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50DDDD2-8F91-4438-AFD6-C2B49AF2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7907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313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EF21517-CE55-45DB-8709-E48C8C4E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47H 36M TO INCISION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3E74DFF-2CF4-4D78-8A4A-C004CD5F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0007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Synthetic case · no patient data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2C4EFD-57F9-469D-928B-2CB37F38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867145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7A1293-4180-40B0-8F6C-0546ECE0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8DE8EE-F69E-4CFB-8824-70141D00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GOVERNED AGENT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04695-2BD9-4947-842B-7BA85DEE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Not a chat window. A governed decision system.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68DA2-B4A5-43C3-9CD2-E2523373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Goal + policy + permissions + stop conditions → one constrained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C7226-3798-4BD4-8CEC-93F92579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51DF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807EA-BDAB-4FE5-BCDB-CE0DB112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BAA49-710A-42BC-B58E-3A5092D9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ACCESS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D596B5-DF75-4373-BB76-E3390F64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81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Assemble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8E0849-1CF8-4923-B34B-D82C0CD1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60D79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D648AA-8AF8-435C-8084-60890264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F8665-96A3-4E6E-899A-358218FD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READINESS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951E5-D2A4-4541-9D92-05E34EB0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Secure lab slot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B1C968-1F92-4F29-A03A-E4621824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F3C66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81D70-73F0-4C82-A317-30D16484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9D855C-2E9F-4D8B-9A3F-312B377F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CAPACITY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92EFE-AE0A-4B2A-B9D3-7EF87571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67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Model schedule swap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7EFD8-E765-46E6-AEA7-7140C5FF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4F3EF"/>
          </a:solidFill>
          <a:ln xmlns:a="http://schemas.openxmlformats.org/drawingml/2006/main" w="14288">
            <a:solidFill>
              <a:srgbClr val="AA91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DAD322-C8AF-4BF0-8AC4-01F6B82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F20BEA-DC4F-4891-969F-AFA41B86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A91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AA91FF"/>
                </a:solidFill>
                <a:latin typeface="Avenir Next"/>
                <a:ea typeface="Avenir Next"/>
                <a:cs typeface="Avenir Next"/>
              </a:rPr>
              <a:t>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A1BDB-DA6E-4616-B4E7-B7F57534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10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Test bed contingency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4541E6-FDC1-46A5-A7F4-25B25E55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147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BC8367-1A80-4D36-8279-2A1F6C3C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66950"/>
            <a:ext cx="264795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A150ED-2DC6-4136-8FD4-EBD920E3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336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ONE 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4B76B1-4C16-4179-ABB6-69248732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718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Preserve</a:t>
            </a:r>
          </a:p>
          <a:p xmlns:a="http://schemas.openxmlformats.org/drawingml/2006/main">
            <a:pPr algn="ctr">
              <a:def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case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31EB74-7B0D-44E9-AF8D-DEE561BF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9624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with explicit tradeoffs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AEBD09-7D55-4906-825C-D20269C9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147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31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9270A2-C1BA-49AB-BD7A-C68388D4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67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D4972A-BD07-4D5B-A613-523CA8C3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Executed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5C1ABD-8F9C-4D33-9978-B42F5FE4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52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Retrieve criteria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A3A663-B1E5-448B-9402-1C2DDCD0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D7803A-BD25-4899-B419-91A21A36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76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Executed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AAAD7C-27E3-4B55-BBD2-FB7680D2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14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Hold lab slot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8B9352-19A0-4FE5-89EC-2ACD59EE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91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BFA496-6FE3-41D7-A1B7-9C9E9539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OR director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857981-E46A-4E11-B2FE-5BD11E8A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76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Approve schedule swap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7DB7BF-5D4C-4B48-932C-AC164E84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00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D63AB8-1B1A-46FD-8B0E-A9D3D9EE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005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Access lead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92B45E-632E-4091-81E9-6A5B93FF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386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Approve payer submission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5CF36A-BBAC-4C25-9B91-63BCB9F6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8EAE5"/>
          </a:solidFill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DA698B-4552-46B2-B7D9-671530D4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Reversible work executes automatically. Consequential actions stop at named human approvals.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791A37-94F9-4357-BE2F-BA78C49B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993104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2C42CE-DA88-43BE-BBB0-505E4F54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D6863-73C7-473A-B890-C30D4C59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SCENARIO RESOLVED · MODELED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5D87A-C5F5-4420-86CB-340D8884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590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Same robot. More care.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F060C-0847-47E5-B17F-43A80432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No clinical judgment was delegated. Coordination latency was compressed around existing assets and staff.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0CA71C-6055-4A77-B6FD-114CE636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23 → 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ADBD4-FE22-458D-98E2-95746A35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manual touches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4A051-B39B-406E-96CA-9AC526F7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098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 → 96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DDC49-4CF0-47D1-B502-65F0670D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OR minutes recovered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2FC4D-6832-4678-9FF0-7EC4D521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6.5h → 1.8h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3D53F-39F4-4E4A-98C3-4101C1CB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overtime exposure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987C1-B296-4FB4-9C0E-4B79E97E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38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$0 → $41K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98346-8F14-4082-B089-1DF7F8D5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72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modeled margin protected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B3F581-08CE-405F-9A72-447777DC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619750"/>
            <a:ext cx="5619750" cy="495300"/>
          </a:xfrm>
          <a:prstGeom xmlns:a="http://schemas.openxmlformats.org/drawingml/2006/main" prst="roundRect">
            <a:avLst>
              <a:gd name="adj" fmla="val 26923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60A1C1-FD5C-4D17-9E49-CEF0148E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619750"/>
            <a:ext cx="527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ASSUMPTIONS  ·  one avoided cancellation · 96 OR minutes · local contribution estimate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5191F3-B6D4-4DD2-873B-06A0597B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Illustrative outputs only; not a clinical or financial forecast.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CC41E5-5B37-462E-BF80-6CFA6A9A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c68461ef34625"/>
          <a:srcRect xmlns:a="http://schemas.openxmlformats.org/drawingml/2006/main" l="19" t="0" r="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2286000"/>
            <a:ext cx="5619750" cy="3162300"/>
          </a:xfrm>
          <a:prstGeom xmlns:a="http://schemas.openxmlformats.org/drawingml/2006/main" prst="roundRect">
            <a:avLst>
              <a:gd name="adj" fmla="val 6627"/>
            </a:avLst>
          </a:prstGeom>
        </p:spPr>
      </p:pic>
    </p:spTree>
    <p:extLst>
      <p:ext uri="{BB962C8B-B14F-4D97-AF65-F5344CB8AC3E}">
        <p14:creationId xmlns:p14="http://schemas.microsoft.com/office/powerpoint/2010/main" val="20898426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2A7E73-037A-4B1F-BB3B-49A55B62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57C93-992C-4FD2-BE84-BA2ACA47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EVIDENCE, NOT INEVITABILITY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8E307-C637-4430-950C-1FAC6C6C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47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1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Embedded AI is already moving operational outcomes.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18DED-3909-4BF6-95BA-8D5E6068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Early implementations show the value of intelligence inside the workflow—not beside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B168E-6865-4D7E-B696-46A3D615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0" cy="3105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5F7E9-93E0-419D-984E-CAC335C7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HARTFORD HEALTHCARE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C30068-BD79-40C4-ABDF-C65862FE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−0.63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4F6EDF-316C-4E12-ADF7-B63B9965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days of length of stay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258A4-1DE2-4691-97CB-0B8626DE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$52–67M estimated annual benefit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1D1CC-A7DC-4531-9D0B-427C391F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E9E5"/>
          </a:solidFill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84CA7-6248-4B80-8B41-913454B1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OBSERVATIONAL IMPLEMENTATION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88575E-13DB-4E14-9140-2C979DA2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PENN ORACLE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BA8DC-4930-411C-B527-648C36AE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51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884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7B181-9CEC-4ED2-99FA-9DB7D6F4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052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fewer scheduling-error hours / year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6B8E09-ED87-43E8-BF9F-9E3412B9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958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5% more accurate OR scheduling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90688-AD85-4B90-B39D-96E033EA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863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E9E5"/>
          </a:solidFill>
          <a:ln xmlns:a="http://schemas.openxmlformats.org/drawingml/2006/main" w="9525">
            <a:solidFill>
              <a:srgbClr val="CDD5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0A1A96-CF52-4F38-B50C-C429471A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86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HEALTH-SYSTEM IMPLEMENTATION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EF7092-9A81-473B-BEC1-00264E9E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AAFD68-04E8-49A2-B888-C20A6EC9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531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These results support the mechanism. They do not yet prove a fully agentic hospital.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D780C-DA30-45CD-8633-38B87AEF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Sources: INFORMS Analytics (Hartford HealthCare); University of Pennsylvania Center for Health Care Transformation and Innovation (ORACLE).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F82FA0-BBA4-4E2C-B67B-D075ADA9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922075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56E50F-BD05-4A4E-9FC1-FF772E1A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20A693-DB8F-4C23-A949-FA6F3C03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87289-199F-4BFF-9460-4910BD08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6DABB-37B8-497F-BD11-113DAC5B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E8273-8B3D-4B98-AFBB-FF69D631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14398-0749-44F6-B7D0-842847FC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A7CD9-BD2F-47C6-A69F-72F1826B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BE2E0-9A07-4244-8B9F-BE2AD808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D4BF0-DC46-4DA7-A14C-FC3C70B0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5ED9C-47E3-4788-8409-714FAD56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24547-60A9-43D6-983A-B6F573C1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C59F4B-BAE5-4870-BFA6-1771F8D7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73D8B-BA4E-4903-87C1-28595257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2A0F4-81B6-419C-BD3D-D5DE9EE9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3F689B-1AE9-48D7-908E-A32BB70E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845772-F0FE-4978-BB95-B8691F4B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039C4-213C-449B-941B-FE3DAAD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B236AF-A6FB-4222-8053-B374E97E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2397C6-58A1-4496-A168-76511D81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88D5B1-6026-4732-BFFB-E390EF4E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E2E582-02F5-4DB4-8D20-3389E0FE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4CD699-169D-494D-8953-0551B84B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58F3AD-2457-452C-83D4-67F5A8D7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1BB77D-CA89-4CC5-A3E8-9951E6D9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7F17B9-9FB8-4BE2-A862-F677F913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78E2D7-8447-456B-8122-68C8E386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6C497A-2575-4637-BAA7-804B5673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1678BB-886C-4C53-87F5-7A9E1BBA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7C63DD-BB6C-46C0-9138-F9667907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17F13B-66CC-4CE4-BC18-0300BD8A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106AF8-B426-455D-BAF0-39CF5B07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9B614D-BF1B-4E23-9E3B-388599A0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WARNING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04C0FA-2001-412B-AA7A-4F1CAE58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Visibility alone does not improve flow.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3AC566-FC17-4849-ACF7-23A2A086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A comparative NHS command-center study found no significant, consistent improvement in patient-flow outcomes.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B943B8-ED9B-42B0-B56B-2A742C98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06602F-E90F-4B55-85F6-04536799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5B2F6B-BAE7-409E-AD4F-BBB9664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574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2FEEBA-FC38-400C-8A5E-DC2A2651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8575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8D0D04-3986-4EBC-BF94-C11D4614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9AF4DE-552C-4123-AA74-147A02B4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575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BBA186-CF78-4CC5-B15E-B47CA39A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C36A57-E20C-4CD4-AAB8-F7D85010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E94DE0-204F-4704-9DED-7ACBD17F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27660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5313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0EB6D5-720C-42D1-B94D-76C3DD93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766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3F3C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57FF82-7424-493F-9098-3A3D7B1A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7660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34E501-46BC-4E71-9B2B-B191C817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766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27A613-8E99-471E-B7CC-D0FF7406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3CDFECD-C57E-492D-85CC-619894F1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89704A-D887-4520-B0C6-2DB6C49A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957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5BDBF11-6FB5-45DB-9F52-927A4A7C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4958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78973C-65C9-4822-97CE-12347F51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95750"/>
            <a:ext cx="1104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A7E730D-7A7A-4263-AFFC-29789203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958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404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B8278B-731F-4247-872A-7D08097E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86350"/>
            <a:ext cx="3695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COMMAND CENTER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A6917C-23D9-460C-8DD2-12393265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290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315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E814EAB-3F92-4E73-98F5-45A6B2C1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43150"/>
            <a:ext cx="5391150" cy="2857500"/>
          </a:xfrm>
          <a:prstGeom xmlns:a="http://schemas.openxmlformats.org/drawingml/2006/main" prst="roundRect">
            <a:avLst>
              <a:gd name="adj" fmla="val 7333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A56A07-B641-46E9-A9B0-F79CE162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09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PATIENT-FLOW OUTCOME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2CF255-559B-4FCD-8034-AC069310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10000"/>
            <a:ext cx="4457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748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766052E-DE52-4FDC-A58C-D7C89665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NO CONSISTENT CHANGE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A757DC3-CD6A-4E27-B4E9-FB840666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505450"/>
            <a:ext cx="539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Information without ownership and action rights is only a better view of the bottleneck.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85BD49-BBDF-48FA-94CD-38BD228D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Source: peer-reviewed comparative study of the Bradford NHS command centre, BMJ Health &amp; Care Informatics / PMC10566538.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FC9F89-B9AF-42F9-885C-F445CB7F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306902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4A8F3F-C18C-4319-B27F-5FB75E6D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5115A3-9C92-43F2-A844-B1848890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THE CONTROL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7FA912-0454-42A5-A3D6-27FE9C00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90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Autonomy is a risk budget—not a feature.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990C6-3628-48D4-A36D-C9011B72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Authority should narrow as consequence rises.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CDE82-0F26-4096-96A1-23BB9323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46685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CONSEQUENCE RISES  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98FA4-020D-4BA5-AC96-8864DFF9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828800" cy="21717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7AA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2E0C42-675E-4415-B502-5DCC8844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195B9E-4A68-4E8D-B88D-8773E3C3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OBSERVE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0617A-4204-4218-A39E-E3F7AB23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detect + explain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F98B8-CE1B-41D4-9290-BFF93971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57500"/>
            <a:ext cx="1828800" cy="200025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51DF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354979-D24C-4AF0-AF1C-55611E59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28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F3E16-E931-4E8C-BC93-BDC4E776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909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RECOMMEND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AF587-6464-477A-8216-90749872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options + tradeoffs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184C0-23D6-426F-9DC6-F6EA4884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18288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60D79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4A602-A8F7-4498-8B19-C5E0C850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19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0D7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CA05CC-D3BF-45A4-98A7-876F1DFB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814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EXECUTE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26931-DE3B-49E8-8DBF-152DD96E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reversible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A1BB04-93FE-4DB1-BE6A-FEC19303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38500"/>
            <a:ext cx="182880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E7EBE8"/>
          </a:solidFill>
          <a:ln xmlns:a="http://schemas.openxmlformats.org/drawingml/2006/main" w="19050">
            <a:solidFill>
              <a:srgbClr val="F3C6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CDDFDF-32C0-4A37-9DF8-22730BE9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099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3C668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7B4873-B1CA-4455-AD1A-052BB659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7719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ORCHESTRATE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55E559-946B-4FEB-AD3F-FFEFBDC5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named approval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EC0E5-2061-48B5-B7E0-B45AC54D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29000"/>
            <a:ext cx="18288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7E4E5"/>
          </a:solidFill>
          <a:ln xmlns:a="http://schemas.openxmlformats.org/drawingml/2006/main" w="19050">
            <a:solidFill>
              <a:srgbClr val="FF748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48689D-D48B-4C5C-8CEC-CAB6E1A9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600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7487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17ECE7-0FC6-42DC-888E-690994CB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962400"/>
            <a:ext cx="1485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CLINICAL / IRREVERSIBLE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45ADDE-30DD-4960-9552-B1E2DD02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3624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human accountability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6F1533-0EDB-482A-9422-048C997B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172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C2325B-FD00-4820-A83A-AEEA50BD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47B63"/>
                </a:solidFill>
                <a:latin typeface="Avenir Next"/>
                <a:ea typeface="Avenir Next"/>
                <a:cs typeface="Avenir Next"/>
              </a:rPr>
              <a:t>AUTOMATIC AUTHORITY NARROWS  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916F3D-9CC2-42B9-B1BD-E46A2442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0B1720"/>
          </a:solidFill>
          <a:ln xmlns:a="http://schemas.openxmlformats.org/drawingml/2006/main" w="0">
            <a:solidFill>
              <a:srgbClr val="0B172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459785-3FD5-4889-ADE0-04970545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AUDIT · ROLLBACK · APPROVAL · STOP CONDITIONS · HUMAN ACCOUNTABILITY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06F2F0-233D-4009-823D-8728A01D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436431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4A89C1-506D-49CC-ACB2-98C71943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D32DD5-B321-42D3-B2BC-F5DC0188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AD715-FAC2-4F26-AE9C-8AE9CAEB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25BEC-EF88-44ED-91EC-03B2D280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B27F6-4950-440E-8711-F252BE00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D9B872-6A77-4FDB-8E59-FBAE1512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E6DDEA-F906-44D4-AA6C-2EB5D59A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126A1-8988-4F3E-BBDF-F368052E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B7754-6E72-4751-BE6C-5C292D04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496EB-37E6-4658-ACB8-EEA34ECD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4EA67-6A5E-45AD-8CB1-B50510EA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53151-0EA4-4533-8E65-6E9D5CFD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3A8DE-4301-4A8C-A483-ACDAEC79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0FAE4-1DD1-4334-A63A-6F9C809F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A41E6-0046-45FC-A0C4-D7540D72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4028C-0730-47A4-A58A-6811647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077D87-B825-4B65-8181-F5EA0C01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64F9C-CBF3-4194-B5AC-0EB461A7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327F0A-C3C8-4F15-8999-CB28A959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58AF92-B8E3-4E40-85B0-D8FF9E55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BB4AC-6218-4A0E-997B-EAC69DB8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7347CA-85E9-4E9C-A92A-3F473867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3DCCB7-43A3-4ACA-9230-73AD64FC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B40FE5-69F1-4E0D-9A9E-328DE974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DB9B93-B909-47DF-BA10-A2692AB9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835062-B2A3-4847-9475-C2F59960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9AC4AB-0979-4C1F-85B1-AB2AF24A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706D84-0ABA-48B2-9906-0F590A89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556B7B-152C-4ED9-969E-F2F76905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4C23AA-BCED-431B-A191-0EE5AA2F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88BD01-DF10-49CC-BD74-7EA0998C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D8A9B0-5D0E-4FFF-BF83-25B35C88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THE EXECUTIVE DECISION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2C926B-4EDA-4EFF-8A72-FCAA72D3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57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Prove one flow in 90 days.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0F5FBB-CE2E-4230-8F3D-8951AAF8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Buy fewer pilots. Create one closed-loop operating proof.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89D1DC-CDBF-4AA6-A529-B6D51E2B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AA7FF"/>
                </a:solidFill>
                <a:latin typeface="Avenir Next"/>
                <a:ea typeface="Avenir Next"/>
                <a:cs typeface="Avenir Next"/>
              </a:rPr>
              <a:t>DAY 00–30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DF5422-AA3C-4365-8B4D-AE9E7FF2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FRAME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357317-E55F-4B27-BE5E-BE75B55C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AA7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E66B5A-3227-4DA0-A0D6-92D9BDC4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One outcome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One owner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One baseline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3AB204-63D9-437B-816B-AF406417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5A81F1-0B8C-40FE-9C5A-A0B9B4AC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1DFE3"/>
                </a:solidFill>
                <a:latin typeface="Avenir Next"/>
                <a:ea typeface="Avenir Next"/>
                <a:cs typeface="Avenir Next"/>
              </a:rPr>
              <a:t>DAY 31–60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C331BF-858C-4D2E-8C70-7DA5913A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241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SHADOW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312318-992E-4203-AE60-7BC1204B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528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1DFE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EA7879-2F7C-4B35-AC1A-623C1469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1950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Connect + replay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Test gates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Refine policy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181FE8-6970-4C0C-8BCB-8ACAC2F7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623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1F9369-8C25-4561-BFFD-2E66AA34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4315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DAY 61–90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150689-7441-46DF-A9D9-0853BBE1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TRANSACT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D4CE6D0-453D-440B-8A30-5194CCED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528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3F3C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AB9277-32B3-455C-81EE-3C7550A5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Reversible actions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Named approvals</a:t>
            </a:r>
          </a:p>
          <a:p xmlns:a="http://schemas.openxmlformats.org/drawingml/2006/main">
            <a:pPr algn="l">
              <a:def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4D0D3"/>
                </a:solidFill>
                <a:latin typeface="Avenir Next"/>
                <a:ea typeface="Avenir Next"/>
                <a:cs typeface="Avenir Next"/>
              </a:rPr>
              <a:t>Causal evaluation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EA7312-34E9-4B27-91C2-591E6007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ONE CAUSAL SCORECARD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D00201-E891-4CFA-960D-C2E0331D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AB5E20-1670-4547-9618-F538199E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ACCESS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4F01D8D-7117-4719-8B14-11251C64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9FC8694-0F14-492F-AF23-26FD9003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4230B3-3ADE-4213-986F-2AF8C324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36DC020-BDFF-4AD4-966C-40D09286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WORKFORCE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43E273D-7F82-4ED6-9F22-AA23ADCB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E2C90D8-E742-441B-AEAA-E2E12F5C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ECONOMICS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ABE524-9231-4F33-9024-35A0DB5A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086350"/>
            <a:ext cx="1466850" cy="361950"/>
          </a:xfrm>
          <a:prstGeom xmlns:a="http://schemas.openxmlformats.org/drawingml/2006/main" prst="roundRect">
            <a:avLst>
              <a:gd name="adj" fmla="val 39474"/>
            </a:avLst>
          </a:prstGeom>
          <a:solidFill xmlns:a="http://schemas.openxmlformats.org/drawingml/2006/main">
            <a:srgbClr val="0E222C"/>
          </a:solidFill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B2E0EDD-AEEC-4460-9E14-8A3F6318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08635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TRUST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417967-97FE-4562-91F4-F47F4A50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000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0">
            <a:solidFill>
              <a:srgbClr val="83F3C9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315B1E8-9F94-45EE-89DB-6506405E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SCALE ONLY WHEN THE SCORECARD MOVES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C2DD78E-C345-48D4-A834-87F7FF3F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2680986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77E037-872A-4BC4-B3F3-B47D14CF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844A87-90CB-47E5-8E5E-A944DC58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4E3A9-8720-4EBD-8D7A-CB33A5C6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D1AE7-6BF9-4ED7-8A2A-2F721480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FC0BB-2F72-4B45-91CA-3CAA1713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629D9-B5ED-46AD-ABF9-E0A35BA7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22359C-1088-433A-A63F-495A09C4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78327-2A13-47F9-9EE8-47D0A961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76984-25E9-4C98-BEEE-D45EA805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15ED25-8C8C-4FDB-9F42-9E8E8EFB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C1A0D-8CAF-4AE1-9CC1-8C9091AA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95EEF-9572-46A5-8CC8-901F9E0A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DAF529-647A-4FCF-ABBD-F398E3B9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7CB2E5-3F43-4A8E-973B-A521C1FE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EA0333-0FB7-4CA5-9E40-21C801E1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0741BC-7098-453C-A555-9C33A738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B30FC4-2C27-4668-82A3-988830BE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052D9-AC48-44FB-BB5F-C4D24B33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D5B47-CFE2-4D6C-8A04-6A4FA297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CAD56-A818-4650-9862-D76395DC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006F52-EA71-407D-B0D9-8FDAC265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CB00B6-8728-49E8-AF32-B45B698F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20FB52-300B-4E98-BEBF-07BF1E18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38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72629E-4649-4549-9B35-E815FD0D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90F055-F7AA-4B98-92C3-F42B8EED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57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F25781-4E96-4571-9DAC-150D4ADC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C8590F-E956-45F5-8899-415F4ADA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D9D48A-6282-491B-A4B7-5ECAF7A8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0B87FD-8BD7-49A1-9A24-78F4438E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E15C52-464A-42E0-A1AE-A5F6F519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0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026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8FC028-ACBC-47E1-94E4-A9A1DA4D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3F3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125B2F-562C-4605-8D9D-B57642B7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AI TRANSFORMING HOSPITAL OPERATIONS · SRS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5673FF-B10A-48E0-B9DA-6434F65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28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The future hospital is</a:t>
            </a:r>
          </a:p>
          <a:p xmlns:a="http://schemas.openxmlformats.org/drawingml/2006/main">
            <a:pPr algn="l">
              <a:def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4125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coordinated—not autonomous.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991180-2861-4CB9-8EA7-E3C3A4D7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The winners will turn signals into safe action faster—</a:t>
            </a:r>
          </a:p>
          <a:p xmlns:a="http://schemas.openxmlformats.org/drawingml/2006/main">
            <a:pPr algn="l">
              <a:def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725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not simply accumulate more AI.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8FC6DD-5521-47C3-859B-B9659D2B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B81F1A-BC92-4145-A64D-F0A36777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10CBD9-19C6-416C-B25F-5658C3CF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ONE FLOW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0DB4BB-05E5-4742-9A54-8617E53B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959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CEC332-21B4-4F6D-BEDC-98F7405C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9530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7BE440-3432-4CAA-95BB-CA864E9A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959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ONE OWNER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A6477A-B9BA-4E6A-A1FC-0D72F67D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959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9AA8AE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07EEAF-7EE9-4584-9D25-86743644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530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3F3C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9C3172-3251-444C-985E-1F0A9F71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959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8F5"/>
                </a:solidFill>
                <a:latin typeface="Avenir Next"/>
                <a:ea typeface="Avenir Next"/>
                <a:cs typeface="Avenir Next"/>
              </a:rPr>
              <a:t>ONE SCORECARD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7BDC6C2-960D-4FED-8366-CF463103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62300"/>
            <a:ext cx="18669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F3C9"/>
          </a:solidFill>
          <a:ln xmlns:a="http://schemas.openxmlformats.org/drawingml/2006/main" w="0">
            <a:solidFill>
              <a:srgbClr val="83F3C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8059C7-A90E-49AA-AE8C-FDBD63F6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62300"/>
            <a:ext cx="1866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0B1720"/>
                </a:solidFill>
                <a:latin typeface="Avenir Next"/>
                <a:ea typeface="Avenir Next"/>
                <a:cs typeface="Avenir Next"/>
              </a:rPr>
              <a:t>RUN THE CASE  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C11710-DBAF-4109-A535-1371467A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389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F7078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573074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2026-07-15T02:38:01.3230000Z</dcterms:created>
  <dcterms:modified xsi:type="dcterms:W3CDTF">2026-07-15T02:38:01.3230000Z</dcterms:modified>
</coreProperties>
</file>